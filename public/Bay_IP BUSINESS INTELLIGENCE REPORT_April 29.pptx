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6"/>
  </p:notesMasterIdLst>
  <p:handoutMasterIdLst>
    <p:handoutMasterId r:id="rId37"/>
  </p:handoutMasterIdLst>
  <p:sldIdLst>
    <p:sldId id="2147483629" r:id="rId5"/>
    <p:sldId id="2147483310" r:id="rId6"/>
    <p:sldId id="259" r:id="rId7"/>
    <p:sldId id="261" r:id="rId8"/>
    <p:sldId id="258" r:id="rId9"/>
    <p:sldId id="257" r:id="rId10"/>
    <p:sldId id="262" r:id="rId11"/>
    <p:sldId id="263" r:id="rId12"/>
    <p:sldId id="266" r:id="rId13"/>
    <p:sldId id="260" r:id="rId14"/>
    <p:sldId id="2147483634" r:id="rId15"/>
    <p:sldId id="2147483643" r:id="rId16"/>
    <p:sldId id="2147483635" r:id="rId17"/>
    <p:sldId id="2147483644" r:id="rId18"/>
    <p:sldId id="2147483636" r:id="rId19"/>
    <p:sldId id="2147483646" r:id="rId20"/>
    <p:sldId id="2147483638" r:id="rId21"/>
    <p:sldId id="2147483640" r:id="rId22"/>
    <p:sldId id="2147483641" r:id="rId23"/>
    <p:sldId id="2147483642" r:id="rId24"/>
    <p:sldId id="2147483639" r:id="rId25"/>
    <p:sldId id="2147483618" r:id="rId26"/>
    <p:sldId id="2147483617" r:id="rId27"/>
    <p:sldId id="2147483388" r:id="rId28"/>
    <p:sldId id="2147483407" r:id="rId29"/>
    <p:sldId id="2147483408" r:id="rId30"/>
    <p:sldId id="2147483647" r:id="rId31"/>
    <p:sldId id="2147483409" r:id="rId32"/>
    <p:sldId id="2147483410" r:id="rId33"/>
    <p:sldId id="256" r:id="rId34"/>
    <p:sldId id="58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orient="horz" pos="75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s" lastIdx="13" clrIdx="0">
    <p:extLst>
      <p:ext uri="{19B8F6BF-5375-455C-9EA6-DF929625EA0E}">
        <p15:presenceInfo xmlns:p15="http://schemas.microsoft.com/office/powerpoint/2012/main" userId="Author" providerId="None"/>
      </p:ext>
    </p:extLst>
  </p:cmAuthor>
  <p:cmAuthor id="2" name="Vishal" initials="V" lastIdx="3" clrIdx="1">
    <p:extLst>
      <p:ext uri="{19B8F6BF-5375-455C-9EA6-DF929625EA0E}">
        <p15:presenceInfo xmlns:p15="http://schemas.microsoft.com/office/powerpoint/2012/main" userId="S::vishal@bayslope.com::b0834073-4536-4aef-af28-9fcbad12e2e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B4E5"/>
    <a:srgbClr val="D42357"/>
    <a:srgbClr val="FF0066"/>
    <a:srgbClr val="9FE6FF"/>
    <a:srgbClr val="00B0F0"/>
    <a:srgbClr val="FFD1E4"/>
    <a:srgbClr val="C4C2C2"/>
    <a:srgbClr val="FFA3C8"/>
    <a:srgbClr val="C9FFE1"/>
    <a:srgbClr val="C9F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3741" autoAdjust="0"/>
  </p:normalViewPr>
  <p:slideViewPr>
    <p:cSldViewPr snapToGrid="0">
      <p:cViewPr varScale="1">
        <p:scale>
          <a:sx n="59" d="100"/>
          <a:sy n="59" d="100"/>
        </p:scale>
        <p:origin x="900" y="68"/>
      </p:cViewPr>
      <p:guideLst>
        <p:guide pos="415"/>
        <p:guide orient="horz" pos="754"/>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rgbClr val="FF0066"/>
              </a:solidFill>
              <a:round/>
            </a:ln>
            <a:effectLst/>
          </c:spPr>
          <c:marker>
            <c:symbol val="circle"/>
            <c:size val="5"/>
            <c:spPr>
              <a:solidFill>
                <a:schemeClr val="accent1"/>
              </a:solidFill>
              <a:ln w="9525">
                <a:solidFill>
                  <a:srgbClr val="FF0066"/>
                </a:solidFill>
              </a:ln>
              <a:effectLst/>
            </c:spPr>
          </c:marker>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norite" panose="00000500000000000000" pitchFamily="2"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'Innovation Trend'!$B$3:$B$8</c:f>
              <c:numCache>
                <c:formatCode>General</c:formatCode>
                <c:ptCount val="6"/>
                <c:pt idx="0">
                  <c:v>2020</c:v>
                </c:pt>
                <c:pt idx="1">
                  <c:v>2021</c:v>
                </c:pt>
                <c:pt idx="2">
                  <c:v>2022</c:v>
                </c:pt>
                <c:pt idx="3">
                  <c:v>2023</c:v>
                </c:pt>
                <c:pt idx="4">
                  <c:v>2024</c:v>
                </c:pt>
                <c:pt idx="5">
                  <c:v>2025</c:v>
                </c:pt>
              </c:numCache>
            </c:numRef>
          </c:xVal>
          <c:yVal>
            <c:numRef>
              <c:f>'Innovation Trend'!$C$3:$C$8</c:f>
              <c:numCache>
                <c:formatCode>General</c:formatCode>
                <c:ptCount val="6"/>
                <c:pt idx="0">
                  <c:v>60</c:v>
                </c:pt>
                <c:pt idx="1">
                  <c:v>79</c:v>
                </c:pt>
                <c:pt idx="2">
                  <c:v>100</c:v>
                </c:pt>
                <c:pt idx="3">
                  <c:v>81</c:v>
                </c:pt>
                <c:pt idx="4">
                  <c:v>101</c:v>
                </c:pt>
                <c:pt idx="5">
                  <c:v>59</c:v>
                </c:pt>
              </c:numCache>
            </c:numRef>
          </c:yVal>
          <c:smooth val="0"/>
          <c:extLst>
            <c:ext xmlns:c16="http://schemas.microsoft.com/office/drawing/2014/chart" uri="{C3380CC4-5D6E-409C-BE32-E72D297353CC}">
              <c16:uniqueId val="{00000000-32D3-4709-856F-70C0E31F5046}"/>
            </c:ext>
          </c:extLst>
        </c:ser>
        <c:dLbls>
          <c:dLblPos val="t"/>
          <c:showLegendKey val="0"/>
          <c:showVal val="1"/>
          <c:showCatName val="0"/>
          <c:showSerName val="0"/>
          <c:showPercent val="0"/>
          <c:showBubbleSize val="0"/>
        </c:dLbls>
        <c:axId val="337777295"/>
        <c:axId val="337780655"/>
      </c:scatterChart>
      <c:valAx>
        <c:axId val="337777295"/>
        <c:scaling>
          <c:orientation val="minMax"/>
          <c:max val="2025"/>
        </c:scaling>
        <c:delete val="1"/>
        <c:axPos val="b"/>
        <c:numFmt formatCode="General" sourceLinked="1"/>
        <c:majorTickMark val="none"/>
        <c:minorTickMark val="none"/>
        <c:tickLblPos val="nextTo"/>
        <c:crossAx val="337780655"/>
        <c:crosses val="autoZero"/>
        <c:crossBetween val="midCat"/>
      </c:valAx>
      <c:valAx>
        <c:axId val="337780655"/>
        <c:scaling>
          <c:orientation val="minMax"/>
        </c:scaling>
        <c:delete val="1"/>
        <c:axPos val="l"/>
        <c:numFmt formatCode="General" sourceLinked="1"/>
        <c:majorTickMark val="none"/>
        <c:minorTickMark val="none"/>
        <c:tickLblPos val="nextTo"/>
        <c:crossAx val="337777295"/>
        <c:crosses val="autoZero"/>
        <c:crossBetween val="midCat"/>
      </c:valAx>
      <c:spPr>
        <a:noFill/>
        <a:ln>
          <a:noFill/>
        </a:ln>
        <a:effectLst/>
      </c:spPr>
    </c:plotArea>
    <c:plotVisOnly val="1"/>
    <c:dispBlanksAs val="gap"/>
    <c:showDLblsOverMax val="0"/>
  </c:chart>
  <c:spPr>
    <a:noFill/>
    <a:ln>
      <a:noFill/>
    </a:ln>
    <a:effectLst/>
  </c:spPr>
  <c:txPr>
    <a:bodyPr/>
    <a:lstStyle/>
    <a:p>
      <a:pPr>
        <a:defRPr sz="1100">
          <a:latin typeface="Tenorite" panose="00000500000000000000" pitchFamily="2"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'Innovation Trend'!$C$2</c:f>
              <c:strCache>
                <c:ptCount val="1"/>
                <c:pt idx="0">
                  <c:v>Count</c:v>
                </c:pt>
              </c:strCache>
            </c:strRef>
          </c:tx>
          <c:spPr>
            <a:solidFill>
              <a:schemeClr val="bg2">
                <a:lumMod val="75000"/>
              </a:schemeClr>
            </a:solidFill>
            <a:ln>
              <a:noFill/>
            </a:ln>
            <a:effectLst/>
          </c:spPr>
          <c:invertIfNegative val="0"/>
          <c:dPt>
            <c:idx val="0"/>
            <c:invertIfNegative val="0"/>
            <c:bubble3D val="0"/>
            <c:spPr>
              <a:solidFill>
                <a:schemeClr val="bg2">
                  <a:lumMod val="75000"/>
                </a:schemeClr>
              </a:solidFill>
              <a:ln>
                <a:noFill/>
              </a:ln>
              <a:effectLst/>
            </c:spPr>
            <c:extLst>
              <c:ext xmlns:c16="http://schemas.microsoft.com/office/drawing/2014/chart" uri="{C3380CC4-5D6E-409C-BE32-E72D297353CC}">
                <c16:uniqueId val="{00000001-69FC-4F71-8FEC-AFC499B61733}"/>
              </c:ext>
            </c:extLst>
          </c:dPt>
          <c:dPt>
            <c:idx val="1"/>
            <c:invertIfNegative val="0"/>
            <c:bubble3D val="0"/>
            <c:spPr>
              <a:solidFill>
                <a:schemeClr val="bg2">
                  <a:lumMod val="75000"/>
                </a:schemeClr>
              </a:solidFill>
              <a:ln>
                <a:noFill/>
              </a:ln>
              <a:effectLst/>
            </c:spPr>
            <c:extLst>
              <c:ext xmlns:c16="http://schemas.microsoft.com/office/drawing/2014/chart" uri="{C3380CC4-5D6E-409C-BE32-E72D297353CC}">
                <c16:uniqueId val="{00000002-69FC-4F71-8FEC-AFC499B61733}"/>
              </c:ext>
            </c:extLst>
          </c:dPt>
          <c:dPt>
            <c:idx val="2"/>
            <c:invertIfNegative val="0"/>
            <c:bubble3D val="0"/>
            <c:spPr>
              <a:solidFill>
                <a:schemeClr val="bg2">
                  <a:lumMod val="75000"/>
                </a:schemeClr>
              </a:solidFill>
              <a:ln>
                <a:noFill/>
              </a:ln>
              <a:effectLst/>
            </c:spPr>
            <c:extLst>
              <c:ext xmlns:c16="http://schemas.microsoft.com/office/drawing/2014/chart" uri="{C3380CC4-5D6E-409C-BE32-E72D297353CC}">
                <c16:uniqueId val="{00000003-69FC-4F71-8FEC-AFC499B61733}"/>
              </c:ext>
            </c:extLst>
          </c:dPt>
          <c:dPt>
            <c:idx val="3"/>
            <c:invertIfNegative val="0"/>
            <c:bubble3D val="0"/>
            <c:spPr>
              <a:solidFill>
                <a:schemeClr val="bg2">
                  <a:lumMod val="75000"/>
                </a:schemeClr>
              </a:solidFill>
              <a:ln>
                <a:noFill/>
              </a:ln>
              <a:effectLst/>
            </c:spPr>
            <c:extLst>
              <c:ext xmlns:c16="http://schemas.microsoft.com/office/drawing/2014/chart" uri="{C3380CC4-5D6E-409C-BE32-E72D297353CC}">
                <c16:uniqueId val="{00000004-69FC-4F71-8FEC-AFC499B61733}"/>
              </c:ext>
            </c:extLst>
          </c:dPt>
          <c:dPt>
            <c:idx val="4"/>
            <c:invertIfNegative val="0"/>
            <c:bubble3D val="0"/>
            <c:spPr>
              <a:solidFill>
                <a:schemeClr val="bg2">
                  <a:lumMod val="75000"/>
                </a:schemeClr>
              </a:solidFill>
              <a:ln>
                <a:noFill/>
              </a:ln>
              <a:effectLst/>
            </c:spPr>
            <c:extLst>
              <c:ext xmlns:c16="http://schemas.microsoft.com/office/drawing/2014/chart" uri="{C3380CC4-5D6E-409C-BE32-E72D297353CC}">
                <c16:uniqueId val="{00000005-69FC-4F71-8FEC-AFC499B61733}"/>
              </c:ext>
            </c:extLst>
          </c:dPt>
          <c:dPt>
            <c:idx val="5"/>
            <c:invertIfNegative val="0"/>
            <c:bubble3D val="0"/>
            <c:spPr>
              <a:solidFill>
                <a:schemeClr val="bg2">
                  <a:lumMod val="75000"/>
                </a:schemeClr>
              </a:solidFill>
              <a:ln>
                <a:noFill/>
              </a:ln>
              <a:effectLst/>
            </c:spPr>
            <c:extLst>
              <c:ext xmlns:c16="http://schemas.microsoft.com/office/drawing/2014/chart" uri="{C3380CC4-5D6E-409C-BE32-E72D297353CC}">
                <c16:uniqueId val="{00000006-69FC-4F71-8FEC-AFC499B61733}"/>
              </c:ext>
            </c:extLst>
          </c:dPt>
          <c:cat>
            <c:numRef>
              <c:f>'Innovation Trend'!$B$3:$B$8</c:f>
              <c:numCache>
                <c:formatCode>General</c:formatCode>
                <c:ptCount val="6"/>
                <c:pt idx="0">
                  <c:v>2020</c:v>
                </c:pt>
                <c:pt idx="1">
                  <c:v>2021</c:v>
                </c:pt>
                <c:pt idx="2">
                  <c:v>2022</c:v>
                </c:pt>
                <c:pt idx="3">
                  <c:v>2023</c:v>
                </c:pt>
                <c:pt idx="4">
                  <c:v>2024</c:v>
                </c:pt>
                <c:pt idx="5">
                  <c:v>2025</c:v>
                </c:pt>
              </c:numCache>
            </c:numRef>
          </c:cat>
          <c:val>
            <c:numRef>
              <c:f>'Innovation Trend'!$C$3:$C$8</c:f>
              <c:numCache>
                <c:formatCode>General</c:formatCode>
                <c:ptCount val="6"/>
                <c:pt idx="0">
                  <c:v>60</c:v>
                </c:pt>
                <c:pt idx="1">
                  <c:v>79</c:v>
                </c:pt>
                <c:pt idx="2">
                  <c:v>100</c:v>
                </c:pt>
                <c:pt idx="3">
                  <c:v>81</c:v>
                </c:pt>
                <c:pt idx="4">
                  <c:v>101</c:v>
                </c:pt>
                <c:pt idx="5">
                  <c:v>59</c:v>
                </c:pt>
              </c:numCache>
            </c:numRef>
          </c:val>
          <c:extLst>
            <c:ext xmlns:c16="http://schemas.microsoft.com/office/drawing/2014/chart" uri="{C3380CC4-5D6E-409C-BE32-E72D297353CC}">
              <c16:uniqueId val="{00000000-69FC-4F71-8FEC-AFC499B61733}"/>
            </c:ext>
          </c:extLst>
        </c:ser>
        <c:dLbls>
          <c:showLegendKey val="0"/>
          <c:showVal val="0"/>
          <c:showCatName val="0"/>
          <c:showSerName val="0"/>
          <c:showPercent val="0"/>
          <c:showBubbleSize val="0"/>
        </c:dLbls>
        <c:gapWidth val="219"/>
        <c:overlap val="-27"/>
        <c:axId val="1264150000"/>
        <c:axId val="1264154320"/>
      </c:barChart>
      <c:catAx>
        <c:axId val="12641500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enorite" panose="00000500000000000000" pitchFamily="2" charset="0"/>
                <a:ea typeface="+mn-ea"/>
                <a:cs typeface="+mn-cs"/>
              </a:defRPr>
            </a:pPr>
            <a:endParaRPr lang="en-US"/>
          </a:p>
        </c:txPr>
        <c:crossAx val="1264154320"/>
        <c:crosses val="autoZero"/>
        <c:auto val="1"/>
        <c:lblAlgn val="ctr"/>
        <c:lblOffset val="100"/>
        <c:noMultiLvlLbl val="0"/>
      </c:catAx>
      <c:valAx>
        <c:axId val="1264154320"/>
        <c:scaling>
          <c:orientation val="minMax"/>
        </c:scaling>
        <c:delete val="1"/>
        <c:axPos val="l"/>
        <c:numFmt formatCode="General" sourceLinked="1"/>
        <c:majorTickMark val="none"/>
        <c:minorTickMark val="none"/>
        <c:tickLblPos val="nextTo"/>
        <c:crossAx val="1264150000"/>
        <c:crosses val="autoZero"/>
        <c:crossBetween val="between"/>
      </c:valAx>
      <c:spPr>
        <a:noFill/>
        <a:ln>
          <a:noFill/>
        </a:ln>
        <a:effectLst/>
      </c:spPr>
    </c:plotArea>
    <c:plotVisOnly val="1"/>
    <c:dispBlanksAs val="gap"/>
    <c:showDLblsOverMax val="0"/>
  </c:chart>
  <c:spPr>
    <a:noFill/>
    <a:ln>
      <a:noFill/>
    </a:ln>
    <a:effectLst/>
  </c:spPr>
  <c:txPr>
    <a:bodyPr/>
    <a:lstStyle/>
    <a:p>
      <a:pPr>
        <a:defRPr sz="1100">
          <a:latin typeface="Tenorite" panose="00000500000000000000" pitchFamily="2"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0832077827731015"/>
          <c:y val="4.2321201255640047E-2"/>
          <c:w val="0.34163929384117431"/>
          <c:h val="0.91535759748871992"/>
        </c:manualLayout>
      </c:layout>
      <c:barChart>
        <c:barDir val="bar"/>
        <c:grouping val="clustered"/>
        <c:varyColors val="0"/>
        <c:ser>
          <c:idx val="0"/>
          <c:order val="0"/>
          <c:spPr>
            <a:solidFill>
              <a:schemeClr val="tx1">
                <a:lumMod val="50000"/>
                <a:lumOff val="5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Tenorite"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'Innovation Trend'!$K$22:$K$31</c:f>
              <c:strCache>
                <c:ptCount val="10"/>
                <c:pt idx="0">
                  <c:v>Neurent Medical</c:v>
                </c:pt>
                <c:pt idx="1">
                  <c:v>Nanjing University</c:v>
                </c:pt>
                <c:pt idx="2">
                  <c:v>Nanjing Canyon Medical Science &amp; Tech</c:v>
                </c:pt>
                <c:pt idx="3">
                  <c:v>Abbott|St. Jude Medical</c:v>
                </c:pt>
                <c:pt idx="4">
                  <c:v>Hangzhou Ruidi Biological Tech </c:v>
                </c:pt>
                <c:pt idx="5">
                  <c:v>Olympus</c:v>
                </c:pt>
                <c:pt idx="6">
                  <c:v>Medlumics</c:v>
                </c:pt>
                <c:pt idx="7">
                  <c:v>Boston Scientific Corporation (BSC)</c:v>
                </c:pt>
                <c:pt idx="8">
                  <c:v>Shanghai Microport Ep Medtech </c:v>
                </c:pt>
                <c:pt idx="9">
                  <c:v>Medtronic</c:v>
                </c:pt>
              </c:strCache>
            </c:strRef>
          </c:cat>
          <c:val>
            <c:numRef>
              <c:f>'Innovation Trend'!$L$22:$L$31</c:f>
              <c:numCache>
                <c:formatCode>General</c:formatCode>
                <c:ptCount val="10"/>
                <c:pt idx="0">
                  <c:v>5</c:v>
                </c:pt>
                <c:pt idx="1">
                  <c:v>5</c:v>
                </c:pt>
                <c:pt idx="2">
                  <c:v>5</c:v>
                </c:pt>
                <c:pt idx="3">
                  <c:v>5</c:v>
                </c:pt>
                <c:pt idx="4">
                  <c:v>6</c:v>
                </c:pt>
                <c:pt idx="5">
                  <c:v>9</c:v>
                </c:pt>
                <c:pt idx="6">
                  <c:v>9</c:v>
                </c:pt>
                <c:pt idx="7">
                  <c:v>13</c:v>
                </c:pt>
                <c:pt idx="8">
                  <c:v>13</c:v>
                </c:pt>
                <c:pt idx="9">
                  <c:v>33</c:v>
                </c:pt>
              </c:numCache>
            </c:numRef>
          </c:val>
          <c:extLst>
            <c:ext xmlns:c16="http://schemas.microsoft.com/office/drawing/2014/chart" uri="{C3380CC4-5D6E-409C-BE32-E72D297353CC}">
              <c16:uniqueId val="{00000000-4D40-47F0-B5DD-92C36F6C52C0}"/>
            </c:ext>
          </c:extLst>
        </c:ser>
        <c:dLbls>
          <c:dLblPos val="outEnd"/>
          <c:showLegendKey val="0"/>
          <c:showVal val="1"/>
          <c:showCatName val="0"/>
          <c:showSerName val="0"/>
          <c:showPercent val="0"/>
          <c:showBubbleSize val="0"/>
        </c:dLbls>
        <c:gapWidth val="80"/>
        <c:axId val="337809455"/>
        <c:axId val="337804175"/>
      </c:barChart>
      <c:catAx>
        <c:axId val="3378094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Tenorite" panose="00000500000000000000" pitchFamily="2" charset="0"/>
                <a:ea typeface="+mn-ea"/>
                <a:cs typeface="+mn-cs"/>
              </a:defRPr>
            </a:pPr>
            <a:endParaRPr lang="en-US"/>
          </a:p>
        </c:txPr>
        <c:crossAx val="337804175"/>
        <c:crosses val="autoZero"/>
        <c:auto val="1"/>
        <c:lblAlgn val="ctr"/>
        <c:lblOffset val="100"/>
        <c:noMultiLvlLbl val="0"/>
      </c:catAx>
      <c:valAx>
        <c:axId val="337804175"/>
        <c:scaling>
          <c:orientation val="minMax"/>
        </c:scaling>
        <c:delete val="1"/>
        <c:axPos val="b"/>
        <c:numFmt formatCode="General" sourceLinked="1"/>
        <c:majorTickMark val="none"/>
        <c:minorTickMark val="none"/>
        <c:tickLblPos val="nextTo"/>
        <c:crossAx val="337809455"/>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tx1">
              <a:lumMod val="75000"/>
              <a:lumOff val="25000"/>
            </a:schemeClr>
          </a:solidFill>
          <a:latin typeface="Tenorite" panose="00000500000000000000" pitchFamily="2"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tx>
            <c:strRef>
              <c:f>'Global Trend'!$B$4</c:f>
              <c:strCache>
                <c:ptCount val="1"/>
                <c:pt idx="0">
                  <c:v>CN</c:v>
                </c:pt>
              </c:strCache>
            </c:strRef>
          </c:tx>
          <c:spPr>
            <a:solidFill>
              <a:srgbClr val="C9FFE1"/>
            </a:solidFill>
            <a:ln>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Trend'!$C$4:$H$4</c:f>
              <c:numCache>
                <c:formatCode>General</c:formatCode>
                <c:ptCount val="6"/>
                <c:pt idx="0">
                  <c:v>10</c:v>
                </c:pt>
                <c:pt idx="1">
                  <c:v>10</c:v>
                </c:pt>
                <c:pt idx="2">
                  <c:v>10</c:v>
                </c:pt>
                <c:pt idx="3">
                  <c:v>10</c:v>
                </c:pt>
                <c:pt idx="4">
                  <c:v>10</c:v>
                </c:pt>
                <c:pt idx="5">
                  <c:v>10</c:v>
                </c:pt>
              </c:numCache>
            </c:numRef>
          </c:yVal>
          <c:bubbleSize>
            <c:numRef>
              <c:f>'Global Trend'!$C$5:$H$5</c:f>
              <c:numCache>
                <c:formatCode>General</c:formatCode>
                <c:ptCount val="6"/>
                <c:pt idx="0">
                  <c:v>23</c:v>
                </c:pt>
                <c:pt idx="1">
                  <c:v>43</c:v>
                </c:pt>
                <c:pt idx="2">
                  <c:v>63</c:v>
                </c:pt>
                <c:pt idx="3">
                  <c:v>48</c:v>
                </c:pt>
                <c:pt idx="4">
                  <c:v>59</c:v>
                </c:pt>
                <c:pt idx="5">
                  <c:v>55</c:v>
                </c:pt>
              </c:numCache>
            </c:numRef>
          </c:bubbleSize>
          <c:bubble3D val="0"/>
          <c:extLst>
            <c:ext xmlns:c16="http://schemas.microsoft.com/office/drawing/2014/chart" uri="{C3380CC4-5D6E-409C-BE32-E72D297353CC}">
              <c16:uniqueId val="{00000000-2031-4997-A821-B3995799615B}"/>
            </c:ext>
          </c:extLst>
        </c:ser>
        <c:ser>
          <c:idx val="1"/>
          <c:order val="1"/>
          <c:tx>
            <c:strRef>
              <c:f>'Global Trend'!$B$6</c:f>
              <c:strCache>
                <c:ptCount val="1"/>
                <c:pt idx="0">
                  <c:v>US</c:v>
                </c:pt>
              </c:strCache>
            </c:strRef>
          </c:tx>
          <c:spPr>
            <a:solidFill>
              <a:schemeClr val="bg2">
                <a:lumMod val="50000"/>
              </a:schemeClr>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Trend'!$C$6:$H$6</c:f>
              <c:numCache>
                <c:formatCode>General</c:formatCode>
                <c:ptCount val="6"/>
                <c:pt idx="0">
                  <c:v>9</c:v>
                </c:pt>
                <c:pt idx="1">
                  <c:v>9</c:v>
                </c:pt>
                <c:pt idx="2">
                  <c:v>9</c:v>
                </c:pt>
                <c:pt idx="3">
                  <c:v>9</c:v>
                </c:pt>
                <c:pt idx="4">
                  <c:v>9</c:v>
                </c:pt>
                <c:pt idx="5">
                  <c:v>9</c:v>
                </c:pt>
              </c:numCache>
            </c:numRef>
          </c:yVal>
          <c:bubbleSize>
            <c:numRef>
              <c:f>'Global Trend'!$C$7:$H$7</c:f>
              <c:numCache>
                <c:formatCode>General</c:formatCode>
                <c:ptCount val="6"/>
                <c:pt idx="0">
                  <c:v>37</c:v>
                </c:pt>
                <c:pt idx="1">
                  <c:v>32</c:v>
                </c:pt>
                <c:pt idx="2">
                  <c:v>34</c:v>
                </c:pt>
                <c:pt idx="3">
                  <c:v>19</c:v>
                </c:pt>
                <c:pt idx="4">
                  <c:v>13</c:v>
                </c:pt>
                <c:pt idx="5">
                  <c:v>1</c:v>
                </c:pt>
              </c:numCache>
            </c:numRef>
          </c:bubbleSize>
          <c:bubble3D val="0"/>
          <c:extLst>
            <c:ext xmlns:c16="http://schemas.microsoft.com/office/drawing/2014/chart" uri="{C3380CC4-5D6E-409C-BE32-E72D297353CC}">
              <c16:uniqueId val="{00000001-2031-4997-A821-B3995799615B}"/>
            </c:ext>
          </c:extLst>
        </c:ser>
        <c:ser>
          <c:idx val="2"/>
          <c:order val="2"/>
          <c:tx>
            <c:strRef>
              <c:f>'Global Trend'!$B$8</c:f>
              <c:strCache>
                <c:ptCount val="1"/>
                <c:pt idx="0">
                  <c:v>WO</c:v>
                </c:pt>
              </c:strCache>
            </c:strRef>
          </c:tx>
          <c:spPr>
            <a:solidFill>
              <a:srgbClr val="9FE6FF"/>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Trend'!$C$8:$H$8</c:f>
              <c:numCache>
                <c:formatCode>General</c:formatCode>
                <c:ptCount val="6"/>
                <c:pt idx="0">
                  <c:v>8</c:v>
                </c:pt>
                <c:pt idx="1">
                  <c:v>8</c:v>
                </c:pt>
                <c:pt idx="2">
                  <c:v>8</c:v>
                </c:pt>
                <c:pt idx="3">
                  <c:v>8</c:v>
                </c:pt>
                <c:pt idx="4">
                  <c:v>8</c:v>
                </c:pt>
                <c:pt idx="5">
                  <c:v>8</c:v>
                </c:pt>
              </c:numCache>
            </c:numRef>
          </c:yVal>
          <c:bubbleSize>
            <c:numRef>
              <c:f>'Global Trend'!$C$9:$H$9</c:f>
              <c:numCache>
                <c:formatCode>General</c:formatCode>
                <c:ptCount val="6"/>
                <c:pt idx="0">
                  <c:v>17</c:v>
                </c:pt>
                <c:pt idx="1">
                  <c:v>22</c:v>
                </c:pt>
                <c:pt idx="2">
                  <c:v>21</c:v>
                </c:pt>
                <c:pt idx="3">
                  <c:v>30</c:v>
                </c:pt>
                <c:pt idx="4">
                  <c:v>41</c:v>
                </c:pt>
                <c:pt idx="5">
                  <c:v>1</c:v>
                </c:pt>
              </c:numCache>
            </c:numRef>
          </c:bubbleSize>
          <c:bubble3D val="0"/>
          <c:extLst>
            <c:ext xmlns:c16="http://schemas.microsoft.com/office/drawing/2014/chart" uri="{C3380CC4-5D6E-409C-BE32-E72D297353CC}">
              <c16:uniqueId val="{00000002-2031-4997-A821-B3995799615B}"/>
            </c:ext>
          </c:extLst>
        </c:ser>
        <c:ser>
          <c:idx val="3"/>
          <c:order val="3"/>
          <c:tx>
            <c:strRef>
              <c:f>'Global Trend'!$B$10</c:f>
              <c:strCache>
                <c:ptCount val="1"/>
                <c:pt idx="0">
                  <c:v>EP</c:v>
                </c:pt>
              </c:strCache>
            </c:strRef>
          </c:tx>
          <c:spPr>
            <a:solidFill>
              <a:srgbClr val="FFA3C8"/>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Trend'!$C$10:$H$10</c:f>
              <c:numCache>
                <c:formatCode>General</c:formatCode>
                <c:ptCount val="6"/>
                <c:pt idx="0">
                  <c:v>7</c:v>
                </c:pt>
                <c:pt idx="1">
                  <c:v>7</c:v>
                </c:pt>
                <c:pt idx="2">
                  <c:v>7</c:v>
                </c:pt>
                <c:pt idx="3">
                  <c:v>7</c:v>
                </c:pt>
                <c:pt idx="4">
                  <c:v>7</c:v>
                </c:pt>
                <c:pt idx="5">
                  <c:v>7</c:v>
                </c:pt>
              </c:numCache>
            </c:numRef>
          </c:yVal>
          <c:bubbleSize>
            <c:numRef>
              <c:f>'Global Trend'!$C$11:$H$11</c:f>
              <c:numCache>
                <c:formatCode>General</c:formatCode>
                <c:ptCount val="6"/>
                <c:pt idx="0">
                  <c:v>18</c:v>
                </c:pt>
                <c:pt idx="1">
                  <c:v>16</c:v>
                </c:pt>
                <c:pt idx="2">
                  <c:v>25</c:v>
                </c:pt>
                <c:pt idx="3">
                  <c:v>11</c:v>
                </c:pt>
                <c:pt idx="4">
                  <c:v>6</c:v>
                </c:pt>
              </c:numCache>
            </c:numRef>
          </c:bubbleSize>
          <c:bubble3D val="0"/>
          <c:extLst>
            <c:ext xmlns:c16="http://schemas.microsoft.com/office/drawing/2014/chart" uri="{C3380CC4-5D6E-409C-BE32-E72D297353CC}">
              <c16:uniqueId val="{00000003-2031-4997-A821-B3995799615B}"/>
            </c:ext>
          </c:extLst>
        </c:ser>
        <c:ser>
          <c:idx val="4"/>
          <c:order val="4"/>
          <c:tx>
            <c:strRef>
              <c:f>'Global Trend'!$B$12</c:f>
              <c:strCache>
                <c:ptCount val="1"/>
                <c:pt idx="0">
                  <c:v>JP</c:v>
                </c:pt>
              </c:strCache>
            </c:strRef>
          </c:tx>
          <c:spPr>
            <a:solidFill>
              <a:srgbClr val="C4C2C2"/>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Trend'!$C$12:$H$12</c:f>
              <c:numCache>
                <c:formatCode>General</c:formatCode>
                <c:ptCount val="6"/>
                <c:pt idx="0">
                  <c:v>6</c:v>
                </c:pt>
                <c:pt idx="1">
                  <c:v>6</c:v>
                </c:pt>
                <c:pt idx="2">
                  <c:v>6</c:v>
                </c:pt>
                <c:pt idx="3">
                  <c:v>6</c:v>
                </c:pt>
                <c:pt idx="4">
                  <c:v>6</c:v>
                </c:pt>
                <c:pt idx="5">
                  <c:v>6</c:v>
                </c:pt>
              </c:numCache>
            </c:numRef>
          </c:yVal>
          <c:bubbleSize>
            <c:numRef>
              <c:f>'Global Trend'!$C$13:$H$13</c:f>
              <c:numCache>
                <c:formatCode>General</c:formatCode>
                <c:ptCount val="6"/>
                <c:pt idx="0">
                  <c:v>12</c:v>
                </c:pt>
                <c:pt idx="1">
                  <c:v>10</c:v>
                </c:pt>
                <c:pt idx="2">
                  <c:v>15</c:v>
                </c:pt>
                <c:pt idx="3">
                  <c:v>4</c:v>
                </c:pt>
                <c:pt idx="4">
                  <c:v>1</c:v>
                </c:pt>
              </c:numCache>
            </c:numRef>
          </c:bubbleSize>
          <c:bubble3D val="0"/>
          <c:extLst>
            <c:ext xmlns:c16="http://schemas.microsoft.com/office/drawing/2014/chart" uri="{C3380CC4-5D6E-409C-BE32-E72D297353CC}">
              <c16:uniqueId val="{00000004-2031-4997-A821-B3995799615B}"/>
            </c:ext>
          </c:extLst>
        </c:ser>
        <c:ser>
          <c:idx val="5"/>
          <c:order val="5"/>
          <c:tx>
            <c:strRef>
              <c:f>'Global Trend'!$B$14</c:f>
              <c:strCache>
                <c:ptCount val="1"/>
                <c:pt idx="0">
                  <c:v>AU</c:v>
                </c:pt>
              </c:strCache>
            </c:strRef>
          </c:tx>
          <c:spPr>
            <a:solidFill>
              <a:srgbClr val="FF0066"/>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Trend'!$C$14:$H$14</c:f>
              <c:numCache>
                <c:formatCode>General</c:formatCode>
                <c:ptCount val="6"/>
                <c:pt idx="0">
                  <c:v>5</c:v>
                </c:pt>
                <c:pt idx="1">
                  <c:v>5</c:v>
                </c:pt>
                <c:pt idx="2">
                  <c:v>5</c:v>
                </c:pt>
                <c:pt idx="3">
                  <c:v>5</c:v>
                </c:pt>
                <c:pt idx="4">
                  <c:v>5</c:v>
                </c:pt>
                <c:pt idx="5">
                  <c:v>5</c:v>
                </c:pt>
              </c:numCache>
            </c:numRef>
          </c:yVal>
          <c:bubbleSize>
            <c:numRef>
              <c:f>'Global Trend'!$C$15:$H$15</c:f>
              <c:numCache>
                <c:formatCode>General</c:formatCode>
                <c:ptCount val="6"/>
                <c:pt idx="0">
                  <c:v>6</c:v>
                </c:pt>
                <c:pt idx="1">
                  <c:v>5</c:v>
                </c:pt>
                <c:pt idx="2">
                  <c:v>3</c:v>
                </c:pt>
              </c:numCache>
            </c:numRef>
          </c:bubbleSize>
          <c:bubble3D val="0"/>
          <c:extLst>
            <c:ext xmlns:c16="http://schemas.microsoft.com/office/drawing/2014/chart" uri="{C3380CC4-5D6E-409C-BE32-E72D297353CC}">
              <c16:uniqueId val="{00000005-2031-4997-A821-B3995799615B}"/>
            </c:ext>
          </c:extLst>
        </c:ser>
        <c:ser>
          <c:idx val="6"/>
          <c:order val="6"/>
          <c:tx>
            <c:strRef>
              <c:f>'Global Trend'!$B$16</c:f>
              <c:strCache>
                <c:ptCount val="1"/>
                <c:pt idx="0">
                  <c:v>CA</c:v>
                </c:pt>
              </c:strCache>
            </c:strRef>
          </c:tx>
          <c:spPr>
            <a:solidFill>
              <a:srgbClr val="92D050"/>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Trend'!$C$16:$H$16</c:f>
              <c:numCache>
                <c:formatCode>General</c:formatCode>
                <c:ptCount val="6"/>
                <c:pt idx="0">
                  <c:v>4</c:v>
                </c:pt>
                <c:pt idx="1">
                  <c:v>4</c:v>
                </c:pt>
                <c:pt idx="2">
                  <c:v>4</c:v>
                </c:pt>
                <c:pt idx="3">
                  <c:v>4</c:v>
                </c:pt>
                <c:pt idx="4">
                  <c:v>4</c:v>
                </c:pt>
                <c:pt idx="5">
                  <c:v>4</c:v>
                </c:pt>
              </c:numCache>
            </c:numRef>
          </c:yVal>
          <c:bubbleSize>
            <c:numRef>
              <c:f>'Global Trend'!$C$17:$H$17</c:f>
              <c:numCache>
                <c:formatCode>General</c:formatCode>
                <c:ptCount val="6"/>
                <c:pt idx="0">
                  <c:v>8</c:v>
                </c:pt>
                <c:pt idx="1">
                  <c:v>4</c:v>
                </c:pt>
                <c:pt idx="2">
                  <c:v>2</c:v>
                </c:pt>
              </c:numCache>
            </c:numRef>
          </c:bubbleSize>
          <c:bubble3D val="0"/>
          <c:extLst>
            <c:ext xmlns:c16="http://schemas.microsoft.com/office/drawing/2014/chart" uri="{C3380CC4-5D6E-409C-BE32-E72D297353CC}">
              <c16:uniqueId val="{00000006-2031-4997-A821-B3995799615B}"/>
            </c:ext>
          </c:extLst>
        </c:ser>
        <c:ser>
          <c:idx val="7"/>
          <c:order val="7"/>
          <c:tx>
            <c:strRef>
              <c:f>'Global Trend'!$B$18</c:f>
              <c:strCache>
                <c:ptCount val="1"/>
                <c:pt idx="0">
                  <c:v>DE</c:v>
                </c:pt>
              </c:strCache>
            </c:strRef>
          </c:tx>
          <c:spPr>
            <a:solidFill>
              <a:srgbClr val="00B0F0"/>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Trend'!$C$18:$H$18</c:f>
              <c:numCache>
                <c:formatCode>General</c:formatCode>
                <c:ptCount val="6"/>
                <c:pt idx="0">
                  <c:v>3</c:v>
                </c:pt>
                <c:pt idx="1">
                  <c:v>3</c:v>
                </c:pt>
                <c:pt idx="2">
                  <c:v>3</c:v>
                </c:pt>
                <c:pt idx="3">
                  <c:v>3</c:v>
                </c:pt>
                <c:pt idx="4">
                  <c:v>3</c:v>
                </c:pt>
                <c:pt idx="5">
                  <c:v>3</c:v>
                </c:pt>
              </c:numCache>
            </c:numRef>
          </c:yVal>
          <c:bubbleSize>
            <c:numRef>
              <c:f>'Global Trend'!$C$19:$H$19</c:f>
              <c:numCache>
                <c:formatCode>General</c:formatCode>
                <c:ptCount val="6"/>
                <c:pt idx="0">
                  <c:v>1</c:v>
                </c:pt>
                <c:pt idx="1">
                  <c:v>3</c:v>
                </c:pt>
                <c:pt idx="2">
                  <c:v>4</c:v>
                </c:pt>
                <c:pt idx="3">
                  <c:v>2</c:v>
                </c:pt>
                <c:pt idx="4">
                  <c:v>3</c:v>
                </c:pt>
              </c:numCache>
            </c:numRef>
          </c:bubbleSize>
          <c:bubble3D val="0"/>
          <c:extLst>
            <c:ext xmlns:c16="http://schemas.microsoft.com/office/drawing/2014/chart" uri="{C3380CC4-5D6E-409C-BE32-E72D297353CC}">
              <c16:uniqueId val="{00000007-2031-4997-A821-B3995799615B}"/>
            </c:ext>
          </c:extLst>
        </c:ser>
        <c:ser>
          <c:idx val="8"/>
          <c:order val="8"/>
          <c:tx>
            <c:strRef>
              <c:f>'Global Trend'!$B$20</c:f>
              <c:strCache>
                <c:ptCount val="1"/>
                <c:pt idx="0">
                  <c:v>KR</c:v>
                </c:pt>
              </c:strCache>
            </c:strRef>
          </c:tx>
          <c:spPr>
            <a:solidFill>
              <a:schemeClr val="accent6">
                <a:lumMod val="75000"/>
              </a:schemeClr>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Trend'!$C$20:$H$20</c:f>
              <c:numCache>
                <c:formatCode>General</c:formatCode>
                <c:ptCount val="6"/>
                <c:pt idx="0">
                  <c:v>2</c:v>
                </c:pt>
                <c:pt idx="1">
                  <c:v>2</c:v>
                </c:pt>
                <c:pt idx="2">
                  <c:v>2</c:v>
                </c:pt>
                <c:pt idx="3">
                  <c:v>2</c:v>
                </c:pt>
                <c:pt idx="4">
                  <c:v>2</c:v>
                </c:pt>
                <c:pt idx="5">
                  <c:v>2</c:v>
                </c:pt>
              </c:numCache>
            </c:numRef>
          </c:yVal>
          <c:bubbleSize>
            <c:numRef>
              <c:f>'Global Trend'!$C$21:$H$21</c:f>
              <c:numCache>
                <c:formatCode>General</c:formatCode>
                <c:ptCount val="6"/>
                <c:pt idx="0">
                  <c:v>3</c:v>
                </c:pt>
                <c:pt idx="1">
                  <c:v>2</c:v>
                </c:pt>
                <c:pt idx="2">
                  <c:v>3</c:v>
                </c:pt>
                <c:pt idx="4">
                  <c:v>1</c:v>
                </c:pt>
              </c:numCache>
            </c:numRef>
          </c:bubbleSize>
          <c:bubble3D val="0"/>
          <c:extLst>
            <c:ext xmlns:c16="http://schemas.microsoft.com/office/drawing/2014/chart" uri="{C3380CC4-5D6E-409C-BE32-E72D297353CC}">
              <c16:uniqueId val="{00000008-2031-4997-A821-B3995799615B}"/>
            </c:ext>
          </c:extLst>
        </c:ser>
        <c:ser>
          <c:idx val="9"/>
          <c:order val="9"/>
          <c:tx>
            <c:strRef>
              <c:f>'Global Trend'!$B$22</c:f>
              <c:strCache>
                <c:ptCount val="1"/>
                <c:pt idx="0">
                  <c:v>IL</c:v>
                </c:pt>
              </c:strCache>
            </c:strRef>
          </c:tx>
          <c:spPr>
            <a:solidFill>
              <a:srgbClr val="00B050"/>
            </a:solidFill>
            <a:ln w="25400">
              <a:noFill/>
            </a:ln>
            <a:effectLst/>
          </c:spPr>
          <c:invertIfNegative val="0"/>
          <c:xVal>
            <c:numRef>
              <c:f>'Global Trend'!$C$3:$H$3</c:f>
              <c:numCache>
                <c:formatCode>General</c:formatCode>
                <c:ptCount val="6"/>
                <c:pt idx="0">
                  <c:v>2020</c:v>
                </c:pt>
                <c:pt idx="1">
                  <c:v>2021</c:v>
                </c:pt>
                <c:pt idx="2">
                  <c:v>2022</c:v>
                </c:pt>
                <c:pt idx="3">
                  <c:v>2023</c:v>
                </c:pt>
                <c:pt idx="4">
                  <c:v>2024</c:v>
                </c:pt>
                <c:pt idx="5">
                  <c:v>2025</c:v>
                </c:pt>
              </c:numCache>
            </c:numRef>
          </c:xVal>
          <c:yVal>
            <c:numRef>
              <c:f>'Global Trend'!$C$22:$H$22</c:f>
              <c:numCache>
                <c:formatCode>General</c:formatCode>
                <c:ptCount val="6"/>
                <c:pt idx="0">
                  <c:v>1</c:v>
                </c:pt>
                <c:pt idx="1">
                  <c:v>1</c:v>
                </c:pt>
                <c:pt idx="2">
                  <c:v>1</c:v>
                </c:pt>
                <c:pt idx="3">
                  <c:v>1</c:v>
                </c:pt>
                <c:pt idx="4">
                  <c:v>1</c:v>
                </c:pt>
                <c:pt idx="5">
                  <c:v>1</c:v>
                </c:pt>
              </c:numCache>
            </c:numRef>
          </c:yVal>
          <c:bubbleSize>
            <c:numRef>
              <c:f>'Global Trend'!$C$23:$H$23</c:f>
              <c:numCache>
                <c:formatCode>General</c:formatCode>
                <c:ptCount val="6"/>
                <c:pt idx="0">
                  <c:v>4</c:v>
                </c:pt>
                <c:pt idx="2">
                  <c:v>1</c:v>
                </c:pt>
              </c:numCache>
            </c:numRef>
          </c:bubbleSize>
          <c:bubble3D val="0"/>
          <c:extLst>
            <c:ext xmlns:c16="http://schemas.microsoft.com/office/drawing/2014/chart" uri="{C3380CC4-5D6E-409C-BE32-E72D297353CC}">
              <c16:uniqueId val="{00000009-2031-4997-A821-B3995799615B}"/>
            </c:ext>
          </c:extLst>
        </c:ser>
        <c:dLbls>
          <c:showLegendKey val="0"/>
          <c:showVal val="0"/>
          <c:showCatName val="0"/>
          <c:showSerName val="0"/>
          <c:showPercent val="0"/>
          <c:showBubbleSize val="0"/>
        </c:dLbls>
        <c:bubbleScale val="60"/>
        <c:showNegBubbles val="0"/>
        <c:axId val="1473534880"/>
        <c:axId val="1473535360"/>
      </c:bubbleChart>
      <c:valAx>
        <c:axId val="14735348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Tenorite" panose="00000500000000000000" pitchFamily="2" charset="0"/>
                <a:ea typeface="+mn-ea"/>
                <a:cs typeface="+mn-cs"/>
              </a:defRPr>
            </a:pPr>
            <a:endParaRPr lang="en-US"/>
          </a:p>
        </c:txPr>
        <c:crossAx val="1473535360"/>
        <c:crosses val="autoZero"/>
        <c:crossBetween val="midCat"/>
      </c:valAx>
      <c:valAx>
        <c:axId val="1473535360"/>
        <c:scaling>
          <c:orientation val="minMax"/>
          <c:max val="11"/>
          <c:min val="0"/>
        </c:scaling>
        <c:delete val="1"/>
        <c:axPos val="l"/>
        <c:numFmt formatCode="General" sourceLinked="1"/>
        <c:majorTickMark val="none"/>
        <c:minorTickMark val="none"/>
        <c:tickLblPos val="nextTo"/>
        <c:crossAx val="1473534880"/>
        <c:crosses val="autoZero"/>
        <c:crossBetween val="midCat"/>
        <c:majorUnit val="1"/>
      </c:valAx>
      <c:spPr>
        <a:noFill/>
        <a:ln w="25400">
          <a:noFill/>
        </a:ln>
        <a:effectLst/>
      </c:spPr>
    </c:plotArea>
    <c:legend>
      <c:legendPos val="r"/>
      <c:layout>
        <c:manualLayout>
          <c:xMode val="edge"/>
          <c:yMode val="edge"/>
          <c:x val="0.92554182766305526"/>
          <c:y val="5.1361089391062195E-2"/>
          <c:w val="6.1997100920287734E-2"/>
          <c:h val="0.815783129713286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Tenorite" panose="00000500000000000000"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lumMod val="75000"/>
              <a:lumOff val="25000"/>
            </a:schemeClr>
          </a:solidFill>
          <a:latin typeface="Tenorite" panose="00000500000000000000"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dirty="0"/>
              <a:t>Portfolio Analysis Report</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4/29/2026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dirty="0"/>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dirty="0"/>
              <a:t>Portfolio Analysis Report</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4/29/2026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70006" y="1598572"/>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Client Confidential</a:t>
            </a:r>
          </a:p>
        </p:txBody>
      </p:sp>
      <p:sp>
        <p:nvSpPr>
          <p:cNvPr id="4" name="Date Placeholder 3"/>
          <p:cNvSpPr>
            <a:spLocks noGrp="1"/>
          </p:cNvSpPr>
          <p:nvPr>
            <p:ph type="dt" sz="half" idx="10"/>
          </p:nvPr>
        </p:nvSpPr>
        <p:spPr/>
        <p:txBody>
          <a:bodyPr/>
          <a:lstStyle/>
          <a:p>
            <a:fld id="{D14DD45C-AC3B-4439-B23D-40E9D88C622C}" type="datetime1">
              <a:rPr lang="en-US" smtClean="0"/>
              <a:t>4/29/2026</a:t>
            </a:fld>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Client Confidential</a:t>
            </a:r>
          </a:p>
        </p:txBody>
      </p:sp>
      <p:sp>
        <p:nvSpPr>
          <p:cNvPr id="5" name="Date Placeholder 4"/>
          <p:cNvSpPr>
            <a:spLocks noGrp="1"/>
          </p:cNvSpPr>
          <p:nvPr>
            <p:ph type="dt" sz="half" idx="10"/>
          </p:nvPr>
        </p:nvSpPr>
        <p:spPr/>
        <p:txBody>
          <a:bodyPr/>
          <a:lstStyle/>
          <a:p>
            <a:fld id="{B8C16C16-63CD-47AA-B8CA-3D66233FD0E4}" type="datetime1">
              <a:rPr lang="en-US" smtClean="0"/>
              <a:t>4/29/2026</a:t>
            </a:fld>
            <a:endParaRPr lang="en-US" dirty="0"/>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Client Confidential</a:t>
            </a:r>
          </a:p>
        </p:txBody>
      </p:sp>
      <p:sp>
        <p:nvSpPr>
          <p:cNvPr id="7" name="Date Placeholder 6"/>
          <p:cNvSpPr>
            <a:spLocks noGrp="1"/>
          </p:cNvSpPr>
          <p:nvPr>
            <p:ph type="dt" sz="half" idx="10"/>
          </p:nvPr>
        </p:nvSpPr>
        <p:spPr/>
        <p:txBody>
          <a:bodyPr/>
          <a:lstStyle/>
          <a:p>
            <a:fld id="{2C9F1D32-9D89-4410-AFC6-E208EC6BA478}" type="datetime1">
              <a:rPr lang="en-US" smtClean="0"/>
              <a:t>4/29/2026</a:t>
            </a:fld>
            <a:endParaRPr lang="en-US" dirty="0"/>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Client Confidential</a:t>
            </a:r>
          </a:p>
        </p:txBody>
      </p:sp>
      <p:sp>
        <p:nvSpPr>
          <p:cNvPr id="3" name="Date Placeholder 2"/>
          <p:cNvSpPr>
            <a:spLocks noGrp="1"/>
          </p:cNvSpPr>
          <p:nvPr>
            <p:ph type="dt" sz="half" idx="10"/>
          </p:nvPr>
        </p:nvSpPr>
        <p:spPr/>
        <p:txBody>
          <a:bodyPr/>
          <a:lstStyle/>
          <a:p>
            <a:fld id="{B32A93B4-C5DA-4911-BC0F-7A7BE773C98D}" type="datetime1">
              <a:rPr lang="en-US" smtClean="0"/>
              <a:t>4/29/2026</a:t>
            </a:fld>
            <a:endParaRPr lang="en-US" dirty="0"/>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Client Confidential</a:t>
            </a:r>
          </a:p>
        </p:txBody>
      </p:sp>
      <p:sp>
        <p:nvSpPr>
          <p:cNvPr id="212" name="Date Placeholder 211"/>
          <p:cNvSpPr>
            <a:spLocks noGrp="1"/>
          </p:cNvSpPr>
          <p:nvPr>
            <p:ph type="dt" sz="half" idx="10"/>
          </p:nvPr>
        </p:nvSpPr>
        <p:spPr/>
        <p:txBody>
          <a:bodyPr/>
          <a:lstStyle/>
          <a:p>
            <a:fld id="{329E502C-C78B-4210-A3C6-D70AADCB2CF0}" type="datetime1">
              <a:rPr lang="en-US" smtClean="0"/>
              <a:t>4/29/2026</a:t>
            </a:fld>
            <a:endParaRPr lang="en-US" dirty="0"/>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dirty="0"/>
          </a:p>
        </p:txBody>
      </p:sp>
      <p:grpSp>
        <p:nvGrpSpPr>
          <p:cNvPr id="56" name="Group 55">
            <a:extLst>
              <a:ext uri="{FF2B5EF4-FFF2-40B4-BE49-F238E27FC236}">
                <a16:creationId xmlns:a16="http://schemas.microsoft.com/office/drawing/2014/main" id="{28FC8B85-F6B5-4AEA-8E0E-F24B2B2CF985}"/>
              </a:ext>
            </a:extLst>
          </p:cNvPr>
          <p:cNvGrpSpPr/>
          <p:nvPr userDrawn="1"/>
        </p:nvGrpSpPr>
        <p:grpSpPr>
          <a:xfrm>
            <a:off x="10115550" y="168890"/>
            <a:ext cx="1837644" cy="469283"/>
            <a:chOff x="9658350" y="354301"/>
            <a:chExt cx="1837644" cy="469283"/>
          </a:xfrm>
        </p:grpSpPr>
        <p:pic>
          <p:nvPicPr>
            <p:cNvPr id="57" name="Picture 56">
              <a:extLst>
                <a:ext uri="{FF2B5EF4-FFF2-40B4-BE49-F238E27FC236}">
                  <a16:creationId xmlns:a16="http://schemas.microsoft.com/office/drawing/2014/main" id="{D0F95DBD-8696-400D-86EA-49D01F9D49DF}"/>
                </a:ext>
              </a:extLst>
            </p:cNvPr>
            <p:cNvPicPr>
              <a:picLocks noChangeAspect="1"/>
            </p:cNvPicPr>
            <p:nvPr/>
          </p:nvPicPr>
          <p:blipFill>
            <a:blip r:embed="rId2"/>
            <a:stretch>
              <a:fillRect/>
            </a:stretch>
          </p:blipFill>
          <p:spPr>
            <a:xfrm>
              <a:off x="11135918" y="354301"/>
              <a:ext cx="360076" cy="360076"/>
            </a:xfrm>
            <a:prstGeom prst="rect">
              <a:avLst/>
            </a:prstGeom>
          </p:spPr>
        </p:pic>
        <p:sp>
          <p:nvSpPr>
            <p:cNvPr id="58" name="TextBox 57">
              <a:extLst>
                <a:ext uri="{FF2B5EF4-FFF2-40B4-BE49-F238E27FC236}">
                  <a16:creationId xmlns:a16="http://schemas.microsoft.com/office/drawing/2014/main" id="{2D9738D7-17F0-4308-84F3-72D491974EF9}"/>
                </a:ext>
              </a:extLst>
            </p:cNvPr>
            <p:cNvSpPr txBox="1"/>
            <p:nvPr/>
          </p:nvSpPr>
          <p:spPr>
            <a:xfrm>
              <a:off x="9658350" y="428643"/>
              <a:ext cx="1819275" cy="394941"/>
            </a:xfrm>
            <a:prstGeom prst="rect">
              <a:avLst/>
            </a:prstGeom>
          </p:spPr>
          <p:txBody>
            <a:bodyPr vert="horz" wrap="square" lIns="91440" tIns="45720" rIns="91440" bIns="45720" rtlCol="0">
              <a:noAutofit/>
            </a:bodyPr>
            <a:lstStyle/>
            <a:p>
              <a:pPr marL="0" indent="0" algn="l">
                <a:lnSpc>
                  <a:spcPts val="1800"/>
                </a:lnSpc>
                <a:spcAft>
                  <a:spcPts val="600"/>
                </a:spcAft>
                <a:buNone/>
              </a:pPr>
              <a:r>
                <a:rPr lang="en-US" sz="2400" dirty="0">
                  <a:solidFill>
                    <a:srgbClr val="C00000"/>
                  </a:solidFill>
                  <a:latin typeface="Aharoni" panose="02010803020104030203" pitchFamily="2" charset="-79"/>
                  <a:cs typeface="Aharoni" panose="02010803020104030203" pitchFamily="2" charset="-79"/>
                </a:rPr>
                <a:t>Baysl</a:t>
              </a:r>
              <a:r>
                <a:rPr lang="en-US" sz="2400" dirty="0">
                  <a:solidFill>
                    <a:schemeClr val="bg1">
                      <a:lumMod val="75000"/>
                    </a:schemeClr>
                  </a:solidFill>
                  <a:latin typeface="Aharoni" panose="02010803020104030203" pitchFamily="2" charset="-79"/>
                  <a:cs typeface="Aharoni" panose="02010803020104030203" pitchFamily="2" charset="-79"/>
                </a:rPr>
                <a:t>o</a:t>
              </a:r>
              <a:r>
                <a:rPr lang="en-US" sz="2400" dirty="0">
                  <a:solidFill>
                    <a:srgbClr val="C00000"/>
                  </a:solidFill>
                  <a:latin typeface="Aharoni" panose="02010803020104030203" pitchFamily="2" charset="-79"/>
                  <a:cs typeface="Aharoni" panose="02010803020104030203" pitchFamily="2" charset="-79"/>
                </a:rPr>
                <a:t>pe</a:t>
              </a:r>
            </a:p>
          </p:txBody>
        </p:sp>
      </p:gr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Client Confidential</a:t>
            </a:r>
          </a:p>
        </p:txBody>
      </p:sp>
      <p:sp>
        <p:nvSpPr>
          <p:cNvPr id="5" name="Date Placeholder 4"/>
          <p:cNvSpPr>
            <a:spLocks noGrp="1"/>
          </p:cNvSpPr>
          <p:nvPr>
            <p:ph type="dt" sz="half" idx="10"/>
          </p:nvPr>
        </p:nvSpPr>
        <p:spPr/>
        <p:txBody>
          <a:bodyPr/>
          <a:lstStyle>
            <a:lvl1pPr>
              <a:defRPr>
                <a:solidFill>
                  <a:schemeClr val="bg1"/>
                </a:solidFill>
              </a:defRPr>
            </a:lvl1pPr>
          </a:lstStyle>
          <a:p>
            <a:fld id="{564085D5-C097-46FE-B831-3D8376FF26B8}" type="datetime1">
              <a:rPr lang="en-US" smtClean="0"/>
              <a:t>4/29/2026</a:t>
            </a:fld>
            <a:endParaRPr lang="en-US" dirty="0"/>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Client Confidential</a:t>
            </a:r>
          </a:p>
        </p:txBody>
      </p:sp>
      <p:sp>
        <p:nvSpPr>
          <p:cNvPr id="4" name="Date Placeholder 3"/>
          <p:cNvSpPr>
            <a:spLocks noGrp="1"/>
          </p:cNvSpPr>
          <p:nvPr>
            <p:ph type="dt" sz="half" idx="10"/>
          </p:nvPr>
        </p:nvSpPr>
        <p:spPr/>
        <p:txBody>
          <a:bodyPr/>
          <a:lstStyle/>
          <a:p>
            <a:fld id="{B4F166C8-CD04-4DD8-9455-5BA6DF5D887F}" type="datetime1">
              <a:rPr lang="en-US" smtClean="0"/>
              <a:t>4/29/2026</a:t>
            </a:fld>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Client Confidential</a:t>
            </a:r>
          </a:p>
        </p:txBody>
      </p:sp>
      <p:sp>
        <p:nvSpPr>
          <p:cNvPr id="4" name="Date Placeholder 3"/>
          <p:cNvSpPr>
            <a:spLocks noGrp="1"/>
          </p:cNvSpPr>
          <p:nvPr>
            <p:ph type="dt" sz="half" idx="10"/>
          </p:nvPr>
        </p:nvSpPr>
        <p:spPr/>
        <p:txBody>
          <a:bodyPr/>
          <a:lstStyle/>
          <a:p>
            <a:fld id="{8BDEF3EB-A19F-4CA4-82A9-644859114FAF}" type="datetime1">
              <a:rPr lang="en-US" smtClean="0"/>
              <a:t>4/29/2026</a:t>
            </a:fld>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C19049-3099-BBCA-7F83-977D3C0B1D28}"/>
              </a:ext>
            </a:extLst>
          </p:cNvPr>
          <p:cNvSpPr/>
          <p:nvPr userDrawn="1"/>
        </p:nvSpPr>
        <p:spPr>
          <a:xfrm>
            <a:off x="0" y="5"/>
            <a:ext cx="12188952" cy="68579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Client Confidential</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2D22FCD4-2AB6-4A0C-B5F7-57212BB3AF52}" type="datetime1">
              <a:rPr lang="en-US" smtClean="0"/>
              <a:t>4/29/2026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6.xml"/><Relationship Id="rId3" Type="http://schemas.openxmlformats.org/officeDocument/2006/relationships/slide" Target="slide13.xml"/><Relationship Id="rId7" Type="http://schemas.openxmlformats.org/officeDocument/2006/relationships/slide" Target="slide7.xml"/><Relationship Id="rId12" Type="http://schemas.openxmlformats.org/officeDocument/2006/relationships/slide" Target="slide5.xml"/><Relationship Id="rId2" Type="http://schemas.openxmlformats.org/officeDocument/2006/relationships/slide" Target="slide3.xml"/><Relationship Id="rId16" Type="http://schemas.openxmlformats.org/officeDocument/2006/relationships/slide" Target="slide10.xml"/><Relationship Id="rId1" Type="http://schemas.openxmlformats.org/officeDocument/2006/relationships/slideLayout" Target="../slideLayouts/slideLayout4.xml"/><Relationship Id="rId6" Type="http://schemas.openxmlformats.org/officeDocument/2006/relationships/slide" Target="slide17.xml"/><Relationship Id="rId11" Type="http://schemas.openxmlformats.org/officeDocument/2006/relationships/slide" Target="slide19.xml"/><Relationship Id="rId5" Type="http://schemas.openxmlformats.org/officeDocument/2006/relationships/slide" Target="slide11.xml"/><Relationship Id="rId15" Type="http://schemas.openxmlformats.org/officeDocument/2006/relationships/slide" Target="slide4.xml"/><Relationship Id="rId10" Type="http://schemas.openxmlformats.org/officeDocument/2006/relationships/slide" Target="slide31.xml"/><Relationship Id="rId4" Type="http://schemas.openxmlformats.org/officeDocument/2006/relationships/slide" Target="slide15.xml"/><Relationship Id="rId9" Type="http://schemas.openxmlformats.org/officeDocument/2006/relationships/slide" Target="slide14.xml"/><Relationship Id="rId14" Type="http://schemas.openxmlformats.org/officeDocument/2006/relationships/slide" Target="slide2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hyperlink" Target="https://www.linkedin.com/in/animeshagarwal/" TargetMode="External"/><Relationship Id="rId13" Type="http://schemas.openxmlformats.org/officeDocument/2006/relationships/hyperlink" Target="https://www.linkedin.com/company/bio-refine/?originalSubdomain=il" TargetMode="External"/><Relationship Id="rId18" Type="http://schemas.openxmlformats.org/officeDocument/2006/relationships/hyperlink" Target="https://www.linkedin.com/in/pierre-bour-275355a0/" TargetMode="External"/><Relationship Id="rId3" Type="http://schemas.openxmlformats.org/officeDocument/2006/relationships/hyperlink" Target="http://www.aerwavemed.com/" TargetMode="External"/><Relationship Id="rId7" Type="http://schemas.openxmlformats.org/officeDocument/2006/relationships/hyperlink" Target="https://www.linkedin.com/company/anumana-ai/" TargetMode="External"/><Relationship Id="rId12" Type="http://schemas.openxmlformats.org/officeDocument/2006/relationships/hyperlink" Target="https://www.incentive-il.com/biorefine" TargetMode="External"/><Relationship Id="rId17" Type="http://schemas.openxmlformats.org/officeDocument/2006/relationships/hyperlink" Target="https://www.linkedin.com/company/certis-therapeutics/about/" TargetMode="External"/><Relationship Id="rId2" Type="http://schemas.openxmlformats.org/officeDocument/2006/relationships/hyperlink" Target="https://www.zoominfo.com/c/aerwave-medical/562886075" TargetMode="External"/><Relationship Id="rId16" Type="http://schemas.openxmlformats.org/officeDocument/2006/relationships/hyperlink" Target="http://www.certis-therapeutics.com/" TargetMode="External"/><Relationship Id="rId1" Type="http://schemas.openxmlformats.org/officeDocument/2006/relationships/slideLayout" Target="../slideLayouts/slideLayout4.xml"/><Relationship Id="rId6" Type="http://schemas.openxmlformats.org/officeDocument/2006/relationships/hyperlink" Target="http://www.anumana.ai/" TargetMode="External"/><Relationship Id="rId11" Type="http://schemas.openxmlformats.org/officeDocument/2006/relationships/hyperlink" Target="https://www.linkedin.com/company/axon-therapies-inc./" TargetMode="External"/><Relationship Id="rId5" Type="http://schemas.openxmlformats.org/officeDocument/2006/relationships/hyperlink" Target="https://www.zoominfo.com/c/anumana-inc/556285577" TargetMode="External"/><Relationship Id="rId15" Type="http://schemas.openxmlformats.org/officeDocument/2006/relationships/hyperlink" Target="https://www.zoominfo.com/c/certis-therapeutics/535487112" TargetMode="External"/><Relationship Id="rId10" Type="http://schemas.openxmlformats.org/officeDocument/2006/relationships/hyperlink" Target="http://www.axontherapies.com/" TargetMode="External"/><Relationship Id="rId19" Type="http://schemas.openxmlformats.org/officeDocument/2006/relationships/slide" Target="slide2.xml"/><Relationship Id="rId4" Type="http://schemas.openxmlformats.org/officeDocument/2006/relationships/hyperlink" Target="https://www.linkedin.com/in/robertcpacheco/" TargetMode="External"/><Relationship Id="rId9" Type="http://schemas.openxmlformats.org/officeDocument/2006/relationships/hyperlink" Target="https://compworth.com/company/axon-therapies" TargetMode="External"/><Relationship Id="rId14" Type="http://schemas.openxmlformats.org/officeDocument/2006/relationships/hyperlink" Target="https://www.linkedin.com/in/boazshenhav/"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www.linkedin.com/in/dr-adrian-paz-md-b2ba9783/" TargetMode="External"/><Relationship Id="rId13" Type="http://schemas.openxmlformats.org/officeDocument/2006/relationships/hyperlink" Target="https://www.healiumedical.com/" TargetMode="External"/><Relationship Id="rId18" Type="http://schemas.openxmlformats.org/officeDocument/2006/relationships/hyperlink" Target="https://www.linkedin.com/company/lumavision/" TargetMode="External"/><Relationship Id="rId3" Type="http://schemas.openxmlformats.org/officeDocument/2006/relationships/hyperlink" Target="http://www.currentsurgical.com/" TargetMode="External"/><Relationship Id="rId21" Type="http://schemas.openxmlformats.org/officeDocument/2006/relationships/hyperlink" Target="https://www.zidanmedical.com/" TargetMode="External"/><Relationship Id="rId7" Type="http://schemas.openxmlformats.org/officeDocument/2006/relationships/hyperlink" Target="https://www.linkedin.com/company/focal-medical/about/" TargetMode="External"/><Relationship Id="rId12" Type="http://schemas.openxmlformats.org/officeDocument/2006/relationships/hyperlink" Target="https://www.linkedin.com/in/thomas-bancel/" TargetMode="External"/><Relationship Id="rId17" Type="http://schemas.openxmlformats.org/officeDocument/2006/relationships/hyperlink" Target="https://lumavision.com/" TargetMode="External"/><Relationship Id="rId2" Type="http://schemas.openxmlformats.org/officeDocument/2006/relationships/hyperlink" Target="https://www.zoominfo.com/c/current-surgical/564461711" TargetMode="External"/><Relationship Id="rId16" Type="http://schemas.openxmlformats.org/officeDocument/2006/relationships/hyperlink" Target="https://growjo.com/company/LUMA_Vision" TargetMode="External"/><Relationship Id="rId20" Type="http://schemas.openxmlformats.org/officeDocument/2006/relationships/hyperlink" Target="https://www.zoominfo.com/c/zidan-medical/1308263916" TargetMode="External"/><Relationship Id="rId1" Type="http://schemas.openxmlformats.org/officeDocument/2006/relationships/slideLayout" Target="../slideLayouts/slideLayout4.xml"/><Relationship Id="rId6" Type="http://schemas.openxmlformats.org/officeDocument/2006/relationships/hyperlink" Target="https://www.focalmd.com/" TargetMode="External"/><Relationship Id="rId11" Type="http://schemas.openxmlformats.org/officeDocument/2006/relationships/hyperlink" Target="https://www.linkedin.com/company/hepta-medical/" TargetMode="External"/><Relationship Id="rId24" Type="http://schemas.openxmlformats.org/officeDocument/2006/relationships/slide" Target="slide2.xml"/><Relationship Id="rId5" Type="http://schemas.openxmlformats.org/officeDocument/2006/relationships/hyperlink" Target="https://www.linkedin.com/in/christopher-r-wagner/" TargetMode="External"/><Relationship Id="rId15" Type="http://schemas.openxmlformats.org/officeDocument/2006/relationships/hyperlink" Target="https://www.linkedin.com/in/ransela/" TargetMode="External"/><Relationship Id="rId23" Type="http://schemas.openxmlformats.org/officeDocument/2006/relationships/hyperlink" Target="https://www.linkedin.com/in/rainas/" TargetMode="External"/><Relationship Id="rId10" Type="http://schemas.openxmlformats.org/officeDocument/2006/relationships/hyperlink" Target="https://www.heptamed.com/" TargetMode="External"/><Relationship Id="rId19" Type="http://schemas.openxmlformats.org/officeDocument/2006/relationships/hyperlink" Target="https://www.linkedin.com/in/chennersperger/" TargetMode="External"/><Relationship Id="rId4" Type="http://schemas.openxmlformats.org/officeDocument/2006/relationships/hyperlink" Target="https://www.linkedin.com/company/currentsurgical" TargetMode="External"/><Relationship Id="rId9" Type="http://schemas.openxmlformats.org/officeDocument/2006/relationships/hyperlink" Target="https://www.zoominfo.com/c/hepta-medical/1313521132" TargetMode="External"/><Relationship Id="rId14" Type="http://schemas.openxmlformats.org/officeDocument/2006/relationships/hyperlink" Target="https://www.linkedin.com/company/healium-medical" TargetMode="External"/><Relationship Id="rId22" Type="http://schemas.openxmlformats.org/officeDocument/2006/relationships/hyperlink" Target="https://www.linkedin.com/company/zidan-medical/"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senoguard.com/" TargetMode="External"/><Relationship Id="rId13" Type="http://schemas.openxmlformats.org/officeDocument/2006/relationships/hyperlink" Target="https://www.linkedin.com/company/sensome" TargetMode="External"/><Relationship Id="rId18" Type="http://schemas.openxmlformats.org/officeDocument/2006/relationships/hyperlink" Target="https://www.zoominfo.com/c/steer-medical-inc/475867866" TargetMode="External"/><Relationship Id="rId3" Type="http://schemas.openxmlformats.org/officeDocument/2006/relationships/hyperlink" Target="https://www.linkedin.com/in/eytan-frey/" TargetMode="External"/><Relationship Id="rId21" Type="http://schemas.openxmlformats.org/officeDocument/2006/relationships/hyperlink" Target="https://www.linkedin.com/in/michael-j-froncioni-b876543/" TargetMode="External"/><Relationship Id="rId7" Type="http://schemas.openxmlformats.org/officeDocument/2006/relationships/hyperlink" Target="https://www.linkedin.com/in/paul-k-876244b3/" TargetMode="External"/><Relationship Id="rId12" Type="http://schemas.openxmlformats.org/officeDocument/2006/relationships/hyperlink" Target="http://www.sensome.com/" TargetMode="External"/><Relationship Id="rId17" Type="http://schemas.openxmlformats.org/officeDocument/2006/relationships/hyperlink" Target="https://www.linkedin.com/in/ben-omri-baa9878a/" TargetMode="External"/><Relationship Id="rId2" Type="http://schemas.openxmlformats.org/officeDocument/2006/relationships/hyperlink" Target="https://www.linkedin.com/company/maxovary/" TargetMode="External"/><Relationship Id="rId16" Type="http://schemas.openxmlformats.org/officeDocument/2006/relationships/hyperlink" Target="https://www.linkedin.com/company/snipe-medical/" TargetMode="External"/><Relationship Id="rId20" Type="http://schemas.openxmlformats.org/officeDocument/2006/relationships/hyperlink" Target="https://www.linkedin.com/company/steer-medical-inc/people/" TargetMode="External"/><Relationship Id="rId1" Type="http://schemas.openxmlformats.org/officeDocument/2006/relationships/slideLayout" Target="../slideLayouts/slideLayout4.xml"/><Relationship Id="rId6" Type="http://schemas.openxmlformats.org/officeDocument/2006/relationships/hyperlink" Target="https://www.linkedin.com/company/orchard-ultrasound-innovation/" TargetMode="External"/><Relationship Id="rId11" Type="http://schemas.openxmlformats.org/officeDocument/2006/relationships/hyperlink" Target="https://growjo.com/company/Sensome" TargetMode="External"/><Relationship Id="rId5" Type="http://schemas.openxmlformats.org/officeDocument/2006/relationships/hyperlink" Target="http://www.orchardultrasound.com/" TargetMode="External"/><Relationship Id="rId15" Type="http://schemas.openxmlformats.org/officeDocument/2006/relationships/hyperlink" Target="https://snipemedical.com/" TargetMode="External"/><Relationship Id="rId10" Type="http://schemas.openxmlformats.org/officeDocument/2006/relationships/hyperlink" Target="https://www.linkedin.com/in/dianaltucker" TargetMode="External"/><Relationship Id="rId19" Type="http://schemas.openxmlformats.org/officeDocument/2006/relationships/hyperlink" Target="http://www.steermedical.com/" TargetMode="External"/><Relationship Id="rId4" Type="http://schemas.openxmlformats.org/officeDocument/2006/relationships/hyperlink" Target="https://www.zoominfo.com/c/orchard-ultrasound-innovation/1306893368" TargetMode="External"/><Relationship Id="rId9" Type="http://schemas.openxmlformats.org/officeDocument/2006/relationships/hyperlink" Target="https://www.linkedin.com/company/senoguard/" TargetMode="External"/><Relationship Id="rId14" Type="http://schemas.openxmlformats.org/officeDocument/2006/relationships/hyperlink" Target="https://www.linkedin.com/in/brianrburg/" TargetMode="External"/><Relationship Id="rId22" Type="http://schemas.openxmlformats.org/officeDocument/2006/relationships/slide" Target="slide2.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4.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slide" Target="slide2.xml"/></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slide" Target="slide2.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slide" Target="slide2.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slide" Target="slide2.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slide" Target="slide2.xml"/></Relationships>
</file>

<file path=ppt/slides/_rels/slide3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DEDD8-171B-759A-07E3-3461C0AB35C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6472AC-F3B6-63C1-6AB2-38CE28852BFF}"/>
              </a:ext>
            </a:extLst>
          </p:cNvPr>
          <p:cNvPicPr>
            <a:picLocks noChangeAspect="1"/>
          </p:cNvPicPr>
          <p:nvPr/>
        </p:nvPicPr>
        <p:blipFill>
          <a:blip r:embed="rId2"/>
          <a:stretch>
            <a:fillRect/>
          </a:stretch>
        </p:blipFill>
        <p:spPr>
          <a:xfrm flipH="1">
            <a:off x="0" y="-3646"/>
            <a:ext cx="12192000" cy="6861646"/>
          </a:xfrm>
          <a:prstGeom prst="rect">
            <a:avLst/>
          </a:prstGeom>
        </p:spPr>
      </p:pic>
      <p:sp>
        <p:nvSpPr>
          <p:cNvPr id="8" name="Rectangle 7">
            <a:extLst>
              <a:ext uri="{FF2B5EF4-FFF2-40B4-BE49-F238E27FC236}">
                <a16:creationId xmlns:a16="http://schemas.microsoft.com/office/drawing/2014/main" id="{1C0A361E-4C93-4C04-7432-DC70620F0E2A}"/>
              </a:ext>
            </a:extLst>
          </p:cNvPr>
          <p:cNvSpPr/>
          <p:nvPr/>
        </p:nvSpPr>
        <p:spPr>
          <a:xfrm>
            <a:off x="-2" y="1178560"/>
            <a:ext cx="5245102" cy="4368800"/>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BD7D44FC-7583-CDFC-9C6A-A4D861131226}"/>
              </a:ext>
            </a:extLst>
          </p:cNvPr>
          <p:cNvSpPr txBox="1"/>
          <p:nvPr/>
        </p:nvSpPr>
        <p:spPr>
          <a:xfrm>
            <a:off x="346540" y="4904478"/>
            <a:ext cx="17186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95555"/>
                </a:solidFill>
                <a:effectLst/>
                <a:uLnTx/>
                <a:uFillTx/>
                <a:latin typeface="Tenorite" panose="00000500000000000000" pitchFamily="2" charset="0"/>
              </a:rPr>
              <a:t>April 2026</a:t>
            </a:r>
            <a:endParaRPr kumimoji="0" lang="en-IN" sz="1800" b="1" i="0" u="none" strike="noStrike" kern="1200" cap="none" spc="0" normalizeH="0" baseline="0" noProof="0" dirty="0">
              <a:ln>
                <a:noFill/>
              </a:ln>
              <a:solidFill>
                <a:srgbClr val="595555"/>
              </a:solidFill>
              <a:effectLst/>
              <a:uLnTx/>
              <a:uFillTx/>
              <a:latin typeface="Tenorite" panose="00000500000000000000" pitchFamily="2" charset="0"/>
            </a:endParaRPr>
          </a:p>
        </p:txBody>
      </p:sp>
      <p:sp>
        <p:nvSpPr>
          <p:cNvPr id="15" name="TextBox 14">
            <a:extLst>
              <a:ext uri="{FF2B5EF4-FFF2-40B4-BE49-F238E27FC236}">
                <a16:creationId xmlns:a16="http://schemas.microsoft.com/office/drawing/2014/main" id="{827CDBFF-01B9-CA11-3C97-9D123F123501}"/>
              </a:ext>
            </a:extLst>
          </p:cNvPr>
          <p:cNvSpPr txBox="1"/>
          <p:nvPr/>
        </p:nvSpPr>
        <p:spPr>
          <a:xfrm>
            <a:off x="346540" y="1584190"/>
            <a:ext cx="3946612" cy="21236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D42357"/>
                </a:solidFill>
                <a:effectLst/>
                <a:uLnTx/>
                <a:uFillTx/>
                <a:latin typeface="Tenorite" panose="00000500000000000000" pitchFamily="2" charset="0"/>
                <a:ea typeface="+mn-ea"/>
                <a:cs typeface="+mn-cs"/>
              </a:rPr>
              <a:t>IP BUSINESS INTELLIGENCE REPORT</a:t>
            </a:r>
            <a:endParaRPr kumimoji="0" lang="en-IN" sz="4400" b="1" i="0" u="none" strike="noStrike" kern="1200" cap="none" spc="0" normalizeH="0" baseline="0" noProof="0" dirty="0">
              <a:ln>
                <a:noFill/>
              </a:ln>
              <a:solidFill>
                <a:srgbClr val="D42357"/>
              </a:solidFill>
              <a:effectLst/>
              <a:uLnTx/>
              <a:uFillTx/>
              <a:latin typeface="Tenorite" panose="00000500000000000000" pitchFamily="2" charset="0"/>
              <a:ea typeface="+mn-ea"/>
              <a:cs typeface="+mn-cs"/>
            </a:endParaRPr>
          </a:p>
        </p:txBody>
      </p:sp>
    </p:spTree>
    <p:extLst>
      <p:ext uri="{BB962C8B-B14F-4D97-AF65-F5344CB8AC3E}">
        <p14:creationId xmlns:p14="http://schemas.microsoft.com/office/powerpoint/2010/main" val="3867545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EB25C-38BD-87A2-51D1-79D0095A334C}"/>
            </a:ext>
          </a:extLst>
        </p:cNvPr>
        <p:cNvGrpSpPr/>
        <p:nvPr/>
      </p:nvGrpSpPr>
      <p:grpSpPr>
        <a:xfrm>
          <a:off x="0" y="0"/>
          <a:ext cx="0" cy="0"/>
          <a:chOff x="0" y="0"/>
          <a:chExt cx="0" cy="0"/>
        </a:xfrm>
      </p:grpSpPr>
      <p:sp>
        <p:nvSpPr>
          <p:cNvPr id="8" name="TextBox 7">
            <a:hlinkClick r:id="rId2" action="ppaction://hlinksldjump" tooltip="Click to view"/>
            <a:extLst>
              <a:ext uri="{FF2B5EF4-FFF2-40B4-BE49-F238E27FC236}">
                <a16:creationId xmlns:a16="http://schemas.microsoft.com/office/drawing/2014/main" id="{88ED01D0-A2E6-7CA0-A92D-9F2F51879E74}"/>
              </a:ext>
            </a:extLst>
          </p:cNvPr>
          <p:cNvSpPr txBox="1"/>
          <p:nvPr/>
        </p:nvSpPr>
        <p:spPr>
          <a:xfrm>
            <a:off x="604782" y="894743"/>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SUMMARY</a:t>
            </a:r>
          </a:p>
        </p:txBody>
      </p:sp>
      <p:sp>
        <p:nvSpPr>
          <p:cNvPr id="16" name="TextBox 15">
            <a:hlinkClick r:id="rId3" action="ppaction://hlinksldjump"/>
            <a:extLst>
              <a:ext uri="{FF2B5EF4-FFF2-40B4-BE49-F238E27FC236}">
                <a16:creationId xmlns:a16="http://schemas.microsoft.com/office/drawing/2014/main" id="{CB204EC1-C11E-FD5B-0020-C2031EDBE30A}"/>
              </a:ext>
            </a:extLst>
          </p:cNvPr>
          <p:cNvSpPr txBox="1"/>
          <p:nvPr/>
        </p:nvSpPr>
        <p:spPr>
          <a:xfrm>
            <a:off x="604782" y="4193326"/>
            <a:ext cx="7056000" cy="432000"/>
          </a:xfrm>
          <a:prstGeom prst="rect">
            <a:avLst/>
          </a:prstGeom>
          <a:ln>
            <a:noFill/>
          </a:ln>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INNOVATION TREND | Assignee-wise</a:t>
            </a:r>
          </a:p>
        </p:txBody>
      </p:sp>
      <p:sp>
        <p:nvSpPr>
          <p:cNvPr id="21" name="Title 1">
            <a:extLst>
              <a:ext uri="{FF2B5EF4-FFF2-40B4-BE49-F238E27FC236}">
                <a16:creationId xmlns:a16="http://schemas.microsoft.com/office/drawing/2014/main" id="{1AE50A79-04BD-6F39-D3E2-EEC67E6DF6BE}"/>
              </a:ext>
            </a:extLst>
          </p:cNvPr>
          <p:cNvSpPr txBox="1">
            <a:spLocks/>
          </p:cNvSpPr>
          <p:nvPr/>
        </p:nvSpPr>
        <p:spPr>
          <a:xfrm>
            <a:off x="522517" y="-3257"/>
            <a:ext cx="9286875" cy="686772"/>
          </a:xfrm>
          <a:prstGeom prst="rect">
            <a:avLst/>
          </a:prstGeom>
        </p:spPr>
        <p:txBody>
          <a:bodyPr vert="horz" lIns="91440" tIns="45720" rIns="91440" bIns="45720" rtlCol="0" anchor="b">
            <a:noAutofit/>
          </a:bodyPr>
          <a:lstStyle>
            <a:defPPr>
              <a:defRPr lang="en-US"/>
            </a:defPPr>
            <a:lvl1pPr>
              <a:lnSpc>
                <a:spcPct val="90000"/>
              </a:lnSpc>
              <a:spcBef>
                <a:spcPct val="0"/>
              </a:spcBef>
              <a:buNone/>
              <a:defRPr sz="3600" b="1">
                <a:solidFill>
                  <a:srgbClr val="D42357"/>
                </a:solidFill>
                <a:latin typeface="Tenorite" panose="00000500000000000000" pitchFamily="2" charset="0"/>
                <a:ea typeface="Calibri" panose="020F0502020204030204" pitchFamily="34" charset="0"/>
                <a:cs typeface="Calibri" panose="020F0502020204030204" pitchFamily="34" charset="0"/>
              </a:defRPr>
            </a:lvl1pPr>
          </a:lstStyle>
          <a:p>
            <a:r>
              <a:rPr lang="en-US" dirty="0"/>
              <a:t>TABLE OF CONTENT</a:t>
            </a:r>
          </a:p>
        </p:txBody>
      </p:sp>
      <p:sp>
        <p:nvSpPr>
          <p:cNvPr id="22" name="TextBox 21">
            <a:hlinkClick r:id="rId4" action="ppaction://hlinksldjump"/>
            <a:extLst>
              <a:ext uri="{FF2B5EF4-FFF2-40B4-BE49-F238E27FC236}">
                <a16:creationId xmlns:a16="http://schemas.microsoft.com/office/drawing/2014/main" id="{AB34EB3E-7A54-BA7F-8F8D-8B38C0787FC1}"/>
              </a:ext>
            </a:extLst>
          </p:cNvPr>
          <p:cNvSpPr txBox="1"/>
          <p:nvPr/>
        </p:nvSpPr>
        <p:spPr>
          <a:xfrm>
            <a:off x="604782" y="4668131"/>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INNOVATION TREND | Global</a:t>
            </a:r>
          </a:p>
        </p:txBody>
      </p:sp>
      <p:sp>
        <p:nvSpPr>
          <p:cNvPr id="23" name="TextBox 22">
            <a:hlinkClick r:id="rId5" action="ppaction://hlinksldjump" tooltip="Click to view"/>
            <a:extLst>
              <a:ext uri="{FF2B5EF4-FFF2-40B4-BE49-F238E27FC236}">
                <a16:creationId xmlns:a16="http://schemas.microsoft.com/office/drawing/2014/main" id="{D4911A15-F8D7-5EED-2E50-45694BC5052C}"/>
              </a:ext>
            </a:extLst>
          </p:cNvPr>
          <p:cNvSpPr txBox="1"/>
          <p:nvPr/>
        </p:nvSpPr>
        <p:spPr>
          <a:xfrm>
            <a:off x="6884013" y="793143"/>
            <a:ext cx="432000" cy="432000"/>
          </a:xfrm>
          <a:prstGeom prst="rect">
            <a:avLst/>
          </a:prstGeom>
        </p:spPr>
        <p:txBody>
          <a:bodyPr wrap="square" lIns="0" tIns="0" rIns="0" bIns="0" rtlCol="0" anchor="t">
            <a:spAutoFit/>
          </a:bodyPr>
          <a:lstStyle>
            <a:defPPr>
              <a:defRPr lang="en-US"/>
            </a:defPPr>
            <a:lvl1pPr>
              <a:lnSpc>
                <a:spcPts val="3920"/>
              </a:lnSpc>
              <a:defRPr sz="1400">
                <a:solidFill>
                  <a:srgbClr val="65B4E5"/>
                </a:solidFill>
                <a:latin typeface="Tenorite" panose="00000500000000000000" pitchFamily="2" charset="0"/>
                <a:ea typeface="Calibri" panose="020F0502020204030204" pitchFamily="34" charset="0"/>
                <a:cs typeface="Calibri" panose="020F0502020204030204" pitchFamily="34" charset="0"/>
              </a:defRPr>
            </a:lvl1pPr>
          </a:lstStyle>
          <a:p>
            <a:r>
              <a:rPr lang="en-US" dirty="0"/>
              <a:t>3</a:t>
            </a:r>
          </a:p>
        </p:txBody>
      </p:sp>
      <p:sp>
        <p:nvSpPr>
          <p:cNvPr id="28" name="TextBox 27">
            <a:hlinkClick r:id="" action="ppaction://noaction"/>
            <a:extLst>
              <a:ext uri="{FF2B5EF4-FFF2-40B4-BE49-F238E27FC236}">
                <a16:creationId xmlns:a16="http://schemas.microsoft.com/office/drawing/2014/main" id="{D7237091-A3F9-3F84-3B98-2FA0D57D92CD}"/>
              </a:ext>
            </a:extLst>
          </p:cNvPr>
          <p:cNvSpPr txBox="1"/>
          <p:nvPr/>
        </p:nvSpPr>
        <p:spPr>
          <a:xfrm>
            <a:off x="6884013" y="4564119"/>
            <a:ext cx="630574"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15</a:t>
            </a:r>
          </a:p>
        </p:txBody>
      </p:sp>
      <p:sp>
        <p:nvSpPr>
          <p:cNvPr id="31" name="TextBox 30">
            <a:hlinkClick r:id="" action="ppaction://noaction"/>
            <a:extLst>
              <a:ext uri="{FF2B5EF4-FFF2-40B4-BE49-F238E27FC236}">
                <a16:creationId xmlns:a16="http://schemas.microsoft.com/office/drawing/2014/main" id="{05DC238C-0991-A991-FB86-38C2237E6AB8}"/>
              </a:ext>
            </a:extLst>
          </p:cNvPr>
          <p:cNvSpPr txBox="1"/>
          <p:nvPr/>
        </p:nvSpPr>
        <p:spPr>
          <a:xfrm>
            <a:off x="6884013" y="5544963"/>
            <a:ext cx="630574"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17-21</a:t>
            </a:r>
          </a:p>
        </p:txBody>
      </p:sp>
      <p:sp>
        <p:nvSpPr>
          <p:cNvPr id="5" name="TextBox 4">
            <a:hlinkClick r:id="rId6" action="ppaction://hlinksldjump"/>
            <a:extLst>
              <a:ext uri="{FF2B5EF4-FFF2-40B4-BE49-F238E27FC236}">
                <a16:creationId xmlns:a16="http://schemas.microsoft.com/office/drawing/2014/main" id="{02648ED8-60B6-63EC-7D89-229222969E80}"/>
              </a:ext>
            </a:extLst>
          </p:cNvPr>
          <p:cNvSpPr txBox="1"/>
          <p:nvPr/>
        </p:nvSpPr>
        <p:spPr>
          <a:xfrm>
            <a:off x="604782" y="5617741"/>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TECHNOLOGY TRENDS</a:t>
            </a:r>
          </a:p>
        </p:txBody>
      </p:sp>
      <p:sp>
        <p:nvSpPr>
          <p:cNvPr id="6" name="TextBox 5">
            <a:hlinkClick r:id="rId7" action="ppaction://hlinksldjump" tooltip="Click to view"/>
            <a:extLst>
              <a:ext uri="{FF2B5EF4-FFF2-40B4-BE49-F238E27FC236}">
                <a16:creationId xmlns:a16="http://schemas.microsoft.com/office/drawing/2014/main" id="{4349B0CF-7CF0-DCFC-D20A-471D2C0CBB00}"/>
              </a:ext>
            </a:extLst>
          </p:cNvPr>
          <p:cNvSpPr txBox="1"/>
          <p:nvPr/>
        </p:nvSpPr>
        <p:spPr>
          <a:xfrm>
            <a:off x="604782" y="2781437"/>
            <a:ext cx="7056000" cy="419474"/>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NOTABLE PLAYERS | Start-ups</a:t>
            </a:r>
          </a:p>
        </p:txBody>
      </p:sp>
      <p:sp>
        <p:nvSpPr>
          <p:cNvPr id="7" name="TextBox 6">
            <a:hlinkClick r:id="rId8" action="ppaction://hlinksldjump" tooltip="Click to view"/>
            <a:extLst>
              <a:ext uri="{FF2B5EF4-FFF2-40B4-BE49-F238E27FC236}">
                <a16:creationId xmlns:a16="http://schemas.microsoft.com/office/drawing/2014/main" id="{4973ACC4-6B7D-D402-14BE-75E16A115430}"/>
              </a:ext>
            </a:extLst>
          </p:cNvPr>
          <p:cNvSpPr txBox="1"/>
          <p:nvPr/>
        </p:nvSpPr>
        <p:spPr>
          <a:xfrm>
            <a:off x="604782" y="2319158"/>
            <a:ext cx="7056000" cy="419474"/>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NOTABLE PLAYERS | Large &amp; Medium-Sized Players</a:t>
            </a:r>
          </a:p>
        </p:txBody>
      </p:sp>
      <p:sp>
        <p:nvSpPr>
          <p:cNvPr id="12" name="TextBox 11">
            <a:hlinkClick r:id="rId5" action="ppaction://hlinksldjump" tooltip="Click to view"/>
            <a:extLst>
              <a:ext uri="{FF2B5EF4-FFF2-40B4-BE49-F238E27FC236}">
                <a16:creationId xmlns:a16="http://schemas.microsoft.com/office/drawing/2014/main" id="{181801DD-6651-927B-3D55-A57B745E4275}"/>
              </a:ext>
            </a:extLst>
          </p:cNvPr>
          <p:cNvSpPr txBox="1"/>
          <p:nvPr/>
        </p:nvSpPr>
        <p:spPr>
          <a:xfrm>
            <a:off x="604782" y="3718521"/>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INNOVATION TREND | Year-wise</a:t>
            </a:r>
          </a:p>
        </p:txBody>
      </p:sp>
      <p:sp>
        <p:nvSpPr>
          <p:cNvPr id="13" name="TextBox 12">
            <a:hlinkClick r:id="rId9" action="ppaction://hlinksldjump" tooltip="Click to view"/>
            <a:extLst>
              <a:ext uri="{FF2B5EF4-FFF2-40B4-BE49-F238E27FC236}">
                <a16:creationId xmlns:a16="http://schemas.microsoft.com/office/drawing/2014/main" id="{DE8D23B5-D382-AED6-6973-E9E888909C2F}"/>
              </a:ext>
            </a:extLst>
          </p:cNvPr>
          <p:cNvSpPr txBox="1"/>
          <p:nvPr/>
        </p:nvSpPr>
        <p:spPr>
          <a:xfrm>
            <a:off x="6884013" y="2704031"/>
            <a:ext cx="432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7-9</a:t>
            </a:r>
          </a:p>
        </p:txBody>
      </p:sp>
      <p:sp>
        <p:nvSpPr>
          <p:cNvPr id="14" name="TextBox 13">
            <a:hlinkClick r:id="rId10" action="ppaction://hlinksldjump" tooltip="Click to view"/>
            <a:extLst>
              <a:ext uri="{FF2B5EF4-FFF2-40B4-BE49-F238E27FC236}">
                <a16:creationId xmlns:a16="http://schemas.microsoft.com/office/drawing/2014/main" id="{9F0234B4-2CE9-BDA7-1AA5-5DE072D69AFF}"/>
              </a:ext>
            </a:extLst>
          </p:cNvPr>
          <p:cNvSpPr txBox="1"/>
          <p:nvPr/>
        </p:nvSpPr>
        <p:spPr>
          <a:xfrm>
            <a:off x="6884013" y="3608675"/>
            <a:ext cx="498961"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11-12</a:t>
            </a:r>
          </a:p>
        </p:txBody>
      </p:sp>
      <p:sp>
        <p:nvSpPr>
          <p:cNvPr id="19" name="TextBox 18">
            <a:hlinkClick r:id="rId11" action="ppaction://hlinksldjump" tooltip="Click to view"/>
            <a:extLst>
              <a:ext uri="{FF2B5EF4-FFF2-40B4-BE49-F238E27FC236}">
                <a16:creationId xmlns:a16="http://schemas.microsoft.com/office/drawing/2014/main" id="{A78218FA-75EE-4111-8DAB-5AEB976E36E6}"/>
              </a:ext>
            </a:extLst>
          </p:cNvPr>
          <p:cNvSpPr txBox="1"/>
          <p:nvPr/>
        </p:nvSpPr>
        <p:spPr>
          <a:xfrm>
            <a:off x="6884013" y="3130953"/>
            <a:ext cx="630574"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10</a:t>
            </a:r>
          </a:p>
        </p:txBody>
      </p:sp>
      <p:sp>
        <p:nvSpPr>
          <p:cNvPr id="32" name="TextBox 31">
            <a:hlinkClick r:id="" action="ppaction://noaction"/>
            <a:extLst>
              <a:ext uri="{FF2B5EF4-FFF2-40B4-BE49-F238E27FC236}">
                <a16:creationId xmlns:a16="http://schemas.microsoft.com/office/drawing/2014/main" id="{6B750E1F-70F8-D6A0-4C2E-8BD19BEF685C}"/>
              </a:ext>
            </a:extLst>
          </p:cNvPr>
          <p:cNvSpPr txBox="1"/>
          <p:nvPr/>
        </p:nvSpPr>
        <p:spPr>
          <a:xfrm>
            <a:off x="6884013" y="4099097"/>
            <a:ext cx="556882"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13-14</a:t>
            </a:r>
          </a:p>
        </p:txBody>
      </p:sp>
      <p:sp>
        <p:nvSpPr>
          <p:cNvPr id="33" name="TextBox 32">
            <a:hlinkClick r:id="rId12" action="ppaction://hlinksldjump" tooltip="Click to view"/>
            <a:extLst>
              <a:ext uri="{FF2B5EF4-FFF2-40B4-BE49-F238E27FC236}">
                <a16:creationId xmlns:a16="http://schemas.microsoft.com/office/drawing/2014/main" id="{4CD913C3-1843-1140-7B5C-19F9CF22DE5E}"/>
              </a:ext>
            </a:extLst>
          </p:cNvPr>
          <p:cNvSpPr txBox="1"/>
          <p:nvPr/>
        </p:nvSpPr>
        <p:spPr>
          <a:xfrm>
            <a:off x="604782" y="1844353"/>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NOTABLE PLAYERS | Small-Sized Players</a:t>
            </a:r>
          </a:p>
        </p:txBody>
      </p:sp>
      <p:sp>
        <p:nvSpPr>
          <p:cNvPr id="34" name="TextBox 33">
            <a:hlinkClick r:id="rId2" action="ppaction://hlinksldjump" tooltip="Click to view"/>
            <a:extLst>
              <a:ext uri="{FF2B5EF4-FFF2-40B4-BE49-F238E27FC236}">
                <a16:creationId xmlns:a16="http://schemas.microsoft.com/office/drawing/2014/main" id="{90E00FD0-49D7-8A96-5814-B30515BC0C28}"/>
              </a:ext>
            </a:extLst>
          </p:cNvPr>
          <p:cNvSpPr txBox="1"/>
          <p:nvPr/>
        </p:nvSpPr>
        <p:spPr>
          <a:xfrm>
            <a:off x="6884013" y="1748587"/>
            <a:ext cx="432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5</a:t>
            </a:r>
          </a:p>
        </p:txBody>
      </p:sp>
      <p:sp>
        <p:nvSpPr>
          <p:cNvPr id="4" name="TextBox 3">
            <a:extLst>
              <a:ext uri="{FF2B5EF4-FFF2-40B4-BE49-F238E27FC236}">
                <a16:creationId xmlns:a16="http://schemas.microsoft.com/office/drawing/2014/main" id="{4993159A-29D4-E100-6F9A-E262262D9CB2}"/>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25" name="TextBox 24">
            <a:hlinkClick r:id="" action="ppaction://noaction"/>
            <a:extLst>
              <a:ext uri="{FF2B5EF4-FFF2-40B4-BE49-F238E27FC236}">
                <a16:creationId xmlns:a16="http://schemas.microsoft.com/office/drawing/2014/main" id="{BFADBC63-9FDA-24E7-D24B-D9B697607C6C}"/>
              </a:ext>
            </a:extLst>
          </p:cNvPr>
          <p:cNvSpPr txBox="1"/>
          <p:nvPr/>
        </p:nvSpPr>
        <p:spPr>
          <a:xfrm>
            <a:off x="6820513" y="6035389"/>
            <a:ext cx="720000" cy="511807"/>
          </a:xfrm>
          <a:prstGeom prst="rect">
            <a:avLst/>
          </a:prstGeom>
          <a:noFill/>
        </p:spPr>
        <p:txBody>
          <a:bodyPr wrap="square" anchor="ctr">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22</a:t>
            </a:r>
          </a:p>
        </p:txBody>
      </p:sp>
      <p:sp>
        <p:nvSpPr>
          <p:cNvPr id="2" name="TextBox 1">
            <a:hlinkClick r:id="rId13" action="ppaction://hlinksldjump"/>
            <a:extLst>
              <a:ext uri="{FF2B5EF4-FFF2-40B4-BE49-F238E27FC236}">
                <a16:creationId xmlns:a16="http://schemas.microsoft.com/office/drawing/2014/main" id="{60C8026D-0629-F10E-B7A2-5226210C427C}"/>
              </a:ext>
            </a:extLst>
          </p:cNvPr>
          <p:cNvSpPr txBox="1"/>
          <p:nvPr/>
        </p:nvSpPr>
        <p:spPr>
          <a:xfrm>
            <a:off x="604782" y="5142936"/>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TECHNOLOGY TAXONOMY</a:t>
            </a:r>
          </a:p>
        </p:txBody>
      </p:sp>
      <p:sp>
        <p:nvSpPr>
          <p:cNvPr id="3" name="TextBox 2">
            <a:hlinkClick r:id="" action="ppaction://noaction"/>
            <a:extLst>
              <a:ext uri="{FF2B5EF4-FFF2-40B4-BE49-F238E27FC236}">
                <a16:creationId xmlns:a16="http://schemas.microsoft.com/office/drawing/2014/main" id="{A2285BDD-32A5-B91E-C17A-8C90226989A9}"/>
              </a:ext>
            </a:extLst>
          </p:cNvPr>
          <p:cNvSpPr txBox="1"/>
          <p:nvPr/>
        </p:nvSpPr>
        <p:spPr>
          <a:xfrm>
            <a:off x="6884013" y="5041841"/>
            <a:ext cx="630574"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16</a:t>
            </a:r>
          </a:p>
        </p:txBody>
      </p:sp>
      <p:sp>
        <p:nvSpPr>
          <p:cNvPr id="11" name="TextBox 10">
            <a:hlinkClick r:id="rId14" action="ppaction://hlinksldjump"/>
            <a:extLst>
              <a:ext uri="{FF2B5EF4-FFF2-40B4-BE49-F238E27FC236}">
                <a16:creationId xmlns:a16="http://schemas.microsoft.com/office/drawing/2014/main" id="{6CB8066E-CB85-9964-D8F8-01CE3A781BAF}"/>
              </a:ext>
            </a:extLst>
          </p:cNvPr>
          <p:cNvSpPr txBox="1"/>
          <p:nvPr/>
        </p:nvSpPr>
        <p:spPr>
          <a:xfrm>
            <a:off x="604782" y="6092543"/>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ASSUMPTIONS</a:t>
            </a:r>
          </a:p>
        </p:txBody>
      </p:sp>
      <p:sp>
        <p:nvSpPr>
          <p:cNvPr id="17" name="TextBox 16">
            <a:hlinkClick r:id="rId15" action="ppaction://hlinksldjump" tooltip="Click to view"/>
            <a:extLst>
              <a:ext uri="{FF2B5EF4-FFF2-40B4-BE49-F238E27FC236}">
                <a16:creationId xmlns:a16="http://schemas.microsoft.com/office/drawing/2014/main" id="{DD75ECCB-5573-E496-32F9-9A9F815589FE}"/>
              </a:ext>
            </a:extLst>
          </p:cNvPr>
          <p:cNvSpPr txBox="1"/>
          <p:nvPr/>
        </p:nvSpPr>
        <p:spPr>
          <a:xfrm>
            <a:off x="604782" y="1369548"/>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ASSIGNEE INSIGHTS</a:t>
            </a:r>
          </a:p>
        </p:txBody>
      </p:sp>
      <p:sp>
        <p:nvSpPr>
          <p:cNvPr id="18" name="TextBox 17">
            <a:hlinkClick r:id="rId2" action="ppaction://hlinksldjump" tooltip="Click to view"/>
            <a:extLst>
              <a:ext uri="{FF2B5EF4-FFF2-40B4-BE49-F238E27FC236}">
                <a16:creationId xmlns:a16="http://schemas.microsoft.com/office/drawing/2014/main" id="{8AEF6E27-7D80-1A2B-2CB4-E1862D8D6AA1}"/>
              </a:ext>
            </a:extLst>
          </p:cNvPr>
          <p:cNvSpPr txBox="1"/>
          <p:nvPr/>
        </p:nvSpPr>
        <p:spPr>
          <a:xfrm>
            <a:off x="6884013" y="1270865"/>
            <a:ext cx="432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4</a:t>
            </a:r>
          </a:p>
        </p:txBody>
      </p:sp>
      <p:sp>
        <p:nvSpPr>
          <p:cNvPr id="24" name="TextBox 23">
            <a:hlinkClick r:id="rId16" action="ppaction://hlinksldjump" tooltip="Click to view"/>
            <a:extLst>
              <a:ext uri="{FF2B5EF4-FFF2-40B4-BE49-F238E27FC236}">
                <a16:creationId xmlns:a16="http://schemas.microsoft.com/office/drawing/2014/main" id="{A1E40093-B8A1-48B0-DF22-AE81B072D95E}"/>
              </a:ext>
            </a:extLst>
          </p:cNvPr>
          <p:cNvSpPr txBox="1"/>
          <p:nvPr/>
        </p:nvSpPr>
        <p:spPr>
          <a:xfrm>
            <a:off x="604782" y="3243716"/>
            <a:ext cx="7056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 INNOVATION &amp; TECHNOLOGY TREND</a:t>
            </a:r>
          </a:p>
        </p:txBody>
      </p:sp>
      <p:sp>
        <p:nvSpPr>
          <p:cNvPr id="26" name="TextBox 25">
            <a:hlinkClick r:id="rId9" action="ppaction://hlinksldjump" tooltip="Click to view"/>
            <a:extLst>
              <a:ext uri="{FF2B5EF4-FFF2-40B4-BE49-F238E27FC236}">
                <a16:creationId xmlns:a16="http://schemas.microsoft.com/office/drawing/2014/main" id="{739B371F-1C6C-E1CC-FACD-CDEE7E0B4A16}"/>
              </a:ext>
            </a:extLst>
          </p:cNvPr>
          <p:cNvSpPr txBox="1"/>
          <p:nvPr/>
        </p:nvSpPr>
        <p:spPr>
          <a:xfrm>
            <a:off x="6884013" y="2226309"/>
            <a:ext cx="432000" cy="432000"/>
          </a:xfrm>
          <a:prstGeom prst="rect">
            <a:avLst/>
          </a:prstGeom>
        </p:spPr>
        <p:txBody>
          <a:bodyPr wrap="square" lIns="0" tIns="0" rIns="0" bIns="0" rtlCol="0" anchor="t">
            <a:spAutoFit/>
          </a:bodyPr>
          <a:lstStyle/>
          <a:p>
            <a:pPr>
              <a:lnSpc>
                <a:spcPts val="3920"/>
              </a:lnSpc>
            </a:pPr>
            <a:r>
              <a:rPr lang="en-US" sz="1400" dirty="0">
                <a:solidFill>
                  <a:srgbClr val="65B4E5"/>
                </a:solidFill>
                <a:latin typeface="Tenorite" panose="00000500000000000000" pitchFamily="2" charset="0"/>
                <a:ea typeface="Calibri" panose="020F0502020204030204" pitchFamily="34" charset="0"/>
                <a:cs typeface="Calibri" panose="020F0502020204030204" pitchFamily="34" charset="0"/>
              </a:rPr>
              <a:t>6</a:t>
            </a:r>
          </a:p>
        </p:txBody>
      </p:sp>
    </p:spTree>
    <p:extLst>
      <p:ext uri="{BB962C8B-B14F-4D97-AF65-F5344CB8AC3E}">
        <p14:creationId xmlns:p14="http://schemas.microsoft.com/office/powerpoint/2010/main" val="145521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6AF9B-8AA1-CAB2-0458-D984B654EF62}"/>
            </a:ext>
          </a:extLst>
        </p:cNvPr>
        <p:cNvGrpSpPr/>
        <p:nvPr/>
      </p:nvGrpSpPr>
      <p:grpSpPr>
        <a:xfrm>
          <a:off x="0" y="0"/>
          <a:ext cx="0" cy="0"/>
          <a:chOff x="0" y="0"/>
          <a:chExt cx="0" cy="0"/>
        </a:xfrm>
      </p:grpSpPr>
      <p:sp>
        <p:nvSpPr>
          <p:cNvPr id="17" name="Slide Number Placeholder 5">
            <a:extLst>
              <a:ext uri="{FF2B5EF4-FFF2-40B4-BE49-F238E27FC236}">
                <a16:creationId xmlns:a16="http://schemas.microsoft.com/office/drawing/2014/main" id="{DD2BEF16-27F7-40AB-A589-8F7D25A42EBA}"/>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3</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5" name="Title 4">
            <a:extLst>
              <a:ext uri="{FF2B5EF4-FFF2-40B4-BE49-F238E27FC236}">
                <a16:creationId xmlns:a16="http://schemas.microsoft.com/office/drawing/2014/main" id="{357976B9-FABF-34C4-F196-0A1AF26A233F}"/>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SUMMARY</a:t>
            </a:r>
            <a:endParaRPr lang="en-IN" sz="40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BB8FB25-6D8A-8C61-CD7D-39DB4A734C7D}"/>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rgbClr val="595555"/>
                </a:solidFill>
              </a:rPr>
              <a:t>This section highlights key observations from the study.</a:t>
            </a:r>
          </a:p>
        </p:txBody>
      </p:sp>
      <p:sp>
        <p:nvSpPr>
          <p:cNvPr id="2" name="TextBox 1">
            <a:extLst>
              <a:ext uri="{FF2B5EF4-FFF2-40B4-BE49-F238E27FC236}">
                <a16:creationId xmlns:a16="http://schemas.microsoft.com/office/drawing/2014/main" id="{DF4D3206-62EC-2B32-1B9B-87B9906D56CC}"/>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4E8D609E-FC31-2F21-5616-874BC4789775}"/>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3" name="TextBox 2">
            <a:extLst>
              <a:ext uri="{FF2B5EF4-FFF2-40B4-BE49-F238E27FC236}">
                <a16:creationId xmlns:a16="http://schemas.microsoft.com/office/drawing/2014/main" id="{A2F24AE4-182A-5180-34FA-C6C23888EA25}"/>
              </a:ext>
            </a:extLst>
          </p:cNvPr>
          <p:cNvSpPr txBox="1"/>
          <p:nvPr/>
        </p:nvSpPr>
        <p:spPr>
          <a:xfrm>
            <a:off x="646113" y="1110596"/>
            <a:ext cx="10695633" cy="3810851"/>
          </a:xfrm>
          <a:prstGeom prst="rect">
            <a:avLst/>
          </a:prstGeom>
          <a:noFill/>
        </p:spPr>
        <p:txBody>
          <a:bodyPr wrap="square" rtlCol="0">
            <a:spAutoFit/>
          </a:bodyPr>
          <a:lstStyle/>
          <a:p>
            <a:pPr algn="just">
              <a:lnSpc>
                <a:spcPct val="150000"/>
              </a:lnSpc>
              <a:buClr>
                <a:srgbClr val="65B4E5"/>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Domain Overview</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480 patent families identified within the subject domain</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&gt;50% of applications originate from Chinese applicants</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Sustained filing activity observed, peaking in 2022</a:t>
            </a:r>
          </a:p>
          <a:p>
            <a:pPr algn="just">
              <a:lnSpc>
                <a:spcPct val="150000"/>
              </a:lnSpc>
              <a:buClr>
                <a:srgbClr val="65B4E5"/>
              </a:buClr>
            </a:pPr>
            <a:endParaRPr lang="en-US" sz="1250" dirty="0">
              <a:latin typeface="Tenorite" panose="00000500000000000000" pitchFamily="2" charset="0"/>
              <a:ea typeface="Calibri" panose="020F0502020204030204" pitchFamily="34" charset="0"/>
              <a:cs typeface="Calibri" panose="020F0502020204030204" pitchFamily="34" charset="0"/>
            </a:endParaRPr>
          </a:p>
          <a:p>
            <a:pPr algn="just">
              <a:lnSpc>
                <a:spcPct val="150000"/>
              </a:lnSpc>
              <a:buClr>
                <a:srgbClr val="65B4E5"/>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Top Patent Holders</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Leading Innovators: Medtronic (33), Boston Scientific (13), Shanghai Microport (13), Olympus (9), Medlumics (9)</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Other Notable Players: Neurent Medical, St. Jude Medical (Abbott subsidiary), Hangzhou Ruidi Biological Tech</a:t>
            </a:r>
          </a:p>
          <a:p>
            <a:pPr marL="285750" indent="-285750" algn="just">
              <a:lnSpc>
                <a:spcPct val="150000"/>
              </a:lnSpc>
              <a:buClr>
                <a:srgbClr val="65B4E5"/>
              </a:buClr>
              <a:buFont typeface="Arial" panose="020B0604020202020204" pitchFamily="34" charset="0"/>
              <a:buChar char="•"/>
            </a:pPr>
            <a:endParaRPr lang="en-US" sz="1250" dirty="0">
              <a:latin typeface="Tenorite" panose="00000500000000000000" pitchFamily="2" charset="0"/>
              <a:ea typeface="Calibri" panose="020F0502020204030204" pitchFamily="34" charset="0"/>
              <a:cs typeface="Calibri" panose="020F0502020204030204" pitchFamily="34" charset="0"/>
            </a:endParaRPr>
          </a:p>
          <a:p>
            <a:pPr algn="just">
              <a:lnSpc>
                <a:spcPct val="150000"/>
              </a:lnSpc>
              <a:buClr>
                <a:srgbClr val="65B4E5"/>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Ecosystem Participants</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Academic Institutions: Nanjing University, Shanghai Jiao Tong University</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Active Start-ups: Anumana, Orchard Ultrasound Innovation, OneProjects Design and Innovation, Luma Vision, Hepta Medical</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Small-Sized Players: Medlumics, Neurent Medical, Physcade, Stockert</a:t>
            </a:r>
          </a:p>
        </p:txBody>
      </p:sp>
      <p:sp>
        <p:nvSpPr>
          <p:cNvPr id="4" name="TextBox 3">
            <a:extLst>
              <a:ext uri="{FF2B5EF4-FFF2-40B4-BE49-F238E27FC236}">
                <a16:creationId xmlns:a16="http://schemas.microsoft.com/office/drawing/2014/main" id="{F5C47018-8643-D713-3094-32A189DB17F9}"/>
              </a:ext>
            </a:extLst>
          </p:cNvPr>
          <p:cNvSpPr txBox="1"/>
          <p:nvPr/>
        </p:nvSpPr>
        <p:spPr>
          <a:xfrm>
            <a:off x="607807" y="4758066"/>
            <a:ext cx="10695633" cy="2099934"/>
          </a:xfrm>
          <a:prstGeom prst="rect">
            <a:avLst/>
          </a:prstGeom>
          <a:noFill/>
        </p:spPr>
        <p:txBody>
          <a:bodyPr wrap="square" numCol="2" rtlCol="0">
            <a:spAutoFit/>
          </a:bodyPr>
          <a:lstStyle/>
          <a:p>
            <a:pPr marL="285750" indent="-285750" algn="just">
              <a:lnSpc>
                <a:spcPct val="150000"/>
              </a:lnSpc>
              <a:buClr>
                <a:srgbClr val="65B4E5"/>
              </a:buClr>
              <a:buFont typeface="Arial" panose="020B0604020202020204" pitchFamily="34" charset="0"/>
              <a:buChar char="•"/>
            </a:pPr>
            <a:endParaRPr lang="en-US" sz="1250" dirty="0">
              <a:latin typeface="Tenorite" panose="00000500000000000000" pitchFamily="2" charset="0"/>
              <a:ea typeface="Calibri" panose="020F0502020204030204" pitchFamily="34" charset="0"/>
              <a:cs typeface="Calibri" panose="020F0502020204030204" pitchFamily="34" charset="0"/>
            </a:endParaRPr>
          </a:p>
          <a:p>
            <a:pPr algn="just">
              <a:lnSpc>
                <a:spcPct val="150000"/>
              </a:lnSpc>
              <a:buClr>
                <a:srgbClr val="65B4E5"/>
              </a:buClr>
            </a:pPr>
            <a:r>
              <a:rPr lang="en-US" sz="1250" dirty="0">
                <a:solidFill>
                  <a:srgbClr val="65B4E5"/>
                </a:solidFill>
                <a:latin typeface="Tenorite" panose="00000500000000000000" pitchFamily="2" charset="0"/>
                <a:ea typeface="Calibri" panose="020F0502020204030204" pitchFamily="34" charset="0"/>
                <a:cs typeface="Calibri" panose="020F0502020204030204" pitchFamily="34" charset="0"/>
              </a:rPr>
              <a:t>Technology Trend Analysis: Notable Technologies</a:t>
            </a:r>
          </a:p>
          <a:p>
            <a:pPr marL="622300" lvl="1" indent="-285750" algn="just">
              <a:lnSpc>
                <a:spcPct val="150000"/>
              </a:lnSpc>
              <a:buClr>
                <a:srgbClr val="65B4E5"/>
              </a:buClr>
              <a:buFont typeface="Arial" panose="020B0604020202020204" pitchFamily="34" charset="0"/>
              <a:buChar char="•"/>
            </a:pPr>
            <a:r>
              <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Impedance-Based Lesion Endpoint Detection</a:t>
            </a:r>
          </a:p>
          <a:p>
            <a:pPr marL="622300" lvl="1" indent="-285750" algn="just">
              <a:lnSpc>
                <a:spcPct val="150000"/>
              </a:lnSpc>
              <a:buClr>
                <a:srgbClr val="65B4E5"/>
              </a:buClr>
              <a:buFont typeface="Arial" panose="020B0604020202020204" pitchFamily="34" charset="0"/>
              <a:buChar char="•"/>
            </a:pPr>
            <a:r>
              <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Distributed Multi-Point Thermal Sensing with Spatial Field Reconstruction</a:t>
            </a:r>
          </a:p>
          <a:p>
            <a:pPr marL="622300" lvl="1" indent="-285750" algn="just">
              <a:lnSpc>
                <a:spcPct val="150000"/>
              </a:lnSpc>
              <a:buClr>
                <a:srgbClr val="65B4E5"/>
              </a:buClr>
              <a:buFont typeface="Arial" panose="020B0604020202020204" pitchFamily="34" charset="0"/>
              <a:buChar char="•"/>
            </a:pPr>
            <a:endPar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a:p>
            <a:pPr marL="622300" lvl="1" indent="-285750" algn="just">
              <a:lnSpc>
                <a:spcPct val="150000"/>
              </a:lnSpc>
              <a:buClr>
                <a:srgbClr val="65B4E5"/>
              </a:buClr>
              <a:buFont typeface="Arial" panose="020B0604020202020204" pitchFamily="34" charset="0"/>
              <a:buChar char="•"/>
            </a:pPr>
            <a:endPar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a:p>
            <a:pPr marL="622300" lvl="1" indent="-285750" algn="just">
              <a:lnSpc>
                <a:spcPct val="150000"/>
              </a:lnSpc>
              <a:buClr>
                <a:srgbClr val="65B4E5"/>
              </a:buClr>
              <a:buFont typeface="Arial" panose="020B0604020202020204" pitchFamily="34" charset="0"/>
              <a:buChar char="•"/>
            </a:pPr>
            <a:endPar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a:p>
            <a:pPr marL="622300" lvl="1" indent="-285750" algn="just">
              <a:lnSpc>
                <a:spcPct val="150000"/>
              </a:lnSpc>
              <a:buClr>
                <a:srgbClr val="65B4E5"/>
              </a:buClr>
              <a:buFont typeface="Arial" panose="020B0604020202020204" pitchFamily="34" charset="0"/>
              <a:buChar char="•"/>
            </a:pPr>
            <a:endPar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a:p>
            <a:pPr marL="622300" lvl="1" indent="-285750" algn="just">
              <a:lnSpc>
                <a:spcPct val="150000"/>
              </a:lnSpc>
              <a:buClr>
                <a:srgbClr val="65B4E5"/>
              </a:buClr>
              <a:buFont typeface="Arial" panose="020B0604020202020204" pitchFamily="34" charset="0"/>
              <a:buChar char="•"/>
            </a:pPr>
            <a:r>
              <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Multi-Modal Sensor Fusion with Deep Learning</a:t>
            </a:r>
          </a:p>
          <a:p>
            <a:pPr marL="622300" lvl="1" indent="-285750" algn="just">
              <a:lnSpc>
                <a:spcPct val="150000"/>
              </a:lnSpc>
              <a:buClr>
                <a:srgbClr val="65B4E5"/>
              </a:buClr>
              <a:buFont typeface="Arial" panose="020B0604020202020204" pitchFamily="34" charset="0"/>
              <a:buChar char="•"/>
            </a:pPr>
            <a:r>
              <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Imaging-Guided Real-Time Lesion Visualization</a:t>
            </a:r>
          </a:p>
          <a:p>
            <a:pPr marL="622300" lvl="1" indent="-285750" algn="just">
              <a:lnSpc>
                <a:spcPct val="150000"/>
              </a:lnSpc>
              <a:buClr>
                <a:srgbClr val="65B4E5"/>
              </a:buClr>
              <a:buFont typeface="Arial" panose="020B0604020202020204" pitchFamily="34" charset="0"/>
              <a:buChar char="•"/>
            </a:pPr>
            <a:r>
              <a:rPr lang="en-US" sz="125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Closed-Loop Adaptive Energy Control</a:t>
            </a:r>
          </a:p>
        </p:txBody>
      </p:sp>
      <p:sp>
        <p:nvSpPr>
          <p:cNvPr id="8" name="TextBox 7">
            <a:hlinkClick r:id="rId2" action="ppaction://hlinksldjump"/>
            <a:extLst>
              <a:ext uri="{FF2B5EF4-FFF2-40B4-BE49-F238E27FC236}">
                <a16:creationId xmlns:a16="http://schemas.microsoft.com/office/drawing/2014/main" id="{07E94914-F1B6-5318-99E1-09CBBAED8855}"/>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937278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315BA-944E-A629-3EBA-34E56EAEAE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4993E7-3EE9-6288-F3D3-8C5536667AA8}"/>
              </a:ext>
            </a:extLst>
          </p:cNvPr>
          <p:cNvSpPr>
            <a:spLocks noGrp="1"/>
          </p:cNvSpPr>
          <p:nvPr>
            <p:ph type="title"/>
          </p:nvPr>
        </p:nvSpPr>
        <p:spPr>
          <a:xfrm>
            <a:off x="674813" y="2990756"/>
            <a:ext cx="4608387" cy="693035"/>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ASSIGNEE INSIGHTS</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6D42A6E-62FD-0D5B-0D3A-8911E555B555}"/>
              </a:ext>
            </a:extLst>
          </p:cNvPr>
          <p:cNvSpPr txBox="1"/>
          <p:nvPr/>
        </p:nvSpPr>
        <p:spPr>
          <a:xfrm>
            <a:off x="674813" y="3811025"/>
            <a:ext cx="11247403" cy="276999"/>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Subsequent slides include insights related to different types of players</a:t>
            </a:r>
          </a:p>
        </p:txBody>
      </p:sp>
      <p:sp>
        <p:nvSpPr>
          <p:cNvPr id="2" name="TextBox 1">
            <a:extLst>
              <a:ext uri="{FF2B5EF4-FFF2-40B4-BE49-F238E27FC236}">
                <a16:creationId xmlns:a16="http://schemas.microsoft.com/office/drawing/2014/main" id="{6044351F-81A5-A4AA-CE02-513DACB2C9E8}"/>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F9226A04-B1EB-FE64-DE48-A7D68926FAF6}"/>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3" name="Slide Number Placeholder 5">
            <a:extLst>
              <a:ext uri="{FF2B5EF4-FFF2-40B4-BE49-F238E27FC236}">
                <a16:creationId xmlns:a16="http://schemas.microsoft.com/office/drawing/2014/main" id="{9CB4F4FB-873D-50D2-3819-C5E95D2FF42B}"/>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4</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2" action="ppaction://hlinksldjump"/>
            <a:extLst>
              <a:ext uri="{FF2B5EF4-FFF2-40B4-BE49-F238E27FC236}">
                <a16:creationId xmlns:a16="http://schemas.microsoft.com/office/drawing/2014/main" id="{3EFA0717-2CC8-C32C-AD28-8A54B12EDEEA}"/>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429978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5DAB9-3FF0-06D9-A3DF-DAA783E2C9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04D7E5-B85D-6394-59B4-974B4D7F4057}"/>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NOTABLE PLAYERS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Small-Sized Players</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488AB85-69B3-323C-DB8A-44945FAD1FF9}"/>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lists the different types of players active in the current domain, categorized based on their organizational size.</a:t>
            </a:r>
          </a:p>
        </p:txBody>
      </p:sp>
      <p:sp>
        <p:nvSpPr>
          <p:cNvPr id="2" name="TextBox 1">
            <a:extLst>
              <a:ext uri="{FF2B5EF4-FFF2-40B4-BE49-F238E27FC236}">
                <a16:creationId xmlns:a16="http://schemas.microsoft.com/office/drawing/2014/main" id="{73D1FC5A-C518-0B7F-9CEE-D5DFF87B07FA}"/>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9E25F5DA-450E-76DC-BCB7-F8B5F90A0DC6}"/>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15" name="TextBox 14">
            <a:extLst>
              <a:ext uri="{FF2B5EF4-FFF2-40B4-BE49-F238E27FC236}">
                <a16:creationId xmlns:a16="http://schemas.microsoft.com/office/drawing/2014/main" id="{A896A95B-FCF1-07E4-B3BE-208CA5D74715}"/>
              </a:ext>
            </a:extLst>
          </p:cNvPr>
          <p:cNvSpPr txBox="1"/>
          <p:nvPr/>
        </p:nvSpPr>
        <p:spPr>
          <a:xfrm>
            <a:off x="4851401" y="1169905"/>
            <a:ext cx="2229980" cy="379078"/>
          </a:xfrm>
          <a:prstGeom prst="rect">
            <a:avLst/>
          </a:prstGeom>
          <a:noFill/>
        </p:spPr>
        <p:txBody>
          <a:bodyPr wrap="square" rtlCol="0">
            <a:spAutoFit/>
          </a:bodyPr>
          <a:lstStyle/>
          <a:p>
            <a:pPr algn="just">
              <a:lnSpc>
                <a:spcPct val="150000"/>
              </a:lnSpc>
              <a:buClr>
                <a:srgbClr val="0070C0"/>
              </a:buClr>
            </a:pPr>
            <a:r>
              <a:rPr lang="en-US" sz="1400" b="1" dirty="0">
                <a:solidFill>
                  <a:srgbClr val="65B4E5"/>
                </a:solidFill>
                <a:latin typeface="Tenorite" panose="00000500000000000000" pitchFamily="2" charset="0"/>
                <a:ea typeface="Calibri" panose="020F0502020204030204" pitchFamily="34" charset="0"/>
                <a:cs typeface="Calibri" panose="020F0502020204030204" pitchFamily="34" charset="0"/>
              </a:rPr>
              <a:t>SMALL-SIZED PLAYERS</a:t>
            </a:r>
          </a:p>
        </p:txBody>
      </p:sp>
      <p:graphicFrame>
        <p:nvGraphicFramePr>
          <p:cNvPr id="16" name="Table 15">
            <a:extLst>
              <a:ext uri="{FF2B5EF4-FFF2-40B4-BE49-F238E27FC236}">
                <a16:creationId xmlns:a16="http://schemas.microsoft.com/office/drawing/2014/main" id="{72353B02-F0E8-395F-007B-96FDE4CD2085}"/>
              </a:ext>
            </a:extLst>
          </p:cNvPr>
          <p:cNvGraphicFramePr>
            <a:graphicFrameLocks noGrp="1"/>
          </p:cNvGraphicFramePr>
          <p:nvPr>
            <p:extLst>
              <p:ext uri="{D42A27DB-BD31-4B8C-83A1-F6EECF244321}">
                <p14:modId xmlns:p14="http://schemas.microsoft.com/office/powerpoint/2010/main" val="1183897488"/>
              </p:ext>
            </p:extLst>
          </p:nvPr>
        </p:nvGraphicFramePr>
        <p:xfrm>
          <a:off x="710283" y="1648080"/>
          <a:ext cx="2605314" cy="4017000"/>
        </p:xfrm>
        <a:graphic>
          <a:graphicData uri="http://schemas.openxmlformats.org/drawingml/2006/table">
            <a:tbl>
              <a:tblPr>
                <a:tableStyleId>{BC89EF96-8CEA-46FF-86C4-4CE0E7609802}</a:tableStyleId>
              </a:tblPr>
              <a:tblGrid>
                <a:gridCol w="576607">
                  <a:extLst>
                    <a:ext uri="{9D8B030D-6E8A-4147-A177-3AD203B41FA5}">
                      <a16:colId xmlns:a16="http://schemas.microsoft.com/office/drawing/2014/main" val="3291736845"/>
                    </a:ext>
                  </a:extLst>
                </a:gridCol>
                <a:gridCol w="2028707">
                  <a:extLst>
                    <a:ext uri="{9D8B030D-6E8A-4147-A177-3AD203B41FA5}">
                      <a16:colId xmlns:a16="http://schemas.microsoft.com/office/drawing/2014/main" val="3001191925"/>
                    </a:ext>
                  </a:extLst>
                </a:gridCol>
              </a:tblGrid>
              <a:tr h="360000">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Sr. No.</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Assignee</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5245657"/>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Acutus Medical</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2807458"/>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2</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Affera Inc</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3145384"/>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3</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Angiodynamics| Shanghai angiocare Medical tech ltd</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8068615"/>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4</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Autonomix Medical</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7069861"/>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5</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Broncus Medical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2289579"/>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6</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Cardiofocus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646335"/>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7</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Cardionxt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7829710"/>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8</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Cathrx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0832943"/>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9</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Cathvision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960744"/>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10</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Clearpoint neuro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5627363"/>
                  </a:ext>
                </a:extLst>
              </a:tr>
            </a:tbl>
          </a:graphicData>
        </a:graphic>
      </p:graphicFrame>
      <p:graphicFrame>
        <p:nvGraphicFramePr>
          <p:cNvPr id="18" name="Table 17">
            <a:extLst>
              <a:ext uri="{FF2B5EF4-FFF2-40B4-BE49-F238E27FC236}">
                <a16:creationId xmlns:a16="http://schemas.microsoft.com/office/drawing/2014/main" id="{CA467CE8-AFA5-5A4D-3D17-5D1BBD73E374}"/>
              </a:ext>
            </a:extLst>
          </p:cNvPr>
          <p:cNvGraphicFramePr>
            <a:graphicFrameLocks noGrp="1"/>
          </p:cNvGraphicFramePr>
          <p:nvPr>
            <p:extLst>
              <p:ext uri="{D42A27DB-BD31-4B8C-83A1-F6EECF244321}">
                <p14:modId xmlns:p14="http://schemas.microsoft.com/office/powerpoint/2010/main" val="2587266965"/>
              </p:ext>
            </p:extLst>
          </p:nvPr>
        </p:nvGraphicFramePr>
        <p:xfrm>
          <a:off x="8609244" y="1648080"/>
          <a:ext cx="2515508" cy="4032000"/>
        </p:xfrm>
        <a:graphic>
          <a:graphicData uri="http://schemas.openxmlformats.org/drawingml/2006/table">
            <a:tbl>
              <a:tblPr>
                <a:tableStyleId>{BC89EF96-8CEA-46FF-86C4-4CE0E7609802}</a:tableStyleId>
              </a:tblPr>
              <a:tblGrid>
                <a:gridCol w="559708">
                  <a:extLst>
                    <a:ext uri="{9D8B030D-6E8A-4147-A177-3AD203B41FA5}">
                      <a16:colId xmlns:a16="http://schemas.microsoft.com/office/drawing/2014/main" val="1854083471"/>
                    </a:ext>
                  </a:extLst>
                </a:gridCol>
                <a:gridCol w="1955800">
                  <a:extLst>
                    <a:ext uri="{9D8B030D-6E8A-4147-A177-3AD203B41FA5}">
                      <a16:colId xmlns:a16="http://schemas.microsoft.com/office/drawing/2014/main" val="3705135897"/>
                    </a:ext>
                  </a:extLst>
                </a:gridCol>
              </a:tblGrid>
              <a:tr h="288000">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Sr. No.</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Assignee</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46169072"/>
                  </a:ext>
                </a:extLst>
              </a:tr>
              <a:tr h="288000">
                <a:tc>
                  <a:txBody>
                    <a:bodyPr/>
                    <a:lstStyle/>
                    <a:p>
                      <a:pPr algn="ctr" fontAlgn="b">
                        <a:buNone/>
                      </a:pPr>
                      <a:r>
                        <a:rPr lang="en-IN" sz="1250" u="none" strike="noStrike" dirty="0">
                          <a:effectLst/>
                          <a:latin typeface="Tenorite" panose="00000500000000000000" pitchFamily="2" charset="0"/>
                        </a:rPr>
                        <a:t>21</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Neurokinesis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831809"/>
                  </a:ext>
                </a:extLst>
              </a:tr>
              <a:tr h="288000">
                <a:tc>
                  <a:txBody>
                    <a:bodyPr/>
                    <a:lstStyle/>
                    <a:p>
                      <a:pPr algn="ctr" fontAlgn="b">
                        <a:buNone/>
                      </a:pPr>
                      <a:r>
                        <a:rPr lang="en-IN" sz="1250" u="none" strike="noStrike" dirty="0">
                          <a:effectLst/>
                          <a:latin typeface="Tenorite" panose="00000500000000000000" pitchFamily="2" charset="0"/>
                        </a:rPr>
                        <a:t>22</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Nuvaira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3117058"/>
                  </a:ext>
                </a:extLst>
              </a:tr>
              <a:tr h="288000">
                <a:tc>
                  <a:txBody>
                    <a:bodyPr/>
                    <a:lstStyle/>
                    <a:p>
                      <a:pPr algn="ctr" fontAlgn="b">
                        <a:buNone/>
                      </a:pPr>
                      <a:r>
                        <a:rPr lang="en-IN" sz="1250" u="none" strike="noStrike" dirty="0">
                          <a:effectLst/>
                          <a:latin typeface="Tenorite" panose="00000500000000000000" pitchFamily="2" charset="0"/>
                        </a:rPr>
                        <a:t>23</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Physcade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9805746"/>
                  </a:ext>
                </a:extLst>
              </a:tr>
              <a:tr h="288000">
                <a:tc>
                  <a:txBody>
                    <a:bodyPr/>
                    <a:lstStyle/>
                    <a:p>
                      <a:pPr algn="ctr" fontAlgn="b">
                        <a:buNone/>
                      </a:pPr>
                      <a:r>
                        <a:rPr lang="en-IN" sz="1250" u="none" strike="noStrike" dirty="0">
                          <a:effectLst/>
                          <a:latin typeface="Tenorite" panose="00000500000000000000" pitchFamily="2" charset="0"/>
                        </a:rPr>
                        <a:t>24</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Pulse biosciences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2506113"/>
                  </a:ext>
                </a:extLst>
              </a:tr>
              <a:tr h="288000">
                <a:tc>
                  <a:txBody>
                    <a:bodyPr/>
                    <a:lstStyle/>
                    <a:p>
                      <a:pPr algn="ctr" fontAlgn="b">
                        <a:buNone/>
                      </a:pPr>
                      <a:r>
                        <a:rPr lang="en-IN" sz="1250" u="none" strike="noStrike" dirty="0">
                          <a:effectLst/>
                          <a:latin typeface="Tenorite" panose="00000500000000000000" pitchFamily="2" charset="0"/>
                        </a:rPr>
                        <a:t>25</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Quantum surgical</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4597141"/>
                  </a:ext>
                </a:extLst>
              </a:tr>
              <a:tr h="288000">
                <a:tc>
                  <a:txBody>
                    <a:bodyPr/>
                    <a:lstStyle/>
                    <a:p>
                      <a:pPr algn="ctr" fontAlgn="b">
                        <a:buNone/>
                      </a:pPr>
                      <a:r>
                        <a:rPr lang="en-IN" sz="1250" u="none" strike="noStrike" dirty="0">
                          <a:effectLst/>
                          <a:latin typeface="Tenorite" panose="00000500000000000000" pitchFamily="2" charset="0"/>
                        </a:rPr>
                        <a:t>26</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Relievant medsystems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8198262"/>
                  </a:ext>
                </a:extLst>
              </a:tr>
              <a:tr h="288000">
                <a:tc>
                  <a:txBody>
                    <a:bodyPr/>
                    <a:lstStyle/>
                    <a:p>
                      <a:pPr algn="ctr" fontAlgn="b">
                        <a:buNone/>
                      </a:pPr>
                      <a:r>
                        <a:rPr lang="en-IN" sz="1250" u="none" strike="noStrike" dirty="0">
                          <a:effectLst/>
                          <a:latin typeface="Tenorite" panose="00000500000000000000" pitchFamily="2" charset="0"/>
                        </a:rPr>
                        <a:t>27</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Shifamed holdings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3388055"/>
                  </a:ext>
                </a:extLst>
              </a:tr>
              <a:tr h="288000">
                <a:tc>
                  <a:txBody>
                    <a:bodyPr/>
                    <a:lstStyle/>
                    <a:p>
                      <a:pPr algn="ctr" fontAlgn="b">
                        <a:buNone/>
                      </a:pPr>
                      <a:r>
                        <a:rPr lang="en-IN" sz="1250" u="none" strike="noStrike" dirty="0">
                          <a:effectLst/>
                          <a:latin typeface="Tenorite" panose="00000500000000000000" pitchFamily="2" charset="0"/>
                        </a:rPr>
                        <a:t>28</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stereotaxis</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5523955"/>
                  </a:ext>
                </a:extLst>
              </a:tr>
              <a:tr h="288000">
                <a:tc>
                  <a:txBody>
                    <a:bodyPr/>
                    <a:lstStyle/>
                    <a:p>
                      <a:pPr algn="ctr" fontAlgn="b">
                        <a:buNone/>
                      </a:pPr>
                      <a:r>
                        <a:rPr lang="en-IN" sz="1250" u="none" strike="noStrike" dirty="0">
                          <a:effectLst/>
                          <a:latin typeface="Tenorite" panose="00000500000000000000" pitchFamily="2" charset="0"/>
                        </a:rPr>
                        <a:t>29</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Stockert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6857930"/>
                  </a:ext>
                </a:extLst>
              </a:tr>
              <a:tr h="288000">
                <a:tc>
                  <a:txBody>
                    <a:bodyPr/>
                    <a:lstStyle/>
                    <a:p>
                      <a:pPr algn="ctr" fontAlgn="b">
                        <a:buNone/>
                      </a:pPr>
                      <a:r>
                        <a:rPr lang="en-IN" sz="1250" u="none" strike="noStrike" dirty="0">
                          <a:effectLst/>
                          <a:latin typeface="Tenorite" panose="00000500000000000000" pitchFamily="2" charset="0"/>
                        </a:rPr>
                        <a:t>30</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Techsomed Medical Tech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3456351"/>
                  </a:ext>
                </a:extLst>
              </a:tr>
              <a:tr h="288000">
                <a:tc>
                  <a:txBody>
                    <a:bodyPr/>
                    <a:lstStyle/>
                    <a:p>
                      <a:pPr algn="ctr" fontAlgn="b">
                        <a:buNone/>
                      </a:pPr>
                      <a:r>
                        <a:rPr lang="en-IN" sz="1250" u="none" strike="noStrike" dirty="0">
                          <a:effectLst/>
                          <a:latin typeface="Tenorite" panose="00000500000000000000" pitchFamily="2" charset="0"/>
                        </a:rPr>
                        <a:t>31</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Vascomed Gmbh</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8305849"/>
                  </a:ext>
                </a:extLst>
              </a:tr>
              <a:tr h="288000">
                <a:tc>
                  <a:txBody>
                    <a:bodyPr/>
                    <a:lstStyle/>
                    <a:p>
                      <a:pPr algn="ctr" fontAlgn="b">
                        <a:buNone/>
                      </a:pPr>
                      <a:r>
                        <a:rPr lang="en-IN" sz="1250" u="none" strike="noStrike" dirty="0">
                          <a:effectLst/>
                          <a:latin typeface="Tenorite" panose="00000500000000000000" pitchFamily="2" charset="0"/>
                        </a:rPr>
                        <a:t>32</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Veran medical tech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6230943"/>
                  </a:ext>
                </a:extLst>
              </a:tr>
              <a:tr h="288000">
                <a:tc>
                  <a:txBody>
                    <a:bodyPr/>
                    <a:lstStyle/>
                    <a:p>
                      <a:pPr algn="ctr" fontAlgn="b">
                        <a:buNone/>
                      </a:pPr>
                      <a:r>
                        <a:rPr lang="en-IN" sz="1250" u="none" strike="noStrike" dirty="0">
                          <a:effectLst/>
                          <a:latin typeface="Tenorite" panose="00000500000000000000" pitchFamily="2" charset="0"/>
                        </a:rPr>
                        <a:t>33</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Yor Labs Inc</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73957981"/>
                  </a:ext>
                </a:extLst>
              </a:tr>
            </a:tbl>
          </a:graphicData>
        </a:graphic>
      </p:graphicFrame>
      <p:graphicFrame>
        <p:nvGraphicFramePr>
          <p:cNvPr id="3" name="Table 2">
            <a:extLst>
              <a:ext uri="{FF2B5EF4-FFF2-40B4-BE49-F238E27FC236}">
                <a16:creationId xmlns:a16="http://schemas.microsoft.com/office/drawing/2014/main" id="{CD143AB5-428C-7F54-A913-DDB0E86BD072}"/>
              </a:ext>
            </a:extLst>
          </p:cNvPr>
          <p:cNvGraphicFramePr>
            <a:graphicFrameLocks noGrp="1"/>
          </p:cNvGraphicFramePr>
          <p:nvPr>
            <p:extLst>
              <p:ext uri="{D42A27DB-BD31-4B8C-83A1-F6EECF244321}">
                <p14:modId xmlns:p14="http://schemas.microsoft.com/office/powerpoint/2010/main" val="151523449"/>
              </p:ext>
            </p:extLst>
          </p:nvPr>
        </p:nvGraphicFramePr>
        <p:xfrm>
          <a:off x="4659764" y="1648081"/>
          <a:ext cx="2605314" cy="3960000"/>
        </p:xfrm>
        <a:graphic>
          <a:graphicData uri="http://schemas.openxmlformats.org/drawingml/2006/table">
            <a:tbl>
              <a:tblPr>
                <a:tableStyleId>{BC89EF96-8CEA-46FF-86C4-4CE0E7609802}</a:tableStyleId>
              </a:tblPr>
              <a:tblGrid>
                <a:gridCol w="576607">
                  <a:extLst>
                    <a:ext uri="{9D8B030D-6E8A-4147-A177-3AD203B41FA5}">
                      <a16:colId xmlns:a16="http://schemas.microsoft.com/office/drawing/2014/main" val="3291736845"/>
                    </a:ext>
                  </a:extLst>
                </a:gridCol>
                <a:gridCol w="2028707">
                  <a:extLst>
                    <a:ext uri="{9D8B030D-6E8A-4147-A177-3AD203B41FA5}">
                      <a16:colId xmlns:a16="http://schemas.microsoft.com/office/drawing/2014/main" val="3001191925"/>
                    </a:ext>
                  </a:extLst>
                </a:gridCol>
              </a:tblGrid>
              <a:tr h="360000">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Sr. No.</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Assignee</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5245657"/>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11</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Creo Medical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2807458"/>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12</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Endra Life sciences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3145384"/>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13</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Exact Therapeutics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8068615"/>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14</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Galvanize Therapeutics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7069861"/>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15</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Gynesonics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2289579"/>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16</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Histosonics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646335"/>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17</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Kardium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7829710"/>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18</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Medlumics </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0832943"/>
                  </a:ext>
                </a:extLst>
              </a:tr>
              <a:tr h="360000">
                <a:tc>
                  <a:txBody>
                    <a:bodyPr/>
                    <a:lstStyle/>
                    <a:p>
                      <a:pPr marL="0" algn="ctr"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19</a:t>
                      </a: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buNone/>
                      </a:pPr>
                      <a:r>
                        <a:rPr lang="en-IN" sz="1250" u="none" strike="noStrike" kern="1200" dirty="0">
                          <a:solidFill>
                            <a:schemeClr val="tx1"/>
                          </a:solidFill>
                          <a:effectLst/>
                          <a:latin typeface="Tenorite" panose="00000500000000000000" pitchFamily="2" charset="0"/>
                          <a:ea typeface="+mn-ea"/>
                          <a:cs typeface="+mn-cs"/>
                        </a:rPr>
                        <a:t>NR Scientific</a:t>
                      </a: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960744"/>
                  </a:ext>
                </a:extLst>
              </a:tr>
              <a:tr h="360000">
                <a:tc>
                  <a:txBody>
                    <a:bodyPr/>
                    <a:lstStyle/>
                    <a:p>
                      <a:pPr algn="ctr" fontAlgn="b">
                        <a:buNone/>
                      </a:pPr>
                      <a:r>
                        <a:rPr lang="en-IN" sz="1250" u="none" strike="noStrike" dirty="0">
                          <a:effectLst/>
                          <a:latin typeface="Tenorite" panose="00000500000000000000" pitchFamily="2" charset="0"/>
                        </a:rPr>
                        <a:t>20</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Neurent medical limited</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5627363"/>
                  </a:ext>
                </a:extLst>
              </a:tr>
            </a:tbl>
          </a:graphicData>
        </a:graphic>
      </p:graphicFrame>
      <p:sp>
        <p:nvSpPr>
          <p:cNvPr id="4" name="TextBox 3">
            <a:extLst>
              <a:ext uri="{FF2B5EF4-FFF2-40B4-BE49-F238E27FC236}">
                <a16:creationId xmlns:a16="http://schemas.microsoft.com/office/drawing/2014/main" id="{4770E582-9EE5-4E8E-1DD7-C4A41B2FE88E}"/>
              </a:ext>
            </a:extLst>
          </p:cNvPr>
          <p:cNvSpPr txBox="1"/>
          <p:nvPr/>
        </p:nvSpPr>
        <p:spPr>
          <a:xfrm>
            <a:off x="942605" y="5881113"/>
            <a:ext cx="4137249" cy="530915"/>
          </a:xfrm>
          <a:prstGeom prst="rect">
            <a:avLst/>
          </a:prstGeom>
          <a:noFill/>
        </p:spPr>
        <p:txBody>
          <a:bodyPr wrap="square" rtlCol="0">
            <a:spAutoFit/>
          </a:bodyPr>
          <a:lstStyle/>
          <a:p>
            <a:r>
              <a:rPr lang="en-US" sz="950" b="1"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Note: </a:t>
            </a:r>
          </a:p>
          <a:p>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only considered the Non-Chines players.</a:t>
            </a:r>
          </a:p>
          <a:p>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Players identified based on their patenting activity in the current domain.</a:t>
            </a:r>
            <a:endParaRPr lang="en-IN"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8" name="Slide Number Placeholder 5">
            <a:extLst>
              <a:ext uri="{FF2B5EF4-FFF2-40B4-BE49-F238E27FC236}">
                <a16:creationId xmlns:a16="http://schemas.microsoft.com/office/drawing/2014/main" id="{5A75B41C-4611-646A-2358-B2F4759B083C}"/>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5</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9" name="TextBox 8">
            <a:hlinkClick r:id="rId2" action="ppaction://hlinksldjump"/>
            <a:extLst>
              <a:ext uri="{FF2B5EF4-FFF2-40B4-BE49-F238E27FC236}">
                <a16:creationId xmlns:a16="http://schemas.microsoft.com/office/drawing/2014/main" id="{1D45B092-9FC7-DAC8-A60E-383A76F65F66}"/>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164339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9BC46-DE04-2883-6CEC-430A27C7447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4B7902-7524-A756-2ADF-5B163011DD78}"/>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NOTABLE PLAYERS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Large &amp; Medium-Sized Players</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0EC3F1E-8462-1F02-B39F-9516AB0EB088}"/>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lists the different types of players active in the current domain, categorized based on their organizational size.</a:t>
            </a:r>
          </a:p>
        </p:txBody>
      </p:sp>
      <p:sp>
        <p:nvSpPr>
          <p:cNvPr id="2" name="TextBox 1">
            <a:extLst>
              <a:ext uri="{FF2B5EF4-FFF2-40B4-BE49-F238E27FC236}">
                <a16:creationId xmlns:a16="http://schemas.microsoft.com/office/drawing/2014/main" id="{E2488C54-AF01-E4F8-5660-87D04DC2509E}"/>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A7CAB658-11B0-388B-2B9A-A9CDEDD5D21E}"/>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10" name="Table 9">
            <a:extLst>
              <a:ext uri="{FF2B5EF4-FFF2-40B4-BE49-F238E27FC236}">
                <a16:creationId xmlns:a16="http://schemas.microsoft.com/office/drawing/2014/main" id="{D5A93675-8DE6-00A1-A22E-500077CD9184}"/>
              </a:ext>
            </a:extLst>
          </p:cNvPr>
          <p:cNvGraphicFramePr>
            <a:graphicFrameLocks noGrp="1"/>
          </p:cNvGraphicFramePr>
          <p:nvPr>
            <p:extLst>
              <p:ext uri="{D42A27DB-BD31-4B8C-83A1-F6EECF244321}">
                <p14:modId xmlns:p14="http://schemas.microsoft.com/office/powerpoint/2010/main" val="167347493"/>
              </p:ext>
            </p:extLst>
          </p:nvPr>
        </p:nvGraphicFramePr>
        <p:xfrm>
          <a:off x="848180" y="1702187"/>
          <a:ext cx="2661330" cy="3960000"/>
        </p:xfrm>
        <a:graphic>
          <a:graphicData uri="http://schemas.openxmlformats.org/drawingml/2006/table">
            <a:tbl>
              <a:tblPr>
                <a:tableStyleId>{BC89EF96-8CEA-46FF-86C4-4CE0E7609802}</a:tableStyleId>
              </a:tblPr>
              <a:tblGrid>
                <a:gridCol w="602565">
                  <a:extLst>
                    <a:ext uri="{9D8B030D-6E8A-4147-A177-3AD203B41FA5}">
                      <a16:colId xmlns:a16="http://schemas.microsoft.com/office/drawing/2014/main" val="124417101"/>
                    </a:ext>
                  </a:extLst>
                </a:gridCol>
                <a:gridCol w="2058765">
                  <a:extLst>
                    <a:ext uri="{9D8B030D-6E8A-4147-A177-3AD203B41FA5}">
                      <a16:colId xmlns:a16="http://schemas.microsoft.com/office/drawing/2014/main" val="383278517"/>
                    </a:ext>
                  </a:extLst>
                </a:gridCol>
              </a:tblGrid>
              <a:tr h="360000">
                <a:tc>
                  <a:txBody>
                    <a:bodyPr/>
                    <a:lstStyle/>
                    <a:p>
                      <a:pPr algn="ctr" fontAlgn="b">
                        <a:buNone/>
                      </a:pPr>
                      <a:r>
                        <a:rPr lang="en-IN" sz="1250" b="1" u="none" strike="noStrike" dirty="0">
                          <a:solidFill>
                            <a:srgbClr val="D42357"/>
                          </a:solidFill>
                          <a:effectLst/>
                          <a:latin typeface="Tenorite" panose="00000500000000000000" pitchFamily="2" charset="0"/>
                        </a:rPr>
                        <a:t>Sr. No.</a:t>
                      </a:r>
                      <a:endParaRPr lang="en-IN" sz="1250" b="1" i="0" u="none" strike="noStrike" dirty="0">
                        <a:solidFill>
                          <a:srgbClr val="D42357"/>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b="1" u="none" strike="noStrike" dirty="0">
                          <a:solidFill>
                            <a:srgbClr val="D42357"/>
                          </a:solidFill>
                          <a:effectLst/>
                          <a:latin typeface="Tenorite" panose="00000500000000000000" pitchFamily="2" charset="0"/>
                        </a:rPr>
                        <a:t>Assignee</a:t>
                      </a:r>
                      <a:endParaRPr lang="en-IN" sz="1250" b="1" i="0" u="none" strike="noStrike" dirty="0">
                        <a:solidFill>
                          <a:srgbClr val="D42357"/>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4876786"/>
                  </a:ext>
                </a:extLst>
              </a:tr>
              <a:tr h="360000">
                <a:tc>
                  <a:txBody>
                    <a:bodyPr/>
                    <a:lstStyle/>
                    <a:p>
                      <a:pPr algn="ctr" fontAlgn="b">
                        <a:buNone/>
                      </a:pPr>
                      <a:r>
                        <a:rPr lang="en-IN" sz="1250" u="none" strike="noStrike" dirty="0">
                          <a:effectLst/>
                          <a:latin typeface="Tenorite" panose="00000500000000000000" pitchFamily="2" charset="0"/>
                        </a:rPr>
                        <a:t>1</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Medtronic</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05812365"/>
                  </a:ext>
                </a:extLst>
              </a:tr>
              <a:tr h="360000">
                <a:tc>
                  <a:txBody>
                    <a:bodyPr/>
                    <a:lstStyle/>
                    <a:p>
                      <a:pPr algn="ctr" fontAlgn="b">
                        <a:buNone/>
                      </a:pPr>
                      <a:r>
                        <a:rPr lang="en-IN" sz="1250" u="none" strike="noStrike" dirty="0">
                          <a:effectLst/>
                          <a:latin typeface="Tenorite" panose="00000500000000000000" pitchFamily="2" charset="0"/>
                        </a:rPr>
                        <a:t>2</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Boston Scientific</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6527822"/>
                  </a:ext>
                </a:extLst>
              </a:tr>
              <a:tr h="360000">
                <a:tc>
                  <a:txBody>
                    <a:bodyPr/>
                    <a:lstStyle/>
                    <a:p>
                      <a:pPr algn="ctr" fontAlgn="b">
                        <a:buNone/>
                      </a:pPr>
                      <a:r>
                        <a:rPr lang="en-IN" sz="1250" u="none" strike="noStrike" dirty="0">
                          <a:effectLst/>
                          <a:latin typeface="Tenorite" panose="00000500000000000000" pitchFamily="2" charset="0"/>
                        </a:rPr>
                        <a:t>3</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Olympus|GYRUS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2958461"/>
                  </a:ext>
                </a:extLst>
              </a:tr>
              <a:tr h="360000">
                <a:tc>
                  <a:txBody>
                    <a:bodyPr/>
                    <a:lstStyle/>
                    <a:p>
                      <a:pPr algn="ctr" fontAlgn="b">
                        <a:buNone/>
                      </a:pPr>
                      <a:r>
                        <a:rPr lang="en-IN" sz="1250" u="none" strike="noStrike" dirty="0">
                          <a:effectLst/>
                          <a:latin typeface="Tenorite" panose="00000500000000000000" pitchFamily="2" charset="0"/>
                        </a:rPr>
                        <a:t>4</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Abbott|St. Jude Medical</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7233189"/>
                  </a:ext>
                </a:extLst>
              </a:tr>
              <a:tr h="360000">
                <a:tc>
                  <a:txBody>
                    <a:bodyPr/>
                    <a:lstStyle/>
                    <a:p>
                      <a:pPr algn="ctr" fontAlgn="b">
                        <a:buNone/>
                      </a:pPr>
                      <a:r>
                        <a:rPr lang="en-IN" sz="1250" u="none" strike="noStrike" dirty="0">
                          <a:effectLst/>
                          <a:latin typeface="Tenorite" panose="00000500000000000000" pitchFamily="2" charset="0"/>
                        </a:rPr>
                        <a:t>5</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Varian Medical Systems</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1382630"/>
                  </a:ext>
                </a:extLst>
              </a:tr>
              <a:tr h="360000">
                <a:tc>
                  <a:txBody>
                    <a:bodyPr/>
                    <a:lstStyle/>
                    <a:p>
                      <a:pPr algn="ctr" fontAlgn="b">
                        <a:buNone/>
                      </a:pPr>
                      <a:r>
                        <a:rPr lang="en-IN" sz="1250" u="none" strike="noStrike" dirty="0">
                          <a:effectLst/>
                          <a:latin typeface="Tenorite" panose="00000500000000000000" pitchFamily="2" charset="0"/>
                        </a:rPr>
                        <a:t>6</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Intuitive Surgical</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761991"/>
                  </a:ext>
                </a:extLst>
              </a:tr>
              <a:tr h="360000">
                <a:tc>
                  <a:txBody>
                    <a:bodyPr/>
                    <a:lstStyle/>
                    <a:p>
                      <a:pPr algn="ctr" fontAlgn="b">
                        <a:buNone/>
                      </a:pPr>
                      <a:r>
                        <a:rPr lang="en-IN" sz="1250" u="none" strike="noStrike" dirty="0">
                          <a:effectLst/>
                          <a:latin typeface="Tenorite" panose="00000500000000000000" pitchFamily="2" charset="0"/>
                        </a:rPr>
                        <a:t>7</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Philips</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2754021"/>
                  </a:ext>
                </a:extLst>
              </a:tr>
              <a:tr h="360000">
                <a:tc>
                  <a:txBody>
                    <a:bodyPr/>
                    <a:lstStyle/>
                    <a:p>
                      <a:pPr algn="ctr" fontAlgn="b">
                        <a:buNone/>
                      </a:pPr>
                      <a:r>
                        <a:rPr lang="en-IN" sz="1250" u="none" strike="noStrike" dirty="0">
                          <a:effectLst/>
                          <a:latin typeface="Tenorite" panose="00000500000000000000" pitchFamily="2" charset="0"/>
                        </a:rPr>
                        <a:t>8</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Siemens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837592"/>
                  </a:ext>
                </a:extLst>
              </a:tr>
              <a:tr h="360000">
                <a:tc>
                  <a:txBody>
                    <a:bodyPr/>
                    <a:lstStyle/>
                    <a:p>
                      <a:pPr algn="ctr" fontAlgn="b">
                        <a:buNone/>
                      </a:pPr>
                      <a:r>
                        <a:rPr lang="en-IN" sz="1250" u="none" strike="noStrike" dirty="0">
                          <a:effectLst/>
                          <a:latin typeface="Tenorite" panose="00000500000000000000" pitchFamily="2" charset="0"/>
                        </a:rPr>
                        <a:t>9</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Stryker</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41365"/>
                  </a:ext>
                </a:extLst>
              </a:tr>
              <a:tr h="360000">
                <a:tc>
                  <a:txBody>
                    <a:bodyPr/>
                    <a:lstStyle/>
                    <a:p>
                      <a:pPr algn="ctr" fontAlgn="b">
                        <a:buNone/>
                      </a:pPr>
                      <a:r>
                        <a:rPr lang="en-IN" sz="1250" u="none" strike="noStrike" dirty="0">
                          <a:effectLst/>
                          <a:latin typeface="Tenorite" panose="00000500000000000000" pitchFamily="2" charset="0"/>
                        </a:rPr>
                        <a:t>10</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Otsuka</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7735406"/>
                  </a:ext>
                </a:extLst>
              </a:tr>
            </a:tbl>
          </a:graphicData>
        </a:graphic>
      </p:graphicFrame>
      <p:graphicFrame>
        <p:nvGraphicFramePr>
          <p:cNvPr id="11" name="Table 10">
            <a:extLst>
              <a:ext uri="{FF2B5EF4-FFF2-40B4-BE49-F238E27FC236}">
                <a16:creationId xmlns:a16="http://schemas.microsoft.com/office/drawing/2014/main" id="{444F097C-F874-4AE5-444A-FDE523110A1C}"/>
              </a:ext>
            </a:extLst>
          </p:cNvPr>
          <p:cNvGraphicFramePr>
            <a:graphicFrameLocks noGrp="1"/>
          </p:cNvGraphicFramePr>
          <p:nvPr>
            <p:extLst>
              <p:ext uri="{D42A27DB-BD31-4B8C-83A1-F6EECF244321}">
                <p14:modId xmlns:p14="http://schemas.microsoft.com/office/powerpoint/2010/main" val="2528729011"/>
              </p:ext>
            </p:extLst>
          </p:nvPr>
        </p:nvGraphicFramePr>
        <p:xfrm>
          <a:off x="7912132" y="1702187"/>
          <a:ext cx="2969078" cy="3529500"/>
        </p:xfrm>
        <a:graphic>
          <a:graphicData uri="http://schemas.openxmlformats.org/drawingml/2006/table">
            <a:tbl>
              <a:tblPr>
                <a:tableStyleId>{BC89EF96-8CEA-46FF-86C4-4CE0E7609802}</a:tableStyleId>
              </a:tblPr>
              <a:tblGrid>
                <a:gridCol w="617764">
                  <a:extLst>
                    <a:ext uri="{9D8B030D-6E8A-4147-A177-3AD203B41FA5}">
                      <a16:colId xmlns:a16="http://schemas.microsoft.com/office/drawing/2014/main" val="607362315"/>
                    </a:ext>
                  </a:extLst>
                </a:gridCol>
                <a:gridCol w="2351314">
                  <a:extLst>
                    <a:ext uri="{9D8B030D-6E8A-4147-A177-3AD203B41FA5}">
                      <a16:colId xmlns:a16="http://schemas.microsoft.com/office/drawing/2014/main" val="620256527"/>
                    </a:ext>
                  </a:extLst>
                </a:gridCol>
              </a:tblGrid>
              <a:tr h="360000">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Sr. No.</a:t>
                      </a:r>
                    </a:p>
                  </a:txBody>
                  <a:tcPr marL="36000" marR="36000" marT="36000" marB="0" anchor="ctr">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buNone/>
                      </a:pPr>
                      <a:r>
                        <a:rPr lang="en-IN" sz="1250" b="1" u="none" strike="noStrike" kern="1200" dirty="0">
                          <a:solidFill>
                            <a:srgbClr val="D42357"/>
                          </a:solidFill>
                          <a:effectLst/>
                          <a:latin typeface="Tenorite" panose="00000500000000000000" pitchFamily="2" charset="0"/>
                          <a:ea typeface="+mn-ea"/>
                          <a:cs typeface="+mn-cs"/>
                        </a:rPr>
                        <a:t>Assignee</a:t>
                      </a:r>
                    </a:p>
                  </a:txBody>
                  <a:tcPr marL="36000" marR="36000" marT="36000" marB="0" anchor="ctr">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0975384"/>
                  </a:ext>
                </a:extLst>
              </a:tr>
              <a:tr h="360000">
                <a:tc>
                  <a:txBody>
                    <a:bodyPr/>
                    <a:lstStyle/>
                    <a:p>
                      <a:pPr algn="ctr" fontAlgn="b">
                        <a:buNone/>
                      </a:pPr>
                      <a:r>
                        <a:rPr lang="en-IN" sz="1250" u="none" strike="noStrike" dirty="0">
                          <a:effectLst/>
                          <a:latin typeface="Tenorite" panose="00000500000000000000" pitchFamily="2" charset="0"/>
                        </a:rPr>
                        <a:t>1</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BAYLIS MEDICAL TECH</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9398455"/>
                  </a:ext>
                </a:extLst>
              </a:tr>
              <a:tr h="360000">
                <a:tc>
                  <a:txBody>
                    <a:bodyPr/>
                    <a:lstStyle/>
                    <a:p>
                      <a:pPr algn="ctr" fontAlgn="b">
                        <a:buNone/>
                      </a:pPr>
                      <a:r>
                        <a:rPr lang="en-IN" sz="1250" u="none" strike="noStrike" dirty="0">
                          <a:effectLst/>
                          <a:latin typeface="Tenorite" panose="00000500000000000000" pitchFamily="2" charset="0"/>
                        </a:rPr>
                        <a:t>2</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Kitasato Institute</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7841217"/>
                  </a:ext>
                </a:extLst>
              </a:tr>
              <a:tr h="360000">
                <a:tc>
                  <a:txBody>
                    <a:bodyPr/>
                    <a:lstStyle/>
                    <a:p>
                      <a:pPr algn="ctr" fontAlgn="b">
                        <a:buNone/>
                      </a:pPr>
                      <a:r>
                        <a:rPr lang="en-IN" sz="1250" u="none" strike="noStrike" dirty="0">
                          <a:effectLst/>
                          <a:latin typeface="Tenorite" panose="00000500000000000000" pitchFamily="2" charset="0"/>
                        </a:rPr>
                        <a:t>3</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de-DE" sz="1250" u="none" strike="noStrike" dirty="0">
                          <a:effectLst/>
                          <a:latin typeface="Tenorite" panose="00000500000000000000" pitchFamily="2" charset="0"/>
                        </a:rPr>
                        <a:t>MEDIZINISCHE HOCHSCHULE HANNOVER KOERPERSCHAFT DES OEFFENTLICHEN RECHTS|OTTO VON GUERICKE UNIV MAGDEBURG KOERPERSCHAFT DES OEFFENTLICHEN RECHTS</a:t>
                      </a:r>
                      <a:endParaRPr lang="de-DE" sz="1250" b="0" i="0" u="none" strike="noStrike" dirty="0">
                        <a:solidFill>
                          <a:srgbClr val="000000"/>
                        </a:solidFill>
                        <a:effectLst/>
                        <a:latin typeface="Tenorite" panose="00000500000000000000" pitchFamily="2" charset="0"/>
                      </a:endParaRPr>
                    </a:p>
                  </a:txBody>
                  <a:tcPr marL="36000" marR="36000" marT="3600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1789172"/>
                  </a:ext>
                </a:extLst>
              </a:tr>
              <a:tr h="360000">
                <a:tc>
                  <a:txBody>
                    <a:bodyPr/>
                    <a:lstStyle/>
                    <a:p>
                      <a:pPr algn="ctr" fontAlgn="b">
                        <a:buNone/>
                      </a:pPr>
                      <a:r>
                        <a:rPr lang="en-IN" sz="1250" u="none" strike="noStrike" dirty="0">
                          <a:effectLst/>
                          <a:latin typeface="Tenorite" panose="00000500000000000000" pitchFamily="2" charset="0"/>
                        </a:rPr>
                        <a:t>4</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MERIL CORPORATION</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4215167"/>
                  </a:ext>
                </a:extLst>
              </a:tr>
              <a:tr h="360000">
                <a:tc>
                  <a:txBody>
                    <a:bodyPr/>
                    <a:lstStyle/>
                    <a:p>
                      <a:pPr algn="ctr" fontAlgn="b">
                        <a:buNone/>
                      </a:pPr>
                      <a:r>
                        <a:rPr lang="en-IN" sz="1250" u="none" strike="noStrike" dirty="0">
                          <a:effectLst/>
                          <a:latin typeface="Tenorite" panose="00000500000000000000" pitchFamily="2" charset="0"/>
                        </a:rPr>
                        <a:t>5</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PROCEPT BIOROBOTICS</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5126384"/>
                  </a:ext>
                </a:extLst>
              </a:tr>
              <a:tr h="360000">
                <a:tc>
                  <a:txBody>
                    <a:bodyPr/>
                    <a:lstStyle/>
                    <a:p>
                      <a:pPr algn="ctr" fontAlgn="b">
                        <a:buNone/>
                      </a:pPr>
                      <a:r>
                        <a:rPr lang="en-IN" sz="1250" u="none" strike="noStrike" dirty="0">
                          <a:effectLst/>
                          <a:latin typeface="Tenorite" panose="00000500000000000000" pitchFamily="2" charset="0"/>
                        </a:rPr>
                        <a:t>6</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WORCESTER POLYTECH </a:t>
                      </a:r>
                      <a:endParaRPr lang="en-IN" sz="1250" b="0" i="0" u="none" strike="noStrike" dirty="0">
                        <a:solidFill>
                          <a:srgbClr val="000000"/>
                        </a:solidFill>
                        <a:effectLst/>
                        <a:latin typeface="Tenorite" panose="00000500000000000000" pitchFamily="2" charset="0"/>
                      </a:endParaRPr>
                    </a:p>
                  </a:txBody>
                  <a:tcPr marL="36000" marR="36000" marT="3600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37889569"/>
                  </a:ext>
                </a:extLst>
              </a:tr>
            </a:tbl>
          </a:graphicData>
        </a:graphic>
      </p:graphicFrame>
      <p:sp>
        <p:nvSpPr>
          <p:cNvPr id="12" name="TextBox 11">
            <a:extLst>
              <a:ext uri="{FF2B5EF4-FFF2-40B4-BE49-F238E27FC236}">
                <a16:creationId xmlns:a16="http://schemas.microsoft.com/office/drawing/2014/main" id="{130BAA6B-E981-2A36-EB26-75DC9AC3E0A2}"/>
              </a:ext>
            </a:extLst>
          </p:cNvPr>
          <p:cNvSpPr txBox="1"/>
          <p:nvPr/>
        </p:nvSpPr>
        <p:spPr>
          <a:xfrm>
            <a:off x="3011230" y="1182042"/>
            <a:ext cx="1862383" cy="702244"/>
          </a:xfrm>
          <a:prstGeom prst="rect">
            <a:avLst/>
          </a:prstGeom>
          <a:noFill/>
        </p:spPr>
        <p:txBody>
          <a:bodyPr wrap="square" rtlCol="0">
            <a:spAutoFit/>
          </a:bodyPr>
          <a:lstStyle/>
          <a:p>
            <a:pPr algn="just">
              <a:lnSpc>
                <a:spcPct val="150000"/>
              </a:lnSpc>
              <a:buClr>
                <a:srgbClr val="0070C0"/>
              </a:buClr>
            </a:pPr>
            <a:r>
              <a:rPr lang="en-US" sz="1400" b="1" dirty="0">
                <a:solidFill>
                  <a:srgbClr val="65B4E5"/>
                </a:solidFill>
                <a:latin typeface="Tenorite" panose="00000500000000000000" pitchFamily="2" charset="0"/>
                <a:ea typeface="Calibri" panose="020F0502020204030204" pitchFamily="34" charset="0"/>
                <a:cs typeface="Calibri" panose="020F0502020204030204" pitchFamily="34" charset="0"/>
              </a:rPr>
              <a:t>LARGE-SIZED PLAYERS</a:t>
            </a:r>
          </a:p>
        </p:txBody>
      </p:sp>
      <p:sp>
        <p:nvSpPr>
          <p:cNvPr id="14" name="TextBox 13">
            <a:extLst>
              <a:ext uri="{FF2B5EF4-FFF2-40B4-BE49-F238E27FC236}">
                <a16:creationId xmlns:a16="http://schemas.microsoft.com/office/drawing/2014/main" id="{C0AEA73B-727F-EB00-B51E-74FC0FC76F0D}"/>
              </a:ext>
            </a:extLst>
          </p:cNvPr>
          <p:cNvSpPr txBox="1"/>
          <p:nvPr/>
        </p:nvSpPr>
        <p:spPr>
          <a:xfrm>
            <a:off x="8249579" y="1182042"/>
            <a:ext cx="1862383" cy="379078"/>
          </a:xfrm>
          <a:prstGeom prst="rect">
            <a:avLst/>
          </a:prstGeom>
          <a:noFill/>
        </p:spPr>
        <p:txBody>
          <a:bodyPr wrap="square" rtlCol="0">
            <a:spAutoFit/>
          </a:bodyPr>
          <a:lstStyle/>
          <a:p>
            <a:pPr algn="just">
              <a:lnSpc>
                <a:spcPct val="150000"/>
              </a:lnSpc>
              <a:buClr>
                <a:srgbClr val="0070C0"/>
              </a:buClr>
            </a:pPr>
            <a:r>
              <a:rPr lang="en-US" sz="1400" b="1" dirty="0">
                <a:solidFill>
                  <a:srgbClr val="65B4E5"/>
                </a:solidFill>
                <a:latin typeface="Tenorite" panose="00000500000000000000" pitchFamily="2" charset="0"/>
                <a:ea typeface="Calibri" panose="020F0502020204030204" pitchFamily="34" charset="0"/>
                <a:cs typeface="Calibri" panose="020F0502020204030204" pitchFamily="34" charset="0"/>
              </a:rPr>
              <a:t>MID-SIZED PLAYERS</a:t>
            </a:r>
          </a:p>
        </p:txBody>
      </p:sp>
      <p:sp>
        <p:nvSpPr>
          <p:cNvPr id="19" name="TextBox 18">
            <a:extLst>
              <a:ext uri="{FF2B5EF4-FFF2-40B4-BE49-F238E27FC236}">
                <a16:creationId xmlns:a16="http://schemas.microsoft.com/office/drawing/2014/main" id="{C32F4506-BCFB-F020-3824-3F1621AC9A11}"/>
              </a:ext>
            </a:extLst>
          </p:cNvPr>
          <p:cNvSpPr txBox="1"/>
          <p:nvPr/>
        </p:nvSpPr>
        <p:spPr>
          <a:xfrm>
            <a:off x="942605" y="5881113"/>
            <a:ext cx="4137249" cy="530915"/>
          </a:xfrm>
          <a:prstGeom prst="rect">
            <a:avLst/>
          </a:prstGeom>
          <a:noFill/>
        </p:spPr>
        <p:txBody>
          <a:bodyPr wrap="square" rtlCol="0">
            <a:spAutoFit/>
          </a:bodyPr>
          <a:lstStyle/>
          <a:p>
            <a:r>
              <a:rPr lang="en-US" sz="950" b="1"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Note: </a:t>
            </a:r>
          </a:p>
          <a:p>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only considered the Non-Chines players.</a:t>
            </a:r>
          </a:p>
          <a:p>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Players identified based on their patenting activity in the current domain.</a:t>
            </a:r>
            <a:endParaRPr lang="en-IN"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E00EE1D9-6FCF-ED7F-83CC-A72C15869D65}"/>
              </a:ext>
            </a:extLst>
          </p:cNvPr>
          <p:cNvGraphicFramePr>
            <a:graphicFrameLocks noGrp="1"/>
          </p:cNvGraphicFramePr>
          <p:nvPr>
            <p:extLst>
              <p:ext uri="{D42A27DB-BD31-4B8C-83A1-F6EECF244321}">
                <p14:modId xmlns:p14="http://schemas.microsoft.com/office/powerpoint/2010/main" val="1228328700"/>
              </p:ext>
            </p:extLst>
          </p:nvPr>
        </p:nvGraphicFramePr>
        <p:xfrm>
          <a:off x="4168322" y="1702187"/>
          <a:ext cx="2661330" cy="3600000"/>
        </p:xfrm>
        <a:graphic>
          <a:graphicData uri="http://schemas.openxmlformats.org/drawingml/2006/table">
            <a:tbl>
              <a:tblPr>
                <a:tableStyleId>{BC89EF96-8CEA-46FF-86C4-4CE0E7609802}</a:tableStyleId>
              </a:tblPr>
              <a:tblGrid>
                <a:gridCol w="602565">
                  <a:extLst>
                    <a:ext uri="{9D8B030D-6E8A-4147-A177-3AD203B41FA5}">
                      <a16:colId xmlns:a16="http://schemas.microsoft.com/office/drawing/2014/main" val="124417101"/>
                    </a:ext>
                  </a:extLst>
                </a:gridCol>
                <a:gridCol w="2058765">
                  <a:extLst>
                    <a:ext uri="{9D8B030D-6E8A-4147-A177-3AD203B41FA5}">
                      <a16:colId xmlns:a16="http://schemas.microsoft.com/office/drawing/2014/main" val="383278517"/>
                    </a:ext>
                  </a:extLst>
                </a:gridCol>
              </a:tblGrid>
              <a:tr h="360000">
                <a:tc>
                  <a:txBody>
                    <a:bodyPr/>
                    <a:lstStyle/>
                    <a:p>
                      <a:pPr algn="ctr" fontAlgn="b">
                        <a:buNone/>
                      </a:pPr>
                      <a:r>
                        <a:rPr lang="en-IN" sz="1250" b="1" u="none" strike="noStrike" dirty="0">
                          <a:solidFill>
                            <a:srgbClr val="D42357"/>
                          </a:solidFill>
                          <a:effectLst/>
                          <a:latin typeface="Tenorite" panose="00000500000000000000" pitchFamily="2" charset="0"/>
                        </a:rPr>
                        <a:t>Sr. No.</a:t>
                      </a:r>
                      <a:endParaRPr lang="en-IN" sz="1250" b="1" i="0" u="none" strike="noStrike" dirty="0">
                        <a:solidFill>
                          <a:srgbClr val="D42357"/>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b="1" u="none" strike="noStrike" dirty="0">
                          <a:solidFill>
                            <a:srgbClr val="D42357"/>
                          </a:solidFill>
                          <a:effectLst/>
                          <a:latin typeface="Tenorite" panose="00000500000000000000" pitchFamily="2" charset="0"/>
                        </a:rPr>
                        <a:t>Assignee</a:t>
                      </a:r>
                      <a:endParaRPr lang="en-IN" sz="1250" b="1" i="0" u="none" strike="noStrike" dirty="0">
                        <a:solidFill>
                          <a:srgbClr val="D42357"/>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4876786"/>
                  </a:ext>
                </a:extLst>
              </a:tr>
              <a:tr h="360000">
                <a:tc>
                  <a:txBody>
                    <a:bodyPr/>
                    <a:lstStyle/>
                    <a:p>
                      <a:pPr algn="ctr" fontAlgn="b">
                        <a:buNone/>
                      </a:pPr>
                      <a:r>
                        <a:rPr lang="en-IN" sz="1250" u="none" strike="noStrike" dirty="0">
                          <a:effectLst/>
                          <a:latin typeface="Tenorite" panose="00000500000000000000" pitchFamily="2" charset="0"/>
                        </a:rPr>
                        <a:t>11</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Columbia University</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05812365"/>
                  </a:ext>
                </a:extLst>
              </a:tr>
              <a:tr h="360000">
                <a:tc>
                  <a:txBody>
                    <a:bodyPr/>
                    <a:lstStyle/>
                    <a:p>
                      <a:pPr algn="ctr" fontAlgn="b">
                        <a:buNone/>
                      </a:pPr>
                      <a:r>
                        <a:rPr lang="en-IN" sz="1250" u="none" strike="noStrike" dirty="0">
                          <a:effectLst/>
                          <a:latin typeface="Tenorite" panose="00000500000000000000" pitchFamily="2" charset="0"/>
                        </a:rPr>
                        <a:t>12</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Fraunhofer</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6527822"/>
                  </a:ext>
                </a:extLst>
              </a:tr>
              <a:tr h="360000">
                <a:tc>
                  <a:txBody>
                    <a:bodyPr/>
                    <a:lstStyle/>
                    <a:p>
                      <a:pPr algn="ctr" fontAlgn="b">
                        <a:buNone/>
                      </a:pPr>
                      <a:r>
                        <a:rPr lang="en-IN" sz="1250" u="none" strike="noStrike" dirty="0">
                          <a:effectLst/>
                          <a:latin typeface="Tenorite" panose="00000500000000000000" pitchFamily="2" charset="0"/>
                        </a:rPr>
                        <a:t>13</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GE Precision Medicine </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2958461"/>
                  </a:ext>
                </a:extLst>
              </a:tr>
              <a:tr h="360000">
                <a:tc>
                  <a:txBody>
                    <a:bodyPr/>
                    <a:lstStyle/>
                    <a:p>
                      <a:pPr algn="ctr" fontAlgn="b">
                        <a:buNone/>
                      </a:pPr>
                      <a:r>
                        <a:rPr lang="en-IN" sz="1250" u="none" strike="noStrike" dirty="0">
                          <a:effectLst/>
                          <a:latin typeface="Tenorite" panose="00000500000000000000" pitchFamily="2" charset="0"/>
                        </a:rPr>
                        <a:t>14</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Kaneka</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7233189"/>
                  </a:ext>
                </a:extLst>
              </a:tr>
              <a:tr h="360000">
                <a:tc>
                  <a:txBody>
                    <a:bodyPr/>
                    <a:lstStyle/>
                    <a:p>
                      <a:pPr algn="ctr" fontAlgn="b">
                        <a:buNone/>
                      </a:pPr>
                      <a:r>
                        <a:rPr lang="en-IN" sz="1250" u="none" strike="noStrike" dirty="0">
                          <a:effectLst/>
                          <a:latin typeface="Tenorite" panose="00000500000000000000" pitchFamily="2" charset="0"/>
                        </a:rPr>
                        <a:t>15</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Kansas State University</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1382630"/>
                  </a:ext>
                </a:extLst>
              </a:tr>
              <a:tr h="360000">
                <a:tc>
                  <a:txBody>
                    <a:bodyPr/>
                    <a:lstStyle/>
                    <a:p>
                      <a:pPr algn="ctr" fontAlgn="b">
                        <a:buNone/>
                      </a:pPr>
                      <a:r>
                        <a:rPr lang="en-IN" sz="1250" u="none" strike="noStrike" dirty="0">
                          <a:effectLst/>
                          <a:latin typeface="Tenorite" panose="00000500000000000000" pitchFamily="2" charset="0"/>
                        </a:rPr>
                        <a:t>16</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NuVasive</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761991"/>
                  </a:ext>
                </a:extLst>
              </a:tr>
              <a:tr h="360000">
                <a:tc>
                  <a:txBody>
                    <a:bodyPr/>
                    <a:lstStyle/>
                    <a:p>
                      <a:pPr algn="ctr" fontAlgn="b">
                        <a:buNone/>
                      </a:pPr>
                      <a:r>
                        <a:rPr lang="en-IN" sz="1250" u="none" strike="noStrike" dirty="0">
                          <a:effectLst/>
                          <a:latin typeface="Tenorite" panose="00000500000000000000" pitchFamily="2" charset="0"/>
                        </a:rPr>
                        <a:t>17</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Olympus</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2754021"/>
                  </a:ext>
                </a:extLst>
              </a:tr>
              <a:tr h="360000">
                <a:tc>
                  <a:txBody>
                    <a:bodyPr/>
                    <a:lstStyle/>
                    <a:p>
                      <a:pPr algn="ctr" fontAlgn="b">
                        <a:buNone/>
                      </a:pPr>
                      <a:r>
                        <a:rPr lang="en-IN" sz="1250" u="none" strike="noStrike" dirty="0">
                          <a:effectLst/>
                          <a:latin typeface="Tenorite" panose="00000500000000000000" pitchFamily="2" charset="0"/>
                        </a:rPr>
                        <a:t>18</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Philips|Avent</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837592"/>
                  </a:ext>
                </a:extLst>
              </a:tr>
              <a:tr h="360000">
                <a:tc>
                  <a:txBody>
                    <a:bodyPr/>
                    <a:lstStyle/>
                    <a:p>
                      <a:pPr algn="ctr" fontAlgn="b">
                        <a:buNone/>
                      </a:pPr>
                      <a:r>
                        <a:rPr lang="en-IN" sz="1250" u="none" strike="noStrike" dirty="0">
                          <a:effectLst/>
                          <a:latin typeface="Tenorite" panose="00000500000000000000" pitchFamily="2" charset="0"/>
                        </a:rPr>
                        <a:t>19</a:t>
                      </a:r>
                      <a:endParaRPr lang="en-IN" sz="1250" b="0" i="0" u="none" strike="noStrike" dirty="0">
                        <a:solidFill>
                          <a:srgbClr val="000000"/>
                        </a:solidFill>
                        <a:effectLst/>
                        <a:latin typeface="Tenorite" panose="00000500000000000000" pitchFamily="2" charset="0"/>
                      </a:endParaRPr>
                    </a:p>
                  </a:txBody>
                  <a:tcPr marL="36000" marR="36000" marT="36000" marB="0" anchor="b">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1250" u="none" strike="noStrike" dirty="0">
                          <a:effectLst/>
                          <a:latin typeface="Tenorite" panose="00000500000000000000" pitchFamily="2" charset="0"/>
                        </a:rPr>
                        <a:t>Roche</a:t>
                      </a:r>
                      <a:endParaRPr lang="en-IN" sz="1250" b="0" i="0" u="none" strike="noStrike" dirty="0">
                        <a:solidFill>
                          <a:srgbClr val="000000"/>
                        </a:solidFill>
                        <a:effectLst/>
                        <a:latin typeface="Tenorite" panose="00000500000000000000" pitchFamily="2" charset="0"/>
                      </a:endParaRPr>
                    </a:p>
                  </a:txBody>
                  <a:tcPr marL="36000" marR="36000" marT="36000" marB="0" anchor="b">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41365"/>
                  </a:ext>
                </a:extLst>
              </a:tr>
            </a:tbl>
          </a:graphicData>
        </a:graphic>
      </p:graphicFrame>
      <p:sp>
        <p:nvSpPr>
          <p:cNvPr id="21" name="Slide Number Placeholder 5">
            <a:extLst>
              <a:ext uri="{FF2B5EF4-FFF2-40B4-BE49-F238E27FC236}">
                <a16:creationId xmlns:a16="http://schemas.microsoft.com/office/drawing/2014/main" id="{29AD87C4-3254-9EFD-51A8-36256027579B}"/>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6</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22" name="TextBox 21">
            <a:hlinkClick r:id="rId2" action="ppaction://hlinksldjump"/>
            <a:extLst>
              <a:ext uri="{FF2B5EF4-FFF2-40B4-BE49-F238E27FC236}">
                <a16:creationId xmlns:a16="http://schemas.microsoft.com/office/drawing/2014/main" id="{33D02C1A-5D3E-883A-83AE-8FF5DB311D2F}"/>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281912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7169E-A070-D5EA-9DDB-80E493D4D38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403D13-E9A1-5DCE-4263-FA811A1C0076}"/>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NOTABLE PLAYERS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Start-ups (1/3)</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35ECE28-E60F-E346-FAE8-E39696A7A3A0}"/>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provides details on different start-ups active in the domain.</a:t>
            </a:r>
          </a:p>
        </p:txBody>
      </p:sp>
      <p:sp>
        <p:nvSpPr>
          <p:cNvPr id="2" name="TextBox 1">
            <a:extLst>
              <a:ext uri="{FF2B5EF4-FFF2-40B4-BE49-F238E27FC236}">
                <a16:creationId xmlns:a16="http://schemas.microsoft.com/office/drawing/2014/main" id="{698F56FC-9745-6B89-34A5-35911E025AA5}"/>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DDEE01E0-D2C2-887E-0113-87E538C9DE3D}"/>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3" name="Table 2">
            <a:extLst>
              <a:ext uri="{FF2B5EF4-FFF2-40B4-BE49-F238E27FC236}">
                <a16:creationId xmlns:a16="http://schemas.microsoft.com/office/drawing/2014/main" id="{50279723-DD44-5E27-436D-1C50CA7284D5}"/>
              </a:ext>
            </a:extLst>
          </p:cNvPr>
          <p:cNvGraphicFramePr>
            <a:graphicFrameLocks noGrp="1"/>
          </p:cNvGraphicFramePr>
          <p:nvPr>
            <p:extLst>
              <p:ext uri="{D42A27DB-BD31-4B8C-83A1-F6EECF244321}">
                <p14:modId xmlns:p14="http://schemas.microsoft.com/office/powerpoint/2010/main" val="2733916392"/>
              </p:ext>
            </p:extLst>
          </p:nvPr>
        </p:nvGraphicFramePr>
        <p:xfrm>
          <a:off x="658813" y="1196974"/>
          <a:ext cx="10925379" cy="4320854"/>
        </p:xfrm>
        <a:graphic>
          <a:graphicData uri="http://schemas.openxmlformats.org/drawingml/2006/table">
            <a:tbl>
              <a:tblPr>
                <a:tableStyleId>{5940675A-B579-460E-94D1-54222C63F5DA}</a:tableStyleId>
              </a:tblPr>
              <a:tblGrid>
                <a:gridCol w="692729">
                  <a:extLst>
                    <a:ext uri="{9D8B030D-6E8A-4147-A177-3AD203B41FA5}">
                      <a16:colId xmlns:a16="http://schemas.microsoft.com/office/drawing/2014/main" val="1851505432"/>
                    </a:ext>
                  </a:extLst>
                </a:gridCol>
                <a:gridCol w="1571676">
                  <a:extLst>
                    <a:ext uri="{9D8B030D-6E8A-4147-A177-3AD203B41FA5}">
                      <a16:colId xmlns:a16="http://schemas.microsoft.com/office/drawing/2014/main" val="818216316"/>
                    </a:ext>
                  </a:extLst>
                </a:gridCol>
                <a:gridCol w="683593">
                  <a:extLst>
                    <a:ext uri="{9D8B030D-6E8A-4147-A177-3AD203B41FA5}">
                      <a16:colId xmlns:a16="http://schemas.microsoft.com/office/drawing/2014/main" val="2378357296"/>
                    </a:ext>
                  </a:extLst>
                </a:gridCol>
                <a:gridCol w="1168389">
                  <a:extLst>
                    <a:ext uri="{9D8B030D-6E8A-4147-A177-3AD203B41FA5}">
                      <a16:colId xmlns:a16="http://schemas.microsoft.com/office/drawing/2014/main" val="2324976822"/>
                    </a:ext>
                  </a:extLst>
                </a:gridCol>
                <a:gridCol w="1893539">
                  <a:extLst>
                    <a:ext uri="{9D8B030D-6E8A-4147-A177-3AD203B41FA5}">
                      <a16:colId xmlns:a16="http://schemas.microsoft.com/office/drawing/2014/main" val="2700009972"/>
                    </a:ext>
                  </a:extLst>
                </a:gridCol>
                <a:gridCol w="1483590">
                  <a:extLst>
                    <a:ext uri="{9D8B030D-6E8A-4147-A177-3AD203B41FA5}">
                      <a16:colId xmlns:a16="http://schemas.microsoft.com/office/drawing/2014/main" val="3104546317"/>
                    </a:ext>
                  </a:extLst>
                </a:gridCol>
                <a:gridCol w="1423471">
                  <a:extLst>
                    <a:ext uri="{9D8B030D-6E8A-4147-A177-3AD203B41FA5}">
                      <a16:colId xmlns:a16="http://schemas.microsoft.com/office/drawing/2014/main" val="1420603802"/>
                    </a:ext>
                  </a:extLst>
                </a:gridCol>
                <a:gridCol w="2008392">
                  <a:extLst>
                    <a:ext uri="{9D8B030D-6E8A-4147-A177-3AD203B41FA5}">
                      <a16:colId xmlns:a16="http://schemas.microsoft.com/office/drawing/2014/main" val="2515648016"/>
                    </a:ext>
                  </a:extLst>
                </a:gridCol>
              </a:tblGrid>
              <a:tr h="299164">
                <a:tc>
                  <a:txBody>
                    <a:bodyPr/>
                    <a:lstStyle/>
                    <a:p>
                      <a:pPr algn="ctr" fontAlgn="b">
                        <a:buNone/>
                      </a:pPr>
                      <a:r>
                        <a:rPr lang="en-US" sz="1000" b="1" u="none" strike="noStrike" dirty="0">
                          <a:solidFill>
                            <a:srgbClr val="65B4E5"/>
                          </a:solidFill>
                          <a:effectLst/>
                          <a:latin typeface="Tenorite" panose="00000500000000000000" pitchFamily="2" charset="0"/>
                        </a:rPr>
                        <a:t>SNO.</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kern="1200" dirty="0">
                          <a:solidFill>
                            <a:srgbClr val="65B4E5"/>
                          </a:solidFill>
                          <a:effectLst/>
                          <a:latin typeface="Tenorite" panose="00000500000000000000" pitchFamily="2" charset="0"/>
                          <a:ea typeface="+mn-ea"/>
                          <a:cs typeface="+mn-cs"/>
                        </a:rPr>
                        <a:t>ASSIGNEE</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kern="1200" dirty="0">
                          <a:solidFill>
                            <a:srgbClr val="65B4E5"/>
                          </a:solidFill>
                          <a:effectLst/>
                          <a:latin typeface="Tenorite" panose="00000500000000000000" pitchFamily="2" charset="0"/>
                          <a:ea typeface="+mn-ea"/>
                          <a:cs typeface="+mn-cs"/>
                        </a:rPr>
                        <a:t>REVENUE</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COUNTRY</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TYPE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ASSIGNEE’S WEBSITE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ASSIGNEE’S LINKEDIN</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KEY PERSON - LINKEDIN PROFILE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3751671"/>
                  </a:ext>
                </a:extLst>
              </a:tr>
              <a:tr h="804338">
                <a:tc>
                  <a:txBody>
                    <a:bodyPr/>
                    <a:lstStyle/>
                    <a:p>
                      <a:pPr algn="ctr" fontAlgn="b">
                        <a:buNone/>
                      </a:pPr>
                      <a:r>
                        <a:rPr lang="en-US" sz="1000" b="0" i="0" u="none" strike="noStrike" dirty="0">
                          <a:solidFill>
                            <a:srgbClr val="000000"/>
                          </a:solidFill>
                          <a:effectLst/>
                          <a:latin typeface="Tenorite" panose="00000500000000000000" pitchFamily="2" charset="0"/>
                        </a:rPr>
                        <a:t>1</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none" strike="noStrike" dirty="0">
                          <a:effectLst/>
                          <a:latin typeface="Tenorite" panose="00000500000000000000" pitchFamily="2" charset="0"/>
                        </a:rPr>
                        <a:t>AERWAVE MEDICAL</a:t>
                      </a:r>
                      <a:endParaRPr lang="en-US" sz="1000" b="0" i="0" u="none" strike="noStrike" dirty="0">
                        <a:solidFill>
                          <a:srgbClr val="000000"/>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2" tooltip="Click to view"/>
                        </a:rPr>
                        <a:t>&lt;$5M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none" strike="noStrike" dirty="0">
                          <a:effectLst/>
                          <a:latin typeface="Tenorite" panose="00000500000000000000" pitchFamily="2" charset="0"/>
                        </a:rPr>
                        <a:t>USA</a:t>
                      </a:r>
                      <a:endParaRPr lang="en-US" sz="1000" b="0" i="0" u="none" strike="noStrike" dirty="0">
                        <a:solidFill>
                          <a:srgbClr val="000000"/>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sng" strike="noStrike" dirty="0">
                          <a:effectLst/>
                          <a:latin typeface="Tenorite" panose="00000500000000000000" pitchFamily="2" charset="0"/>
                          <a:hlinkClick r:id="rId3" tooltip="Click to view"/>
                        </a:rPr>
                        <a:t>Aerwave Medical</a:t>
                      </a:r>
                      <a:endParaRPr lang="en-US" sz="1000" b="0" i="0" u="sng" strike="noStrike" dirty="0">
                        <a:solidFill>
                          <a:srgbClr val="0563C1"/>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u="none" strike="noStrike" kern="1200" dirty="0">
                          <a:solidFill>
                            <a:srgbClr val="746B50"/>
                          </a:solidFill>
                          <a:effectLst/>
                          <a:latin typeface="Tenorite" panose="00000500000000000000" pitchFamily="2" charset="0"/>
                          <a:ea typeface="+mn-ea"/>
                          <a:cs typeface="+mn-cs"/>
                        </a:rPr>
                        <a:t>-</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sng" strike="noStrike" dirty="0">
                          <a:effectLst/>
                          <a:latin typeface="Tenorite" panose="00000500000000000000" pitchFamily="2" charset="0"/>
                          <a:hlinkClick r:id="rId4" tooltip="Click to view"/>
                        </a:rPr>
                        <a:t>Robert Pacheco | LinkedIn</a:t>
                      </a:r>
                      <a:endParaRPr lang="en-US" sz="1000" b="0" i="0" u="sng" strike="noStrike" dirty="0">
                        <a:solidFill>
                          <a:srgbClr val="0563C1"/>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1661377"/>
                  </a:ext>
                </a:extLst>
              </a:tr>
              <a:tr h="804338">
                <a:tc>
                  <a:txBody>
                    <a:bodyPr/>
                    <a:lstStyle/>
                    <a:p>
                      <a:pPr algn="ctr" fontAlgn="b">
                        <a:buNone/>
                      </a:pPr>
                      <a:r>
                        <a:rPr lang="en-US" sz="1000" b="0" i="0" u="none" strike="noStrike" dirty="0">
                          <a:solidFill>
                            <a:srgbClr val="000000"/>
                          </a:solidFill>
                          <a:effectLst/>
                          <a:latin typeface="Tenorite" panose="00000500000000000000" pitchFamily="2" charset="0"/>
                        </a:rPr>
                        <a:t>2</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none" strike="noStrike" dirty="0">
                          <a:effectLst/>
                          <a:latin typeface="Tenorite" panose="00000500000000000000" pitchFamily="2" charset="0"/>
                        </a:rPr>
                        <a:t>ANUMANA </a:t>
                      </a:r>
                      <a:endParaRPr lang="en-US" sz="1000" b="0" i="0" u="none" strike="noStrike" dirty="0">
                        <a:solidFill>
                          <a:srgbClr val="000000"/>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5" tooltip="Click to view"/>
                        </a:rPr>
                        <a:t>$30M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none" strike="noStrike" dirty="0">
                          <a:effectLst/>
                          <a:latin typeface="Tenorite" panose="00000500000000000000" pitchFamily="2" charset="0"/>
                        </a:rPr>
                        <a:t>USA</a:t>
                      </a:r>
                      <a:endParaRPr lang="en-US" sz="1000" b="0" i="0" u="none" strike="noStrike" dirty="0">
                        <a:solidFill>
                          <a:srgbClr val="000000"/>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AI-driven healthcare company</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none" strike="noStrike" dirty="0">
                          <a:effectLst/>
                          <a:latin typeface="Tenorite" panose="00000500000000000000" pitchFamily="2" charset="0"/>
                          <a:hlinkClick r:id="rId6" tooltip="Click to view"/>
                        </a:rPr>
                        <a:t>Anumana</a:t>
                      </a:r>
                      <a:endParaRPr lang="en-US" sz="1000" b="0" i="0" u="none" strike="noStrike" dirty="0">
                        <a:solidFill>
                          <a:srgbClr val="000000"/>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sng" strike="noStrike" dirty="0">
                          <a:effectLst/>
                          <a:latin typeface="Tenorite" panose="00000500000000000000" pitchFamily="2" charset="0"/>
                          <a:hlinkClick r:id="rId7" tooltip="Click to view"/>
                        </a:rPr>
                        <a:t>Anumana</a:t>
                      </a:r>
                      <a:endParaRPr lang="en-US" sz="1000" b="0" i="0" u="sng" strike="noStrike" dirty="0">
                        <a:solidFill>
                          <a:srgbClr val="0563C1"/>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u="sng" strike="noStrike" dirty="0">
                          <a:effectLst/>
                          <a:latin typeface="Tenorite" panose="00000500000000000000" pitchFamily="2" charset="0"/>
                          <a:hlinkClick r:id="rId8" tooltip="Click to view"/>
                        </a:rPr>
                        <a:t>Animesh Agarwal | LinkedIn</a:t>
                      </a:r>
                      <a:endParaRPr lang="en-US" sz="1000" b="0" i="0" u="sng" strike="noStrike" dirty="0">
                        <a:solidFill>
                          <a:srgbClr val="0563C1"/>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051208"/>
                  </a:ext>
                </a:extLst>
              </a:tr>
              <a:tr h="804338">
                <a:tc>
                  <a:txBody>
                    <a:bodyPr/>
                    <a:lstStyle/>
                    <a:p>
                      <a:pPr algn="ctr" fontAlgn="b">
                        <a:buNone/>
                      </a:pPr>
                      <a:r>
                        <a:rPr lang="en-US" sz="1000" b="0" i="0" u="none" strike="noStrike" dirty="0">
                          <a:solidFill>
                            <a:srgbClr val="000000"/>
                          </a:solidFill>
                          <a:effectLst/>
                          <a:latin typeface="Tenorite" panose="00000500000000000000" pitchFamily="2" charset="0"/>
                        </a:rPr>
                        <a:t>3</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Axon Therapies</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sng" strike="noStrike" dirty="0">
                          <a:solidFill>
                            <a:srgbClr val="0563C1"/>
                          </a:solidFill>
                          <a:effectLst/>
                          <a:latin typeface="Tenorite" panose="00000500000000000000" pitchFamily="2" charset="0"/>
                          <a:hlinkClick r:id="rId9" tooltip="Click to view"/>
                        </a:rPr>
                        <a:t>$2.3M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USA</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0" tooltip="Click to view"/>
                        </a:rPr>
                        <a:t>Axon Therapies </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1" tooltip="Click to view"/>
                        </a:rPr>
                        <a:t>Axon Therapies </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kern="1200" dirty="0">
                          <a:solidFill>
                            <a:srgbClr val="000000"/>
                          </a:solidFill>
                          <a:effectLst/>
                          <a:latin typeface="Tenorite" panose="00000500000000000000" pitchFamily="2" charset="0"/>
                          <a:ea typeface="+mn-ea"/>
                          <a:cs typeface="+mn-cs"/>
                        </a:rPr>
                        <a:t>-</a:t>
                      </a: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509972"/>
                  </a:ext>
                </a:extLst>
              </a:tr>
              <a:tr h="804338">
                <a:tc>
                  <a:txBody>
                    <a:bodyPr/>
                    <a:lstStyle/>
                    <a:p>
                      <a:pPr algn="ctr" fontAlgn="b">
                        <a:buNone/>
                      </a:pPr>
                      <a:r>
                        <a:rPr lang="en-US" sz="1000" b="0" i="0" u="none" strike="noStrike" dirty="0">
                          <a:solidFill>
                            <a:srgbClr val="000000"/>
                          </a:solidFill>
                          <a:effectLst/>
                          <a:latin typeface="Tenorite" panose="00000500000000000000" pitchFamily="2" charset="0"/>
                        </a:rPr>
                        <a:t>4</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BIO REFINE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Israel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2" tooltip="Click to view"/>
                        </a:rPr>
                        <a:t>Biorefine</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3" tooltip="Click to view"/>
                        </a:rPr>
                        <a:t>Bio Refine</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4" tooltip="Click to view"/>
                        </a:rPr>
                        <a:t>Boaz Shenhav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685895"/>
                  </a:ext>
                </a:extLst>
              </a:tr>
              <a:tr h="804338">
                <a:tc>
                  <a:txBody>
                    <a:bodyPr/>
                    <a:lstStyle/>
                    <a:p>
                      <a:pPr algn="ctr" fontAlgn="b">
                        <a:buNone/>
                      </a:pPr>
                      <a:r>
                        <a:rPr lang="en-US" sz="1000" b="0" i="0" u="none" strike="noStrike" dirty="0">
                          <a:solidFill>
                            <a:srgbClr val="000000"/>
                          </a:solidFill>
                          <a:effectLst/>
                          <a:latin typeface="Tenorite" panose="00000500000000000000" pitchFamily="2" charset="0"/>
                        </a:rPr>
                        <a:t>5</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CERTIS THERAPEUTICS</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5" tooltip="Click to view"/>
                        </a:rPr>
                        <a:t>&lt;$5 Million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Tenorite" panose="00000500000000000000" pitchFamily="2" charset="0"/>
                        </a:rPr>
                        <a:t>France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6" tooltip="Click to view"/>
                        </a:rPr>
                        <a:t>Certis Therapeutics</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7" tooltip="Click to view"/>
                        </a:rPr>
                        <a:t>Certis Therapeutics</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8" tooltip="Click to view"/>
                        </a:rPr>
                        <a:t>Pierre Bour </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8065186"/>
                  </a:ext>
                </a:extLst>
              </a:tr>
            </a:tbl>
          </a:graphicData>
        </a:graphic>
      </p:graphicFrame>
      <p:sp>
        <p:nvSpPr>
          <p:cNvPr id="4" name="TextBox 3">
            <a:extLst>
              <a:ext uri="{FF2B5EF4-FFF2-40B4-BE49-F238E27FC236}">
                <a16:creationId xmlns:a16="http://schemas.microsoft.com/office/drawing/2014/main" id="{77EE1062-08DF-FE5D-65AF-633BB5187A1A}"/>
              </a:ext>
            </a:extLst>
          </p:cNvPr>
          <p:cNvSpPr txBox="1"/>
          <p:nvPr/>
        </p:nvSpPr>
        <p:spPr>
          <a:xfrm>
            <a:off x="377190" y="6268044"/>
            <a:ext cx="4137249" cy="238527"/>
          </a:xfrm>
          <a:prstGeom prst="rect">
            <a:avLst/>
          </a:prstGeom>
          <a:noFill/>
        </p:spPr>
        <p:txBody>
          <a:bodyPr wrap="square" rtlCol="0">
            <a:spAutoFit/>
          </a:bodyPr>
          <a:lstStyle/>
          <a:p>
            <a:r>
              <a:rPr lang="en-US" sz="950" b="1"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Note: </a:t>
            </a:r>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only considered the Non-Chinese players.</a:t>
            </a:r>
            <a:endParaRPr lang="en-IN"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8" name="Slide Number Placeholder 5">
            <a:extLst>
              <a:ext uri="{FF2B5EF4-FFF2-40B4-BE49-F238E27FC236}">
                <a16:creationId xmlns:a16="http://schemas.microsoft.com/office/drawing/2014/main" id="{0E3E3E96-5580-BDFC-A457-7CD68E565786}"/>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7</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9" name="TextBox 8">
            <a:hlinkClick r:id="rId19" action="ppaction://hlinksldjump"/>
            <a:extLst>
              <a:ext uri="{FF2B5EF4-FFF2-40B4-BE49-F238E27FC236}">
                <a16:creationId xmlns:a16="http://schemas.microsoft.com/office/drawing/2014/main" id="{ED14ABB3-E8BD-DE08-112D-19977B6ACBD6}"/>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19"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911022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8ECB1-53CF-E203-53EC-7BDE028F3B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6571D2-28D5-0B14-9A07-CA0D53F1067D}"/>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NOTABLE PLAYERS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Start-ups (2/3)</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095B076-ECD5-2557-BC43-145CE86653C4}"/>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provides details on different start-ups active in the domain.</a:t>
            </a:r>
          </a:p>
        </p:txBody>
      </p:sp>
      <p:sp>
        <p:nvSpPr>
          <p:cNvPr id="2" name="TextBox 1">
            <a:extLst>
              <a:ext uri="{FF2B5EF4-FFF2-40B4-BE49-F238E27FC236}">
                <a16:creationId xmlns:a16="http://schemas.microsoft.com/office/drawing/2014/main" id="{59402066-74B7-BA08-F2F2-F76BCD2EFE7F}"/>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52A651BE-A344-E25D-7EAD-5246CCFD748D}"/>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4" name="Table 3">
            <a:extLst>
              <a:ext uri="{FF2B5EF4-FFF2-40B4-BE49-F238E27FC236}">
                <a16:creationId xmlns:a16="http://schemas.microsoft.com/office/drawing/2014/main" id="{49BFDDE5-F958-8452-A4B5-334A8F452B9E}"/>
              </a:ext>
            </a:extLst>
          </p:cNvPr>
          <p:cNvGraphicFramePr>
            <a:graphicFrameLocks noGrp="1"/>
          </p:cNvGraphicFramePr>
          <p:nvPr>
            <p:extLst>
              <p:ext uri="{D42A27DB-BD31-4B8C-83A1-F6EECF244321}">
                <p14:modId xmlns:p14="http://schemas.microsoft.com/office/powerpoint/2010/main" val="3398073340"/>
              </p:ext>
            </p:extLst>
          </p:nvPr>
        </p:nvGraphicFramePr>
        <p:xfrm>
          <a:off x="658813" y="1196974"/>
          <a:ext cx="10925379" cy="4758589"/>
        </p:xfrm>
        <a:graphic>
          <a:graphicData uri="http://schemas.openxmlformats.org/drawingml/2006/table">
            <a:tbl>
              <a:tblPr>
                <a:tableStyleId>{5940675A-B579-460E-94D1-54222C63F5DA}</a:tableStyleId>
              </a:tblPr>
              <a:tblGrid>
                <a:gridCol w="692729">
                  <a:extLst>
                    <a:ext uri="{9D8B030D-6E8A-4147-A177-3AD203B41FA5}">
                      <a16:colId xmlns:a16="http://schemas.microsoft.com/office/drawing/2014/main" val="1851505432"/>
                    </a:ext>
                  </a:extLst>
                </a:gridCol>
                <a:gridCol w="1571676">
                  <a:extLst>
                    <a:ext uri="{9D8B030D-6E8A-4147-A177-3AD203B41FA5}">
                      <a16:colId xmlns:a16="http://schemas.microsoft.com/office/drawing/2014/main" val="818216316"/>
                    </a:ext>
                  </a:extLst>
                </a:gridCol>
                <a:gridCol w="683593">
                  <a:extLst>
                    <a:ext uri="{9D8B030D-6E8A-4147-A177-3AD203B41FA5}">
                      <a16:colId xmlns:a16="http://schemas.microsoft.com/office/drawing/2014/main" val="2378357296"/>
                    </a:ext>
                  </a:extLst>
                </a:gridCol>
                <a:gridCol w="1168389">
                  <a:extLst>
                    <a:ext uri="{9D8B030D-6E8A-4147-A177-3AD203B41FA5}">
                      <a16:colId xmlns:a16="http://schemas.microsoft.com/office/drawing/2014/main" val="2324976822"/>
                    </a:ext>
                  </a:extLst>
                </a:gridCol>
                <a:gridCol w="1893539">
                  <a:extLst>
                    <a:ext uri="{9D8B030D-6E8A-4147-A177-3AD203B41FA5}">
                      <a16:colId xmlns:a16="http://schemas.microsoft.com/office/drawing/2014/main" val="2700009972"/>
                    </a:ext>
                  </a:extLst>
                </a:gridCol>
                <a:gridCol w="1483590">
                  <a:extLst>
                    <a:ext uri="{9D8B030D-6E8A-4147-A177-3AD203B41FA5}">
                      <a16:colId xmlns:a16="http://schemas.microsoft.com/office/drawing/2014/main" val="3104546317"/>
                    </a:ext>
                  </a:extLst>
                </a:gridCol>
                <a:gridCol w="1423471">
                  <a:extLst>
                    <a:ext uri="{9D8B030D-6E8A-4147-A177-3AD203B41FA5}">
                      <a16:colId xmlns:a16="http://schemas.microsoft.com/office/drawing/2014/main" val="1420603802"/>
                    </a:ext>
                  </a:extLst>
                </a:gridCol>
                <a:gridCol w="2008392">
                  <a:extLst>
                    <a:ext uri="{9D8B030D-6E8A-4147-A177-3AD203B41FA5}">
                      <a16:colId xmlns:a16="http://schemas.microsoft.com/office/drawing/2014/main" val="2515648016"/>
                    </a:ext>
                  </a:extLst>
                </a:gridCol>
              </a:tblGrid>
              <a:tr h="277765">
                <a:tc>
                  <a:txBody>
                    <a:bodyPr/>
                    <a:lstStyle/>
                    <a:p>
                      <a:pPr algn="ctr" fontAlgn="b">
                        <a:buNone/>
                      </a:pPr>
                      <a:r>
                        <a:rPr lang="en-US" sz="1000" b="1" u="none" strike="noStrike" dirty="0">
                          <a:solidFill>
                            <a:srgbClr val="65B4E5"/>
                          </a:solidFill>
                          <a:effectLst/>
                          <a:latin typeface="Tenorite" panose="00000500000000000000" pitchFamily="2" charset="0"/>
                        </a:rPr>
                        <a:t>SNO.</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kern="1200" dirty="0">
                          <a:solidFill>
                            <a:srgbClr val="65B4E5"/>
                          </a:solidFill>
                          <a:effectLst/>
                          <a:latin typeface="Tenorite" panose="00000500000000000000" pitchFamily="2" charset="0"/>
                          <a:ea typeface="+mn-ea"/>
                          <a:cs typeface="+mn-cs"/>
                        </a:rPr>
                        <a:t>ASSIGNEE</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kern="1200" dirty="0">
                          <a:solidFill>
                            <a:srgbClr val="65B4E5"/>
                          </a:solidFill>
                          <a:effectLst/>
                          <a:latin typeface="Tenorite" panose="00000500000000000000" pitchFamily="2" charset="0"/>
                          <a:ea typeface="+mn-ea"/>
                          <a:cs typeface="+mn-cs"/>
                        </a:rPr>
                        <a:t>REVENUE</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COUNTRY</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TYPE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ASSIGNEE’S WEBSITE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ASSIGNEE’S LINKEDIN</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KEY PERSON - LINKEDIN PROFILE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3751671"/>
                  </a:ext>
                </a:extLst>
              </a:tr>
              <a:tr h="746804">
                <a:tc>
                  <a:txBody>
                    <a:bodyPr/>
                    <a:lstStyle/>
                    <a:p>
                      <a:pPr algn="ctr" fontAlgn="b">
                        <a:buNone/>
                      </a:pPr>
                      <a:r>
                        <a:rPr lang="en-US" sz="1000" b="0" i="0" u="none" strike="noStrike" dirty="0">
                          <a:solidFill>
                            <a:srgbClr val="000000"/>
                          </a:solidFill>
                          <a:effectLst/>
                          <a:latin typeface="Tenorite" panose="00000500000000000000" pitchFamily="2" charset="0"/>
                        </a:rPr>
                        <a:t>6</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CURRENT SURGICAL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2" tooltip="Click to view"/>
                        </a:rPr>
                        <a:t>$6M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USA</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AI-driven healthcare company</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3" tooltip="Click to view"/>
                        </a:rPr>
                        <a:t>Current Surgical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4" tooltip="Click to view"/>
                        </a:rPr>
                        <a:t>Current Surgical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5" tooltip="Click to view"/>
                        </a:rPr>
                        <a:t>Christopher Wagner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1661377"/>
                  </a:ext>
                </a:extLst>
              </a:tr>
              <a:tr h="746804">
                <a:tc>
                  <a:txBody>
                    <a:bodyPr/>
                    <a:lstStyle/>
                    <a:p>
                      <a:pPr algn="ctr" fontAlgn="b">
                        <a:buNone/>
                      </a:pPr>
                      <a:r>
                        <a:rPr lang="en-US" sz="1000" b="0" i="0" u="none" strike="noStrike" dirty="0">
                          <a:solidFill>
                            <a:srgbClr val="000000"/>
                          </a:solidFill>
                          <a:effectLst/>
                          <a:latin typeface="Tenorite" panose="00000500000000000000" pitchFamily="2" charset="0"/>
                        </a:rPr>
                        <a:t>7</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FOCAL MEDICAL TECH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746B50"/>
                          </a:solidFill>
                          <a:effectLst/>
                          <a:uLnTx/>
                          <a:uFillTx/>
                          <a:latin typeface="Tenorite" panose="00000500000000000000" pitchFamily="2" charset="0"/>
                          <a:ea typeface="+mn-ea"/>
                          <a:cs typeface="+mn-cs"/>
                        </a:rPr>
                        <a:t>-</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Israel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6" tooltip="Click to view"/>
                        </a:rPr>
                        <a:t>Focal Medical Tech</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7" tooltip="Click to view"/>
                        </a:rPr>
                        <a:t>FOCAL MEDICAL TECH </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000" b="0" i="0" u="sng" strike="noStrike" dirty="0">
                          <a:solidFill>
                            <a:srgbClr val="0563C1"/>
                          </a:solidFill>
                          <a:effectLst/>
                          <a:latin typeface="Tenorite" panose="00000500000000000000" pitchFamily="2" charset="0"/>
                          <a:hlinkClick r:id="rId8" tooltip="Click to view"/>
                        </a:rPr>
                        <a:t>Dr. Adrian Paz, MD | LinkedIn</a:t>
                      </a:r>
                      <a:endParaRPr lang="pt-BR"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051208"/>
                  </a:ext>
                </a:extLst>
              </a:tr>
              <a:tr h="746804">
                <a:tc>
                  <a:txBody>
                    <a:bodyPr/>
                    <a:lstStyle/>
                    <a:p>
                      <a:pPr algn="ctr" fontAlgn="b">
                        <a:buNone/>
                      </a:pPr>
                      <a:r>
                        <a:rPr lang="en-US" sz="1000" b="0" i="0" u="none" strike="noStrike" dirty="0">
                          <a:solidFill>
                            <a:srgbClr val="000000"/>
                          </a:solidFill>
                          <a:effectLst/>
                          <a:latin typeface="Tenorite" panose="00000500000000000000" pitchFamily="2" charset="0"/>
                        </a:rPr>
                        <a:t>8</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HEPTA MEDICAL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9" tooltip="Click to view"/>
                        </a:rPr>
                        <a:t>$5.2M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France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0" tooltip="Click to view"/>
                        </a:rPr>
                        <a:t>Hepta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1" tooltip="Click to view"/>
                        </a:rPr>
                        <a:t>Hepta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2" tooltip="Click to view"/>
                        </a:rPr>
                        <a:t>Thomas Bancel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509972"/>
                  </a:ext>
                </a:extLst>
              </a:tr>
              <a:tr h="746804">
                <a:tc>
                  <a:txBody>
                    <a:bodyPr/>
                    <a:lstStyle/>
                    <a:p>
                      <a:pPr algn="ctr" fontAlgn="b">
                        <a:buNone/>
                      </a:pPr>
                      <a:r>
                        <a:rPr lang="en-US" sz="1000" b="0" i="0" u="none" strike="noStrike" dirty="0">
                          <a:solidFill>
                            <a:srgbClr val="000000"/>
                          </a:solidFill>
                          <a:effectLst/>
                          <a:latin typeface="Tenorite" panose="00000500000000000000" pitchFamily="2" charset="0"/>
                        </a:rPr>
                        <a:t>9</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HILLIUM MEDICAL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746B50"/>
                          </a:solidFill>
                          <a:effectLst/>
                          <a:uLnTx/>
                          <a:uFillTx/>
                          <a:latin typeface="Tenorite" panose="00000500000000000000" pitchFamily="2" charset="0"/>
                          <a:ea typeface="+mn-ea"/>
                          <a:cs typeface="+mn-cs"/>
                        </a:rPr>
                        <a:t>-</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Israel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3" tooltip="Click to view"/>
                        </a:rPr>
                        <a:t>Hillium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4" tooltip="Click to view"/>
                        </a:rPr>
                        <a:t>Hillium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5" tooltip="Click to view"/>
                        </a:rPr>
                        <a:t>Ran Sela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685895"/>
                  </a:ext>
                </a:extLst>
              </a:tr>
              <a:tr h="746804">
                <a:tc>
                  <a:txBody>
                    <a:bodyPr/>
                    <a:lstStyle/>
                    <a:p>
                      <a:pPr algn="ctr" fontAlgn="b">
                        <a:buNone/>
                      </a:pPr>
                      <a:r>
                        <a:rPr lang="en-US" sz="1000" b="0" i="0" u="none" strike="noStrike" dirty="0">
                          <a:solidFill>
                            <a:srgbClr val="000000"/>
                          </a:solidFill>
                          <a:effectLst/>
                          <a:latin typeface="Tenorite" panose="00000500000000000000" pitchFamily="2" charset="0"/>
                        </a:rPr>
                        <a:t>10</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LUMA VISION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6" tooltip="Click to view"/>
                        </a:rPr>
                        <a:t>$30M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Ireland</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7" tooltip="Click to view"/>
                        </a:rPr>
                        <a:t>Luma Vision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8" tooltip="Click to view"/>
                        </a:rPr>
                        <a:t>Luma Vision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9" tooltip="Click to view"/>
                        </a:rPr>
                        <a:t>Christoph Hennersperger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76123"/>
                  </a:ext>
                </a:extLst>
              </a:tr>
              <a:tr h="746804">
                <a:tc>
                  <a:txBody>
                    <a:bodyPr/>
                    <a:lstStyle/>
                    <a:p>
                      <a:pPr algn="ctr" fontAlgn="b">
                        <a:buNone/>
                      </a:pPr>
                      <a:r>
                        <a:rPr lang="en-US" sz="1000" b="0" i="0" u="none" strike="noStrike" dirty="0">
                          <a:solidFill>
                            <a:srgbClr val="000000"/>
                          </a:solidFill>
                          <a:effectLst/>
                          <a:latin typeface="Tenorite" panose="00000500000000000000" pitchFamily="2" charset="0"/>
                        </a:rPr>
                        <a:t>11</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ZIDAN MEDICAL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20" tooltip="Click to view"/>
                        </a:rPr>
                        <a:t>$7M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USA</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21" tooltip="Click to view"/>
                        </a:rPr>
                        <a:t>Zidan Medical </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22" tooltip="Click to view"/>
                        </a:rPr>
                        <a:t>Zidan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23" tooltip="Click to view"/>
                        </a:rPr>
                        <a:t>Shashank Raina, Ph.D.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8065186"/>
                  </a:ext>
                </a:extLst>
              </a:tr>
            </a:tbl>
          </a:graphicData>
        </a:graphic>
      </p:graphicFrame>
      <p:sp>
        <p:nvSpPr>
          <p:cNvPr id="8" name="TextBox 7">
            <a:extLst>
              <a:ext uri="{FF2B5EF4-FFF2-40B4-BE49-F238E27FC236}">
                <a16:creationId xmlns:a16="http://schemas.microsoft.com/office/drawing/2014/main" id="{68A573BB-4D9A-2F82-BBD1-90D1CCE830D7}"/>
              </a:ext>
            </a:extLst>
          </p:cNvPr>
          <p:cNvSpPr txBox="1"/>
          <p:nvPr/>
        </p:nvSpPr>
        <p:spPr>
          <a:xfrm>
            <a:off x="526487" y="6038255"/>
            <a:ext cx="4137249" cy="238527"/>
          </a:xfrm>
          <a:prstGeom prst="rect">
            <a:avLst/>
          </a:prstGeom>
          <a:noFill/>
        </p:spPr>
        <p:txBody>
          <a:bodyPr wrap="square" rtlCol="0">
            <a:spAutoFit/>
          </a:bodyPr>
          <a:lstStyle/>
          <a:p>
            <a:r>
              <a:rPr lang="en-US" sz="950" b="1"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Note: </a:t>
            </a:r>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only considered the Non-Chinese players.</a:t>
            </a:r>
            <a:endParaRPr lang="en-IN"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9" name="Slide Number Placeholder 5">
            <a:extLst>
              <a:ext uri="{FF2B5EF4-FFF2-40B4-BE49-F238E27FC236}">
                <a16:creationId xmlns:a16="http://schemas.microsoft.com/office/drawing/2014/main" id="{A293D1AB-5D79-56F3-CC6C-A45F500FFA2C}"/>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8</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10" name="TextBox 9">
            <a:hlinkClick r:id="rId24" action="ppaction://hlinksldjump"/>
            <a:extLst>
              <a:ext uri="{FF2B5EF4-FFF2-40B4-BE49-F238E27FC236}">
                <a16:creationId xmlns:a16="http://schemas.microsoft.com/office/drawing/2014/main" id="{D2CFA835-6268-F633-0B31-E75A90430714}"/>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217624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74731-D64C-1839-5D1A-94372AB201A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2E811AF-5A69-DE15-F5B0-725C4FAC3159}"/>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NOTABLE PLAYERS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Start-ups (3/3)</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D34E712-CB5E-6942-E6B5-6E11A5FEF944}"/>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provides details on different start-ups active in the domain.</a:t>
            </a:r>
          </a:p>
        </p:txBody>
      </p:sp>
      <p:sp>
        <p:nvSpPr>
          <p:cNvPr id="2" name="TextBox 1">
            <a:extLst>
              <a:ext uri="{FF2B5EF4-FFF2-40B4-BE49-F238E27FC236}">
                <a16:creationId xmlns:a16="http://schemas.microsoft.com/office/drawing/2014/main" id="{71F56E6B-0064-A496-3C70-78863B0E2FA5}"/>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7FBF4DC2-33B7-5529-F62C-D7D1036D7D8B}"/>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4" name="Table 3">
            <a:extLst>
              <a:ext uri="{FF2B5EF4-FFF2-40B4-BE49-F238E27FC236}">
                <a16:creationId xmlns:a16="http://schemas.microsoft.com/office/drawing/2014/main" id="{E7D89A07-E0FC-ED21-CFB2-337A812C650B}"/>
              </a:ext>
            </a:extLst>
          </p:cNvPr>
          <p:cNvGraphicFramePr>
            <a:graphicFrameLocks noGrp="1"/>
          </p:cNvGraphicFramePr>
          <p:nvPr>
            <p:extLst>
              <p:ext uri="{D42A27DB-BD31-4B8C-83A1-F6EECF244321}">
                <p14:modId xmlns:p14="http://schemas.microsoft.com/office/powerpoint/2010/main" val="925678393"/>
              </p:ext>
            </p:extLst>
          </p:nvPr>
        </p:nvGraphicFramePr>
        <p:xfrm>
          <a:off x="658813" y="1196974"/>
          <a:ext cx="10925379" cy="4943006"/>
        </p:xfrm>
        <a:graphic>
          <a:graphicData uri="http://schemas.openxmlformats.org/drawingml/2006/table">
            <a:tbl>
              <a:tblPr>
                <a:tableStyleId>{5940675A-B579-460E-94D1-54222C63F5DA}</a:tableStyleId>
              </a:tblPr>
              <a:tblGrid>
                <a:gridCol w="692729">
                  <a:extLst>
                    <a:ext uri="{9D8B030D-6E8A-4147-A177-3AD203B41FA5}">
                      <a16:colId xmlns:a16="http://schemas.microsoft.com/office/drawing/2014/main" val="1851505432"/>
                    </a:ext>
                  </a:extLst>
                </a:gridCol>
                <a:gridCol w="1571676">
                  <a:extLst>
                    <a:ext uri="{9D8B030D-6E8A-4147-A177-3AD203B41FA5}">
                      <a16:colId xmlns:a16="http://schemas.microsoft.com/office/drawing/2014/main" val="818216316"/>
                    </a:ext>
                  </a:extLst>
                </a:gridCol>
                <a:gridCol w="683593">
                  <a:extLst>
                    <a:ext uri="{9D8B030D-6E8A-4147-A177-3AD203B41FA5}">
                      <a16:colId xmlns:a16="http://schemas.microsoft.com/office/drawing/2014/main" val="2378357296"/>
                    </a:ext>
                  </a:extLst>
                </a:gridCol>
                <a:gridCol w="1168389">
                  <a:extLst>
                    <a:ext uri="{9D8B030D-6E8A-4147-A177-3AD203B41FA5}">
                      <a16:colId xmlns:a16="http://schemas.microsoft.com/office/drawing/2014/main" val="2324976822"/>
                    </a:ext>
                  </a:extLst>
                </a:gridCol>
                <a:gridCol w="1893539">
                  <a:extLst>
                    <a:ext uri="{9D8B030D-6E8A-4147-A177-3AD203B41FA5}">
                      <a16:colId xmlns:a16="http://schemas.microsoft.com/office/drawing/2014/main" val="2700009972"/>
                    </a:ext>
                  </a:extLst>
                </a:gridCol>
                <a:gridCol w="1483590">
                  <a:extLst>
                    <a:ext uri="{9D8B030D-6E8A-4147-A177-3AD203B41FA5}">
                      <a16:colId xmlns:a16="http://schemas.microsoft.com/office/drawing/2014/main" val="3104546317"/>
                    </a:ext>
                  </a:extLst>
                </a:gridCol>
                <a:gridCol w="1423471">
                  <a:extLst>
                    <a:ext uri="{9D8B030D-6E8A-4147-A177-3AD203B41FA5}">
                      <a16:colId xmlns:a16="http://schemas.microsoft.com/office/drawing/2014/main" val="1420603802"/>
                    </a:ext>
                  </a:extLst>
                </a:gridCol>
                <a:gridCol w="2008392">
                  <a:extLst>
                    <a:ext uri="{9D8B030D-6E8A-4147-A177-3AD203B41FA5}">
                      <a16:colId xmlns:a16="http://schemas.microsoft.com/office/drawing/2014/main" val="2515648016"/>
                    </a:ext>
                  </a:extLst>
                </a:gridCol>
              </a:tblGrid>
              <a:tr h="288530">
                <a:tc>
                  <a:txBody>
                    <a:bodyPr/>
                    <a:lstStyle/>
                    <a:p>
                      <a:pPr algn="ctr" fontAlgn="b">
                        <a:buNone/>
                      </a:pPr>
                      <a:r>
                        <a:rPr lang="en-US" sz="1000" b="1" u="none" strike="noStrike" dirty="0">
                          <a:solidFill>
                            <a:srgbClr val="65B4E5"/>
                          </a:solidFill>
                          <a:effectLst/>
                          <a:latin typeface="Tenorite" panose="00000500000000000000" pitchFamily="2" charset="0"/>
                        </a:rPr>
                        <a:t>SNO.</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kern="1200" dirty="0">
                          <a:solidFill>
                            <a:srgbClr val="65B4E5"/>
                          </a:solidFill>
                          <a:effectLst/>
                          <a:latin typeface="Tenorite" panose="00000500000000000000" pitchFamily="2" charset="0"/>
                          <a:ea typeface="+mn-ea"/>
                          <a:cs typeface="+mn-cs"/>
                        </a:rPr>
                        <a:t>ASSIGNEE</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kern="1200" dirty="0">
                          <a:solidFill>
                            <a:srgbClr val="65B4E5"/>
                          </a:solidFill>
                          <a:effectLst/>
                          <a:latin typeface="Tenorite" panose="00000500000000000000" pitchFamily="2" charset="0"/>
                          <a:ea typeface="+mn-ea"/>
                          <a:cs typeface="+mn-cs"/>
                        </a:rPr>
                        <a:t>REVENUE</a:t>
                      </a: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COUNTRY</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TYPE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ASSIGNEE’S WEBSITE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ASSIGNEE’S LINKEDIN</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dirty="0">
                          <a:solidFill>
                            <a:srgbClr val="65B4E5"/>
                          </a:solidFill>
                          <a:effectLst/>
                          <a:latin typeface="Tenorite" panose="00000500000000000000" pitchFamily="2" charset="0"/>
                        </a:rPr>
                        <a:t>KEY PERSON - LINKEDIN PROFILE</a:t>
                      </a:r>
                      <a:endParaRPr lang="en-US" sz="1000" b="1" i="0" u="none" strike="noStrike" dirty="0">
                        <a:solidFill>
                          <a:srgbClr val="65B4E5"/>
                        </a:solidFill>
                        <a:effectLst/>
                        <a:latin typeface="Tenorite" panose="00000500000000000000" pitchFamily="2" charset="0"/>
                      </a:endParaRPr>
                    </a:p>
                  </a:txBody>
                  <a:tcPr marL="3816" marR="3816" marT="3816" marB="0" anchor="ctr">
                    <a:lnL w="12700" cap="flat" cmpd="sng" algn="ctr">
                      <a:solidFill>
                        <a:schemeClr val="bg1">
                          <a:lumMod val="65000"/>
                        </a:schemeClr>
                      </a:solidFill>
                      <a:prstDash val="solid"/>
                      <a:round/>
                      <a:headEnd type="none" w="med" len="med"/>
                      <a:tailEnd type="none" w="med" len="med"/>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3751671"/>
                  </a:ext>
                </a:extLst>
              </a:tr>
              <a:tr h="775746">
                <a:tc>
                  <a:txBody>
                    <a:bodyPr/>
                    <a:lstStyle/>
                    <a:p>
                      <a:pPr algn="ctr" fontAlgn="b">
                        <a:buNone/>
                      </a:pPr>
                      <a:r>
                        <a:rPr lang="en-US" sz="1000" b="0" i="0" u="none" strike="noStrike" dirty="0">
                          <a:solidFill>
                            <a:srgbClr val="000000"/>
                          </a:solidFill>
                          <a:effectLst/>
                          <a:latin typeface="Tenorite" panose="00000500000000000000" pitchFamily="2" charset="0"/>
                        </a:rPr>
                        <a:t>12</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MAXOVARY23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746B50"/>
                          </a:solidFill>
                          <a:effectLst/>
                          <a:uLnTx/>
                          <a:uFillTx/>
                          <a:latin typeface="Tenorite" panose="00000500000000000000" pitchFamily="2" charset="0"/>
                          <a:ea typeface="+mn-ea"/>
                          <a:cs typeface="+mn-cs"/>
                        </a:rPr>
                        <a:t>-</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Israel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1" u="none" strike="noStrike" kern="1200" dirty="0">
                          <a:solidFill>
                            <a:srgbClr val="746B50"/>
                          </a:solidFill>
                          <a:effectLst/>
                          <a:latin typeface="Tenorite" panose="00000500000000000000" pitchFamily="2" charset="0"/>
                          <a:ea typeface="+mn-ea"/>
                          <a:cs typeface="+mn-cs"/>
                        </a:rPr>
                        <a:t>-</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2" tooltip="Click to view"/>
                        </a:rPr>
                        <a:t>MAXOVARY </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3" tooltip="Click to view"/>
                        </a:rPr>
                        <a:t>Eytan Frey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1661377"/>
                  </a:ext>
                </a:extLst>
              </a:tr>
              <a:tr h="775746">
                <a:tc>
                  <a:txBody>
                    <a:bodyPr/>
                    <a:lstStyle/>
                    <a:p>
                      <a:pPr algn="ctr" fontAlgn="b">
                        <a:buNone/>
                      </a:pPr>
                      <a:r>
                        <a:rPr lang="en-US" sz="1000" b="0" i="0" u="none" strike="noStrike" dirty="0">
                          <a:solidFill>
                            <a:srgbClr val="000000"/>
                          </a:solidFill>
                          <a:effectLst/>
                          <a:latin typeface="Tenorite" panose="00000500000000000000" pitchFamily="2" charset="0"/>
                        </a:rPr>
                        <a:t>13</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ORCHARD ULTRASOUND INNOVATION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4" tooltip="Click to view"/>
                        </a:rPr>
                        <a:t>&lt;$5M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USA</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Research &amp; development</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5" tooltip="Click to view"/>
                        </a:rPr>
                        <a:t>Orchard Ultrasound Innovation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6" tooltip="Click to view"/>
                        </a:rPr>
                        <a:t>Orchard Ultrasound Innovation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7" tooltip="Click to view"/>
                        </a:rPr>
                        <a:t>Paul K.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051208"/>
                  </a:ext>
                </a:extLst>
              </a:tr>
              <a:tr h="775746">
                <a:tc>
                  <a:txBody>
                    <a:bodyPr/>
                    <a:lstStyle/>
                    <a:p>
                      <a:pPr algn="ctr" fontAlgn="b">
                        <a:buNone/>
                      </a:pPr>
                      <a:r>
                        <a:rPr lang="en-US" sz="1000" b="0" i="0" u="none" strike="noStrike" dirty="0">
                          <a:solidFill>
                            <a:srgbClr val="000000"/>
                          </a:solidFill>
                          <a:effectLst/>
                          <a:latin typeface="Tenorite" panose="00000500000000000000" pitchFamily="2" charset="0"/>
                        </a:rPr>
                        <a:t>14</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SENOGUARD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746B50"/>
                          </a:solidFill>
                          <a:effectLst/>
                          <a:uLnTx/>
                          <a:uFillTx/>
                          <a:latin typeface="Tenorite" panose="00000500000000000000" pitchFamily="2" charset="0"/>
                          <a:ea typeface="+mn-ea"/>
                          <a:cs typeface="+mn-cs"/>
                        </a:rPr>
                        <a:t>-</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Israel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8" tooltip="Click to view"/>
                        </a:rPr>
                        <a:t>Senoguard</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9" tooltip="Click to view"/>
                        </a:rPr>
                        <a:t>Senoguard</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0" tooltip="Click to view"/>
                        </a:rPr>
                        <a:t>Diana Tucker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509972"/>
                  </a:ext>
                </a:extLst>
              </a:tr>
              <a:tr h="775746">
                <a:tc>
                  <a:txBody>
                    <a:bodyPr/>
                    <a:lstStyle/>
                    <a:p>
                      <a:pPr algn="ctr" fontAlgn="b">
                        <a:buNone/>
                      </a:pPr>
                      <a:r>
                        <a:rPr lang="en-US" sz="1000" b="0" i="0" u="none" strike="noStrike" dirty="0">
                          <a:solidFill>
                            <a:srgbClr val="000000"/>
                          </a:solidFill>
                          <a:effectLst/>
                          <a:latin typeface="Tenorite" panose="00000500000000000000" pitchFamily="2" charset="0"/>
                        </a:rPr>
                        <a:t>15</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SENSOME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1" tooltip="Click to view"/>
                        </a:rPr>
                        <a:t>$13M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France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enorite" panose="00000500000000000000" pitchFamily="2" charset="0"/>
                          <a:ea typeface="+mn-ea"/>
                          <a:cs typeface="+mn-cs"/>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2" tooltip="Click to view"/>
                        </a:rPr>
                        <a:t>Sensome</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3" tooltip="Click to view"/>
                        </a:rPr>
                        <a:t>Sensome</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4" tooltip="Click to view"/>
                        </a:rPr>
                        <a:t>Brian Burg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3685895"/>
                  </a:ext>
                </a:extLst>
              </a:tr>
              <a:tr h="775746">
                <a:tc>
                  <a:txBody>
                    <a:bodyPr/>
                    <a:lstStyle/>
                    <a:p>
                      <a:pPr algn="ctr" fontAlgn="b">
                        <a:buNone/>
                      </a:pPr>
                      <a:r>
                        <a:rPr lang="en-US" sz="1000" b="0" i="0" u="none" strike="noStrike" dirty="0">
                          <a:solidFill>
                            <a:srgbClr val="000000"/>
                          </a:solidFill>
                          <a:effectLst/>
                          <a:latin typeface="Tenorite" panose="00000500000000000000" pitchFamily="2" charset="0"/>
                        </a:rPr>
                        <a:t>16</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Snipe Medical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Israel</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none" strike="noStrike" dirty="0">
                          <a:solidFill>
                            <a:srgbClr val="000000"/>
                          </a:solidFill>
                          <a:effectLst/>
                          <a:latin typeface="Tenorite" panose="00000500000000000000" pitchFamily="2" charset="0"/>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5" tooltip="Click to view"/>
                        </a:rPr>
                        <a:t>Snipe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6" tooltip="Click to view"/>
                        </a:rPr>
                        <a:t>Snipe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7" tooltip="Click to view"/>
                        </a:rPr>
                        <a:t>Ben Omri </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6076123"/>
                  </a:ext>
                </a:extLst>
              </a:tr>
              <a:tr h="775746">
                <a:tc>
                  <a:txBody>
                    <a:bodyPr/>
                    <a:lstStyle/>
                    <a:p>
                      <a:pPr algn="ctr" fontAlgn="b">
                        <a:buNone/>
                      </a:pPr>
                      <a:r>
                        <a:rPr lang="en-US" sz="1000" b="0" i="0" u="none" strike="noStrike" dirty="0">
                          <a:solidFill>
                            <a:srgbClr val="000000"/>
                          </a:solidFill>
                          <a:effectLst/>
                          <a:latin typeface="Tenorite" panose="00000500000000000000" pitchFamily="2" charset="0"/>
                        </a:rPr>
                        <a:t>17</a:t>
                      </a:r>
                    </a:p>
                  </a:txBody>
                  <a:tcPr marL="3816" marR="3816" marT="3816"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Tenorite" panose="00000500000000000000" pitchFamily="2" charset="0"/>
                        </a:rPr>
                        <a:t>STEER MEDICAL </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18" tooltip="Click to view"/>
                        </a:rPr>
                        <a:t>&lt;$5M</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Canada</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none" strike="noStrike" dirty="0">
                          <a:solidFill>
                            <a:srgbClr val="000000"/>
                          </a:solidFill>
                          <a:effectLst/>
                          <a:latin typeface="Tenorite" panose="00000500000000000000" pitchFamily="2" charset="0"/>
                        </a:rPr>
                        <a:t>Medical and Healthcare</a:t>
                      </a: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19" tooltip="Click to view"/>
                        </a:rPr>
                        <a:t>Steer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buNone/>
                      </a:pPr>
                      <a:r>
                        <a:rPr lang="en-US" sz="1000" b="0" i="0" u="sng" strike="noStrike" dirty="0">
                          <a:solidFill>
                            <a:srgbClr val="0563C1"/>
                          </a:solidFill>
                          <a:effectLst/>
                          <a:latin typeface="Tenorite" panose="00000500000000000000" pitchFamily="2" charset="0"/>
                          <a:hlinkClick r:id="rId20" tooltip="Click to view"/>
                        </a:rPr>
                        <a:t>Steer Medical</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000" b="0" i="0" u="sng" strike="noStrike" dirty="0">
                          <a:solidFill>
                            <a:srgbClr val="0563C1"/>
                          </a:solidFill>
                          <a:effectLst/>
                          <a:latin typeface="Tenorite" panose="00000500000000000000" pitchFamily="2" charset="0"/>
                          <a:hlinkClick r:id="rId21"/>
                        </a:rPr>
                        <a:t>michael J froncioni | LinkedIn</a:t>
                      </a:r>
                      <a:endParaRPr lang="en-US" sz="1000" b="0" i="0" u="sng" strike="noStrike" dirty="0">
                        <a:solidFill>
                          <a:srgbClr val="0563C1"/>
                        </a:solidFill>
                        <a:effectLst/>
                        <a:latin typeface="Tenorite" panose="00000500000000000000" pitchFamily="2" charset="0"/>
                      </a:endParaRPr>
                    </a:p>
                  </a:txBody>
                  <a:tcPr marL="6350" marR="6350" marT="6350" marB="0" anchor="ctr">
                    <a:lnL w="12700" cap="flat" cmpd="sng" algn="ctr">
                      <a:solidFill>
                        <a:schemeClr val="bg1">
                          <a:lumMod val="65000"/>
                        </a:schemeClr>
                      </a:solidFill>
                      <a:prstDash val="solid"/>
                      <a:round/>
                      <a:headEnd type="none" w="med" len="med"/>
                      <a:tailEnd type="none" w="med" len="med"/>
                    </a:lnL>
                    <a:lnR w="12700" cmpd="sng">
                      <a:noFill/>
                    </a:lnR>
                    <a:lnT w="1270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8065186"/>
                  </a:ext>
                </a:extLst>
              </a:tr>
            </a:tbl>
          </a:graphicData>
        </a:graphic>
      </p:graphicFrame>
      <p:sp>
        <p:nvSpPr>
          <p:cNvPr id="3" name="TextBox 2">
            <a:extLst>
              <a:ext uri="{FF2B5EF4-FFF2-40B4-BE49-F238E27FC236}">
                <a16:creationId xmlns:a16="http://schemas.microsoft.com/office/drawing/2014/main" id="{737369A8-8FB8-0798-9751-CD6FBF207E14}"/>
              </a:ext>
            </a:extLst>
          </p:cNvPr>
          <p:cNvSpPr txBox="1"/>
          <p:nvPr/>
        </p:nvSpPr>
        <p:spPr>
          <a:xfrm>
            <a:off x="377190" y="6195282"/>
            <a:ext cx="4137249" cy="238527"/>
          </a:xfrm>
          <a:prstGeom prst="rect">
            <a:avLst/>
          </a:prstGeom>
          <a:noFill/>
        </p:spPr>
        <p:txBody>
          <a:bodyPr wrap="square" rtlCol="0">
            <a:spAutoFit/>
          </a:bodyPr>
          <a:lstStyle/>
          <a:p>
            <a:r>
              <a:rPr lang="en-US" sz="950" b="1"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Note: </a:t>
            </a:r>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only considered the Non-Chinese players.</a:t>
            </a:r>
            <a:endParaRPr lang="en-IN"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8" name="Slide Number Placeholder 5">
            <a:extLst>
              <a:ext uri="{FF2B5EF4-FFF2-40B4-BE49-F238E27FC236}">
                <a16:creationId xmlns:a16="http://schemas.microsoft.com/office/drawing/2014/main" id="{AB7E77C7-FC2E-FBEA-BC60-B050C4117B49}"/>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9</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9" name="TextBox 8">
            <a:hlinkClick r:id="rId22" action="ppaction://hlinksldjump"/>
            <a:extLst>
              <a:ext uri="{FF2B5EF4-FFF2-40B4-BE49-F238E27FC236}">
                <a16:creationId xmlns:a16="http://schemas.microsoft.com/office/drawing/2014/main" id="{4398715D-61F9-9465-3F28-A9C6A63F0C58}"/>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731107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8C82-0F98-502C-7C58-1D35BDA491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F564E5-C073-3EAF-76A3-131FC52C4DDC}"/>
              </a:ext>
            </a:extLst>
          </p:cNvPr>
          <p:cNvSpPr>
            <a:spLocks noGrp="1"/>
          </p:cNvSpPr>
          <p:nvPr>
            <p:ph type="title"/>
          </p:nvPr>
        </p:nvSpPr>
        <p:spPr>
          <a:xfrm>
            <a:off x="674813" y="2990756"/>
            <a:ext cx="8685087" cy="693035"/>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INNOVATION &amp; TECHNOLOGY TREND</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892D975-9ED6-C03E-944E-4339BE7A4486}"/>
              </a:ext>
            </a:extLst>
          </p:cNvPr>
          <p:cNvSpPr txBox="1"/>
          <p:nvPr/>
        </p:nvSpPr>
        <p:spPr>
          <a:xfrm>
            <a:off x="674813" y="3811025"/>
            <a:ext cx="11247403" cy="276999"/>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Subsequent slides include technology trend related insights</a:t>
            </a:r>
          </a:p>
        </p:txBody>
      </p:sp>
      <p:sp>
        <p:nvSpPr>
          <p:cNvPr id="2" name="TextBox 1">
            <a:extLst>
              <a:ext uri="{FF2B5EF4-FFF2-40B4-BE49-F238E27FC236}">
                <a16:creationId xmlns:a16="http://schemas.microsoft.com/office/drawing/2014/main" id="{33CF3C7F-C142-7184-FDB7-6E3822A6A33A}"/>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4589BE29-911D-37D7-F4C4-DAB12D04D607}"/>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3" name="Slide Number Placeholder 5">
            <a:extLst>
              <a:ext uri="{FF2B5EF4-FFF2-40B4-BE49-F238E27FC236}">
                <a16:creationId xmlns:a16="http://schemas.microsoft.com/office/drawing/2014/main" id="{6F776B4B-869C-A3F3-D176-F302E5C540DE}"/>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10</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2" action="ppaction://hlinksldjump"/>
            <a:extLst>
              <a:ext uri="{FF2B5EF4-FFF2-40B4-BE49-F238E27FC236}">
                <a16:creationId xmlns:a16="http://schemas.microsoft.com/office/drawing/2014/main" id="{0E6422AF-ED5E-A833-94AB-48245CFAC8C4}"/>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888172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90A6F-7DBB-760A-6929-27E564F07EDF}"/>
            </a:ext>
          </a:extLst>
        </p:cNvPr>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8868FED0-048A-A58E-BFC2-67D7E0781CD7}"/>
              </a:ext>
            </a:extLst>
          </p:cNvPr>
          <p:cNvGraphicFramePr>
            <a:graphicFrameLocks/>
          </p:cNvGraphicFramePr>
          <p:nvPr/>
        </p:nvGraphicFramePr>
        <p:xfrm>
          <a:off x="283779" y="1082570"/>
          <a:ext cx="10342761" cy="3413234"/>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4">
            <a:extLst>
              <a:ext uri="{FF2B5EF4-FFF2-40B4-BE49-F238E27FC236}">
                <a16:creationId xmlns:a16="http://schemas.microsoft.com/office/drawing/2014/main" id="{34FD87BE-700C-88B0-EE93-C8F675510092}"/>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INNOVATION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Year-wise</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53D0A1A-8544-2A6D-A557-F2D080AEA873}"/>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presents distribution of patent applications by priority year, highlighting innovation trends and filing activity over time.</a:t>
            </a:r>
          </a:p>
        </p:txBody>
      </p:sp>
      <p:sp>
        <p:nvSpPr>
          <p:cNvPr id="2" name="TextBox 1">
            <a:extLst>
              <a:ext uri="{FF2B5EF4-FFF2-40B4-BE49-F238E27FC236}">
                <a16:creationId xmlns:a16="http://schemas.microsoft.com/office/drawing/2014/main" id="{71EF45F6-292E-C806-2F1D-CCF326956CBD}"/>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60AC2A95-C95A-D83E-743A-64EF6D845E2D}"/>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3" name="Chart 2">
            <a:extLst>
              <a:ext uri="{FF2B5EF4-FFF2-40B4-BE49-F238E27FC236}">
                <a16:creationId xmlns:a16="http://schemas.microsoft.com/office/drawing/2014/main" id="{F56A11B9-7992-D840-B137-8BB179F514FE}"/>
              </a:ext>
            </a:extLst>
          </p:cNvPr>
          <p:cNvGraphicFramePr>
            <a:graphicFrameLocks/>
          </p:cNvGraphicFramePr>
          <p:nvPr>
            <p:extLst>
              <p:ext uri="{D42A27DB-BD31-4B8C-83A1-F6EECF244321}">
                <p14:modId xmlns:p14="http://schemas.microsoft.com/office/powerpoint/2010/main" val="1160374330"/>
              </p:ext>
            </p:extLst>
          </p:nvPr>
        </p:nvGraphicFramePr>
        <p:xfrm>
          <a:off x="1219200" y="1554480"/>
          <a:ext cx="10078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0BD65564-2304-9B3B-1388-B6DE661229C6}"/>
              </a:ext>
            </a:extLst>
          </p:cNvPr>
          <p:cNvSpPr txBox="1"/>
          <p:nvPr/>
        </p:nvSpPr>
        <p:spPr>
          <a:xfrm>
            <a:off x="894079" y="4922520"/>
            <a:ext cx="10879811" cy="530915"/>
          </a:xfrm>
          <a:prstGeom prst="rect">
            <a:avLst/>
          </a:prstGeom>
          <a:noFill/>
        </p:spPr>
        <p:txBody>
          <a:bodyPr wrap="square" rtlCol="0">
            <a:spAutoFit/>
          </a:bodyPr>
          <a:lstStyle/>
          <a:p>
            <a:r>
              <a:rPr lang="en-US" sz="950" b="1"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Note: </a:t>
            </a:r>
          </a:p>
          <a:p>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Count indicates the number of unique patent families associated with a particular priority year.</a:t>
            </a:r>
          </a:p>
          <a:p>
            <a:r>
              <a:rPr lang="en-US"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The number of patents/published applications for priority years 2024, 2025, and 2026 may further increase, as some patent applications filed during these years may not yet have been published.</a:t>
            </a:r>
            <a:endParaRPr lang="en-IN" sz="9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B8EDBC2-3A13-AED3-8AAF-A2029873E241}"/>
              </a:ext>
            </a:extLst>
          </p:cNvPr>
          <p:cNvSpPr txBox="1"/>
          <p:nvPr/>
        </p:nvSpPr>
        <p:spPr>
          <a:xfrm>
            <a:off x="910743" y="5573018"/>
            <a:ext cx="10695633" cy="925446"/>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65B4E5"/>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The domain has witnessed consistent patent filing activity, driven by continuous innovations from established companies, start-ups, universities, and research institutions.</a:t>
            </a:r>
            <a:endParaRPr lang="en-US" sz="1250" i="0" u="none" strike="noStrike" dirty="0">
              <a:effectLst/>
              <a:latin typeface="Tenorite" panose="00000500000000000000" pitchFamily="2" charset="0"/>
              <a:ea typeface="Calibri" panose="020F0502020204030204" pitchFamily="34" charset="0"/>
              <a:cs typeface="Calibri" panose="020F0502020204030204" pitchFamily="34" charset="0"/>
            </a:endParaRPr>
          </a:p>
        </p:txBody>
      </p:sp>
      <p:sp>
        <p:nvSpPr>
          <p:cNvPr id="12" name="Slide Number Placeholder 5">
            <a:extLst>
              <a:ext uri="{FF2B5EF4-FFF2-40B4-BE49-F238E27FC236}">
                <a16:creationId xmlns:a16="http://schemas.microsoft.com/office/drawing/2014/main" id="{80F5546C-B838-65F9-452D-11C7B4A66EC0}"/>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11</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13" name="TextBox 12">
            <a:hlinkClick r:id="rId4" action="ppaction://hlinksldjump"/>
            <a:extLst>
              <a:ext uri="{FF2B5EF4-FFF2-40B4-BE49-F238E27FC236}">
                <a16:creationId xmlns:a16="http://schemas.microsoft.com/office/drawing/2014/main" id="{8A0E224C-BBDE-1210-49FF-9359CE64834C}"/>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2963863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99279-FD65-6F5F-D6A8-8D5FCC4CC6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1A6FAE0-F3D5-7C35-FC95-CAAEE633461D}"/>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INNOVATION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Year-wise</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EDD61A1-DF79-3A03-48F7-D0EC6E23DB7E}"/>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presents distribution of patent applications by priority year, highlighting innovation trends and filing activity over time.</a:t>
            </a:r>
          </a:p>
        </p:txBody>
      </p:sp>
      <p:sp>
        <p:nvSpPr>
          <p:cNvPr id="2" name="TextBox 1">
            <a:extLst>
              <a:ext uri="{FF2B5EF4-FFF2-40B4-BE49-F238E27FC236}">
                <a16:creationId xmlns:a16="http://schemas.microsoft.com/office/drawing/2014/main" id="{5F6116FD-E410-FAC3-5343-F02BF5EAB5AC}"/>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5057B632-81CB-EFD3-1E6D-3A9FB6EE391F}"/>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9" name="TextBox 8">
            <a:extLst>
              <a:ext uri="{FF2B5EF4-FFF2-40B4-BE49-F238E27FC236}">
                <a16:creationId xmlns:a16="http://schemas.microsoft.com/office/drawing/2014/main" id="{FEAF765A-B0AB-ADBB-1481-8EB08AF61F20}"/>
              </a:ext>
            </a:extLst>
          </p:cNvPr>
          <p:cNvSpPr txBox="1"/>
          <p:nvPr/>
        </p:nvSpPr>
        <p:spPr>
          <a:xfrm>
            <a:off x="602287" y="1183104"/>
            <a:ext cx="10695633" cy="2079608"/>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The year 2022 recorded the highest number of patent filings, primarily due to active filing activity from key players including Medtronic (8), Shanghai MicroPort EP MedTech (8), and Medlumics (5).</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In recent years, particularly during 2024 and 2025, innovation activity has been driven by medical device/technology companies and universities, including Medtronic (10), Hangzhou Ruidi Biological Technology (6), Nanjing University (5), Shanghai Jiao Tong University (4), Autonomix Medical (3), Nanjing Yigao Medical Technology (3), and Shanghai Golden Leaf Med Tech (3). A significant portion of the recent innovation activity originates from Chinese entities.</a:t>
            </a:r>
          </a:p>
        </p:txBody>
      </p:sp>
      <p:sp>
        <p:nvSpPr>
          <p:cNvPr id="3" name="Slide Number Placeholder 5">
            <a:extLst>
              <a:ext uri="{FF2B5EF4-FFF2-40B4-BE49-F238E27FC236}">
                <a16:creationId xmlns:a16="http://schemas.microsoft.com/office/drawing/2014/main" id="{ACB319E2-CA7B-5463-171C-7CE831FF9117}"/>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12</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4" name="TextBox 3">
            <a:hlinkClick r:id="rId2" action="ppaction://hlinksldjump"/>
            <a:extLst>
              <a:ext uri="{FF2B5EF4-FFF2-40B4-BE49-F238E27FC236}">
                <a16:creationId xmlns:a16="http://schemas.microsoft.com/office/drawing/2014/main" id="{A3D7AD30-2D12-8AD9-CAE8-28C3ABCAE9AA}"/>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80861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2B646-546D-002F-5949-0FBD0749756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D57D34-803E-7EB3-0439-466EA1E8CACC}"/>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INNOVATION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Assignee-wise</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BA4EB5E-CABA-2867-D2CD-C0A5D6531117}"/>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presents assignee-wise patent filing trends across different priority years, highlighting innovation activity and technology development over time.</a:t>
            </a:r>
          </a:p>
        </p:txBody>
      </p:sp>
      <p:sp>
        <p:nvSpPr>
          <p:cNvPr id="2" name="TextBox 1">
            <a:extLst>
              <a:ext uri="{FF2B5EF4-FFF2-40B4-BE49-F238E27FC236}">
                <a16:creationId xmlns:a16="http://schemas.microsoft.com/office/drawing/2014/main" id="{805312FC-C9F0-DDCE-5D8C-DC84522184F8}"/>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650C2710-D88B-043F-649E-3B86242D1942}"/>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11" name="Table 10">
            <a:extLst>
              <a:ext uri="{FF2B5EF4-FFF2-40B4-BE49-F238E27FC236}">
                <a16:creationId xmlns:a16="http://schemas.microsoft.com/office/drawing/2014/main" id="{DF6ABAFF-45C0-186D-1359-16206DF6D3FA}"/>
              </a:ext>
            </a:extLst>
          </p:cNvPr>
          <p:cNvGraphicFramePr>
            <a:graphicFrameLocks noGrp="1"/>
          </p:cNvGraphicFramePr>
          <p:nvPr>
            <p:extLst>
              <p:ext uri="{D42A27DB-BD31-4B8C-83A1-F6EECF244321}">
                <p14:modId xmlns:p14="http://schemas.microsoft.com/office/powerpoint/2010/main" val="1996599353"/>
              </p:ext>
            </p:extLst>
          </p:nvPr>
        </p:nvGraphicFramePr>
        <p:xfrm>
          <a:off x="5307724" y="1380071"/>
          <a:ext cx="5472762" cy="3300946"/>
        </p:xfrm>
        <a:graphic>
          <a:graphicData uri="http://schemas.openxmlformats.org/drawingml/2006/table">
            <a:tbl>
              <a:tblPr/>
              <a:tblGrid>
                <a:gridCol w="912127">
                  <a:extLst>
                    <a:ext uri="{9D8B030D-6E8A-4147-A177-3AD203B41FA5}">
                      <a16:colId xmlns:a16="http://schemas.microsoft.com/office/drawing/2014/main" val="4255331612"/>
                    </a:ext>
                  </a:extLst>
                </a:gridCol>
                <a:gridCol w="912127">
                  <a:extLst>
                    <a:ext uri="{9D8B030D-6E8A-4147-A177-3AD203B41FA5}">
                      <a16:colId xmlns:a16="http://schemas.microsoft.com/office/drawing/2014/main" val="4094525373"/>
                    </a:ext>
                  </a:extLst>
                </a:gridCol>
                <a:gridCol w="912127">
                  <a:extLst>
                    <a:ext uri="{9D8B030D-6E8A-4147-A177-3AD203B41FA5}">
                      <a16:colId xmlns:a16="http://schemas.microsoft.com/office/drawing/2014/main" val="3087474760"/>
                    </a:ext>
                  </a:extLst>
                </a:gridCol>
                <a:gridCol w="912127">
                  <a:extLst>
                    <a:ext uri="{9D8B030D-6E8A-4147-A177-3AD203B41FA5}">
                      <a16:colId xmlns:a16="http://schemas.microsoft.com/office/drawing/2014/main" val="1410500874"/>
                    </a:ext>
                  </a:extLst>
                </a:gridCol>
                <a:gridCol w="912127">
                  <a:extLst>
                    <a:ext uri="{9D8B030D-6E8A-4147-A177-3AD203B41FA5}">
                      <a16:colId xmlns:a16="http://schemas.microsoft.com/office/drawing/2014/main" val="3358857489"/>
                    </a:ext>
                  </a:extLst>
                </a:gridCol>
                <a:gridCol w="912127">
                  <a:extLst>
                    <a:ext uri="{9D8B030D-6E8A-4147-A177-3AD203B41FA5}">
                      <a16:colId xmlns:a16="http://schemas.microsoft.com/office/drawing/2014/main" val="519916312"/>
                    </a:ext>
                  </a:extLst>
                </a:gridCol>
              </a:tblGrid>
              <a:tr h="300086">
                <a:tc>
                  <a:txBody>
                    <a:bodyPr/>
                    <a:lstStyle/>
                    <a:p>
                      <a:pPr algn="ctr" fontAlgn="t">
                        <a:buNone/>
                      </a:pPr>
                      <a:r>
                        <a:rPr lang="en-IN" sz="1200" b="1" i="0" u="none" strike="noStrike" dirty="0">
                          <a:solidFill>
                            <a:schemeClr val="tx1">
                              <a:lumMod val="75000"/>
                              <a:lumOff val="25000"/>
                            </a:schemeClr>
                          </a:solidFill>
                          <a:effectLst/>
                          <a:latin typeface="Tenorite" panose="00000500000000000000" pitchFamily="2" charset="0"/>
                        </a:rPr>
                        <a:t>2020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1" i="0" u="none" strike="noStrike" dirty="0">
                          <a:solidFill>
                            <a:schemeClr val="tx1">
                              <a:lumMod val="75000"/>
                              <a:lumOff val="25000"/>
                            </a:schemeClr>
                          </a:solidFill>
                          <a:effectLst/>
                          <a:latin typeface="Tenorite" panose="00000500000000000000" pitchFamily="2" charset="0"/>
                        </a:rPr>
                        <a:t>2021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1" i="0" u="none" strike="noStrike" dirty="0">
                          <a:solidFill>
                            <a:schemeClr val="tx1">
                              <a:lumMod val="75000"/>
                              <a:lumOff val="25000"/>
                            </a:schemeClr>
                          </a:solidFill>
                          <a:effectLst/>
                          <a:latin typeface="Tenorite" panose="00000500000000000000" pitchFamily="2" charset="0"/>
                        </a:rPr>
                        <a:t>2022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1" i="0" u="none" strike="noStrike" dirty="0">
                          <a:solidFill>
                            <a:schemeClr val="tx1">
                              <a:lumMod val="75000"/>
                              <a:lumOff val="25000"/>
                            </a:schemeClr>
                          </a:solidFill>
                          <a:effectLst/>
                          <a:latin typeface="Tenorite" panose="00000500000000000000" pitchFamily="2" charset="0"/>
                        </a:rPr>
                        <a:t>2023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1" i="0" u="none" strike="noStrike" dirty="0">
                          <a:solidFill>
                            <a:schemeClr val="tx1">
                              <a:lumMod val="75000"/>
                              <a:lumOff val="25000"/>
                            </a:schemeClr>
                          </a:solidFill>
                          <a:effectLst/>
                          <a:latin typeface="Tenorite" panose="00000500000000000000" pitchFamily="2" charset="0"/>
                        </a:rPr>
                        <a:t>2024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1" i="0" u="none" strike="noStrike" dirty="0">
                          <a:solidFill>
                            <a:schemeClr val="tx1">
                              <a:lumMod val="75000"/>
                              <a:lumOff val="25000"/>
                            </a:schemeClr>
                          </a:solidFill>
                          <a:effectLst/>
                          <a:latin typeface="Tenorite" panose="00000500000000000000" pitchFamily="2" charset="0"/>
                        </a:rPr>
                        <a:t>2025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2641919"/>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A8BA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B5C7"/>
                    </a:solidFill>
                  </a:tcPr>
                </a:tc>
                <a:tc>
                  <a:txBody>
                    <a:bodyPr/>
                    <a:lstStyle/>
                    <a:p>
                      <a:pPr algn="ctr" fontAlgn="t">
                        <a:buNone/>
                      </a:pPr>
                      <a:r>
                        <a:rPr lang="en-IN" sz="1200" b="0" i="0" u="none" strike="noStrike" dirty="0">
                          <a:solidFill>
                            <a:schemeClr val="bg1"/>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D4D77"/>
                    </a:solidFill>
                  </a:tcPr>
                </a:tc>
                <a:tc>
                  <a:txBody>
                    <a:bodyPr/>
                    <a:lstStyle/>
                    <a:p>
                      <a:pPr algn="ctr" fontAlgn="t">
                        <a:buNone/>
                      </a:pPr>
                      <a:r>
                        <a:rPr lang="en-IN" sz="1200" b="0" i="0" u="none" strike="noStrike" dirty="0">
                          <a:solidFill>
                            <a:schemeClr val="bg1"/>
                          </a:solidFill>
                          <a:effectLst/>
                          <a:latin typeface="Tenorite" panose="00000500000000000000" pitchFamily="2" charset="0"/>
                        </a:rPr>
                        <a:t>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16287"/>
                    </a:solidFill>
                  </a:tcPr>
                </a:tc>
                <a:tc>
                  <a:txBody>
                    <a:bodyPr/>
                    <a:lstStyle/>
                    <a:p>
                      <a:pPr algn="ctr" fontAlgn="t">
                        <a:buNone/>
                      </a:pPr>
                      <a:r>
                        <a:rPr lang="en-IN" sz="1200" b="0" i="0" u="none" strike="noStrike" dirty="0">
                          <a:solidFill>
                            <a:schemeClr val="bg1"/>
                          </a:solidFill>
                          <a:effectLst/>
                          <a:latin typeface="Tenorite" panose="00000500000000000000" pitchFamily="2" charset="0"/>
                        </a:rPr>
                        <a:t>10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4235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480977"/>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B5C7"/>
                    </a:solidFill>
                  </a:tcPr>
                </a:tc>
                <a:tc>
                  <a:txBody>
                    <a:bodyPr/>
                    <a:lstStyle/>
                    <a:p>
                      <a:pPr algn="ctr" fontAlgn="t">
                        <a:buNone/>
                      </a:pPr>
                      <a:r>
                        <a:rPr lang="en-IN" sz="1200" b="0" i="0" u="none" strike="noStrike" dirty="0">
                          <a:solidFill>
                            <a:schemeClr val="bg1"/>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D4D7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DEE6"/>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DEE6"/>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2612777"/>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B5C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DEE6"/>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A0B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endParaRPr lang="en-IN" sz="1200" b="0" i="0" u="none" strike="noStrike" dirty="0">
                        <a:solidFill>
                          <a:schemeClr val="tx1">
                            <a:lumMod val="75000"/>
                            <a:lumOff val="25000"/>
                          </a:schemeClr>
                        </a:solidFill>
                        <a:effectLst/>
                        <a:latin typeface="Tenorite" panose="00000500000000000000" pitchFamily="2" charset="0"/>
                      </a:endParaRP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8205634"/>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DEE6"/>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DEE6"/>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A8BA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7965897"/>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A0B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DEE6"/>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0958412"/>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B5C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B5C7"/>
                    </a:solidFill>
                  </a:tcPr>
                </a:tc>
                <a:extLst>
                  <a:ext uri="{0D108BD9-81ED-4DB2-BD59-A6C34878D82A}">
                    <a16:rowId xmlns:a16="http://schemas.microsoft.com/office/drawing/2014/main" val="4080912247"/>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B5C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5676343"/>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DEE6"/>
                    </a:solidFill>
                  </a:tcPr>
                </a:tc>
                <a:extLst>
                  <a:ext uri="{0D108BD9-81ED-4DB2-BD59-A6C34878D82A}">
                    <a16:rowId xmlns:a16="http://schemas.microsoft.com/office/drawing/2014/main" val="1678237593"/>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B5C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CAD7"/>
                    </a:solidFill>
                  </a:tcPr>
                </a:tc>
                <a:extLst>
                  <a:ext uri="{0D108BD9-81ED-4DB2-BD59-A6C34878D82A}">
                    <a16:rowId xmlns:a16="http://schemas.microsoft.com/office/drawing/2014/main" val="1366496847"/>
                  </a:ext>
                </a:extLst>
              </a:tr>
              <a:tr h="300086">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A8BA7"/>
                    </a:solid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9942910"/>
                  </a:ext>
                </a:extLst>
              </a:tr>
            </a:tbl>
          </a:graphicData>
        </a:graphic>
      </p:graphicFrame>
      <p:graphicFrame>
        <p:nvGraphicFramePr>
          <p:cNvPr id="13" name="Chart 12">
            <a:extLst>
              <a:ext uri="{FF2B5EF4-FFF2-40B4-BE49-F238E27FC236}">
                <a16:creationId xmlns:a16="http://schemas.microsoft.com/office/drawing/2014/main" id="{89643107-5BA3-C4A5-7F9A-8468F79CC0A4}"/>
              </a:ext>
            </a:extLst>
          </p:cNvPr>
          <p:cNvGraphicFramePr>
            <a:graphicFrameLocks/>
          </p:cNvGraphicFramePr>
          <p:nvPr>
            <p:extLst>
              <p:ext uri="{D42A27DB-BD31-4B8C-83A1-F6EECF244321}">
                <p14:modId xmlns:p14="http://schemas.microsoft.com/office/powerpoint/2010/main" val="1361982502"/>
              </p:ext>
            </p:extLst>
          </p:nvPr>
        </p:nvGraphicFramePr>
        <p:xfrm>
          <a:off x="910743" y="1526484"/>
          <a:ext cx="4994004" cy="3300946"/>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FD71D34D-4E27-E3FA-4AE6-97142922E157}"/>
              </a:ext>
            </a:extLst>
          </p:cNvPr>
          <p:cNvSpPr txBox="1"/>
          <p:nvPr/>
        </p:nvSpPr>
        <p:spPr>
          <a:xfrm>
            <a:off x="910743" y="5573018"/>
            <a:ext cx="10695633" cy="636906"/>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Almost all the top players have increased their innovation and patent filing activities in recent years, particularly from 2022 onwards.</a:t>
            </a:r>
            <a:endParaRPr lang="en-US" sz="1250" i="0" u="none" strike="noStrike" dirty="0">
              <a:effectLst/>
              <a:latin typeface="Tenorite" panose="00000500000000000000" pitchFamily="2" charset="0"/>
              <a:ea typeface="Calibri" panose="020F0502020204030204" pitchFamily="34" charset="0"/>
              <a:cs typeface="Calibri" panose="020F0502020204030204" pitchFamily="34" charset="0"/>
            </a:endParaRPr>
          </a:p>
        </p:txBody>
      </p:sp>
      <p:sp>
        <p:nvSpPr>
          <p:cNvPr id="4" name="Slide Number Placeholder 5">
            <a:extLst>
              <a:ext uri="{FF2B5EF4-FFF2-40B4-BE49-F238E27FC236}">
                <a16:creationId xmlns:a16="http://schemas.microsoft.com/office/drawing/2014/main" id="{9189200C-2814-B39D-C30C-6E72D9478F1D}"/>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13</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3" action="ppaction://hlinksldjump"/>
            <a:extLst>
              <a:ext uri="{FF2B5EF4-FFF2-40B4-BE49-F238E27FC236}">
                <a16:creationId xmlns:a16="http://schemas.microsoft.com/office/drawing/2014/main" id="{028B4269-48BE-8A80-00AD-D672E5318D97}"/>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3"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2916975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0534A-6775-8E4E-4419-1CFE2E9195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FDCE23-E994-D8A3-29D8-B4CCA550986D}"/>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D64F0325-F79E-0B02-258E-3E0A9B224C6E}"/>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9" name="TextBox 8">
            <a:extLst>
              <a:ext uri="{FF2B5EF4-FFF2-40B4-BE49-F238E27FC236}">
                <a16:creationId xmlns:a16="http://schemas.microsoft.com/office/drawing/2014/main" id="{D888E517-4BA6-0897-1FF8-83D73B7E6C2C}"/>
              </a:ext>
            </a:extLst>
          </p:cNvPr>
          <p:cNvSpPr txBox="1"/>
          <p:nvPr/>
        </p:nvSpPr>
        <p:spPr>
          <a:xfrm>
            <a:off x="602287" y="1183104"/>
            <a:ext cx="10695633" cy="2079608"/>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Majority of patent applications filed by Medtronic (22) disclose the use of both thermal and electrical tissue-related parameters for assessment of ablated tissues..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Patent applications filed by Shanghai MicroPort EP MedTech generally disclose assessment of multiple types of tissue-related parameters; however, thermal parameter analysis (9) appears to be the most common approach for tissue assessment.</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All identified patent applications associated with Abbott Laboratories are filed through its subsidiary St. Jude Medical, while 8 out of 9 patent applications associated with Olympus Corporation are filed through its subsidiary GYRUS.</a:t>
            </a:r>
          </a:p>
        </p:txBody>
      </p:sp>
      <p:sp>
        <p:nvSpPr>
          <p:cNvPr id="8" name="Title 4">
            <a:extLst>
              <a:ext uri="{FF2B5EF4-FFF2-40B4-BE49-F238E27FC236}">
                <a16:creationId xmlns:a16="http://schemas.microsoft.com/office/drawing/2014/main" id="{07CB3B86-4CC2-BB08-95D2-BA76F5D0B60F}"/>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INNOVATION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Assignee-wise</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38F765F2-8E7D-923B-6444-02EBFA6D0851}"/>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presents assignee-wise patent filing trends across different priority years, highlighting innovation activity and technology development over time.</a:t>
            </a:r>
          </a:p>
        </p:txBody>
      </p:sp>
      <p:sp>
        <p:nvSpPr>
          <p:cNvPr id="3" name="Slide Number Placeholder 5">
            <a:extLst>
              <a:ext uri="{FF2B5EF4-FFF2-40B4-BE49-F238E27FC236}">
                <a16:creationId xmlns:a16="http://schemas.microsoft.com/office/drawing/2014/main" id="{D9A8AEF5-7E3C-4133-6EE5-C9BDD239F589}"/>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14</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4" name="TextBox 3">
            <a:hlinkClick r:id="rId2" action="ppaction://hlinksldjump"/>
            <a:extLst>
              <a:ext uri="{FF2B5EF4-FFF2-40B4-BE49-F238E27FC236}">
                <a16:creationId xmlns:a16="http://schemas.microsoft.com/office/drawing/2014/main" id="{1EE633A7-34B3-4440-7BEA-6110FE2D4AB5}"/>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714803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7DAF8-0D5D-8AB4-B6A3-61409082109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F019B6-9CB3-2343-32F6-9B6C0002D5EA}"/>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INNOVATION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b="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Global</a:t>
            </a:r>
            <a:endParaRPr lang="en-IN" sz="40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F48E181-0F43-426D-4222-57BF4028DCF3}"/>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chemeClr val="tx1">
                    <a:lumMod val="75000"/>
                    <a:lumOff val="25000"/>
                  </a:schemeClr>
                </a:solidFill>
              </a:rPr>
              <a:t>This section presents global filing trends across the top 10 countries, highlighting patent application activity over different priority years.</a:t>
            </a:r>
          </a:p>
        </p:txBody>
      </p:sp>
      <p:sp>
        <p:nvSpPr>
          <p:cNvPr id="2" name="TextBox 1">
            <a:extLst>
              <a:ext uri="{FF2B5EF4-FFF2-40B4-BE49-F238E27FC236}">
                <a16:creationId xmlns:a16="http://schemas.microsoft.com/office/drawing/2014/main" id="{851C921F-E2AC-8729-3E8D-980AB6946ADB}"/>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7829ED8C-9FDF-13C7-C4AA-42C1FE28A9CA}"/>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10" name="Chart 9">
            <a:extLst>
              <a:ext uri="{FF2B5EF4-FFF2-40B4-BE49-F238E27FC236}">
                <a16:creationId xmlns:a16="http://schemas.microsoft.com/office/drawing/2014/main" id="{1700315D-A6F3-42D9-A0A8-702FE89BB355}"/>
              </a:ext>
            </a:extLst>
          </p:cNvPr>
          <p:cNvGraphicFramePr>
            <a:graphicFrameLocks/>
          </p:cNvGraphicFramePr>
          <p:nvPr>
            <p:extLst>
              <p:ext uri="{D42A27DB-BD31-4B8C-83A1-F6EECF244321}">
                <p14:modId xmlns:p14="http://schemas.microsoft.com/office/powerpoint/2010/main" val="1587063495"/>
              </p:ext>
            </p:extLst>
          </p:nvPr>
        </p:nvGraphicFramePr>
        <p:xfrm>
          <a:off x="701039" y="1290320"/>
          <a:ext cx="10779761" cy="384949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5BB453F5-0996-C658-7375-B5FFAB3B16C2}"/>
              </a:ext>
            </a:extLst>
          </p:cNvPr>
          <p:cNvSpPr txBox="1"/>
          <p:nvPr/>
        </p:nvSpPr>
        <p:spPr>
          <a:xfrm>
            <a:off x="910743" y="5237738"/>
            <a:ext cx="10695633" cy="1213987"/>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China (291) is the top preferred jurisdiction, followed by Unites States (136), WIPO (132), Europe (76), Japan (42), etc.</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In China, alongside domestic applicants, several notable non-Chinese players such as Medtronic, Boston Scientific, and Medlumics also demonstrate significant patent filing activity.</a:t>
            </a:r>
          </a:p>
        </p:txBody>
      </p:sp>
      <p:sp>
        <p:nvSpPr>
          <p:cNvPr id="4" name="Slide Number Placeholder 5">
            <a:extLst>
              <a:ext uri="{FF2B5EF4-FFF2-40B4-BE49-F238E27FC236}">
                <a16:creationId xmlns:a16="http://schemas.microsoft.com/office/drawing/2014/main" id="{F5734D46-8575-19BC-F254-5319F2A1F3B2}"/>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15</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3" action="ppaction://hlinksldjump"/>
            <a:extLst>
              <a:ext uri="{FF2B5EF4-FFF2-40B4-BE49-F238E27FC236}">
                <a16:creationId xmlns:a16="http://schemas.microsoft.com/office/drawing/2014/main" id="{4E0DB38F-C4F2-32F8-C5F0-A6BE928F1717}"/>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3"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791252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1FB11-7956-C64D-CF01-0836B9DAE6AF}"/>
            </a:ext>
          </a:extLst>
        </p:cNvPr>
        <p:cNvGrpSpPr/>
        <p:nvPr/>
      </p:nvGrpSpPr>
      <p:grpSpPr>
        <a:xfrm>
          <a:off x="0" y="0"/>
          <a:ext cx="0" cy="0"/>
          <a:chOff x="0" y="0"/>
          <a:chExt cx="0" cy="0"/>
        </a:xfrm>
      </p:grpSpPr>
      <p:sp>
        <p:nvSpPr>
          <p:cNvPr id="73" name="Isosceles Triangle 72">
            <a:extLst>
              <a:ext uri="{FF2B5EF4-FFF2-40B4-BE49-F238E27FC236}">
                <a16:creationId xmlns:a16="http://schemas.microsoft.com/office/drawing/2014/main" id="{C57B1A1A-1AF3-C939-CFC7-08FE3BDA2375}"/>
              </a:ext>
            </a:extLst>
          </p:cNvPr>
          <p:cNvSpPr/>
          <p:nvPr/>
        </p:nvSpPr>
        <p:spPr>
          <a:xfrm rot="16200000">
            <a:off x="4292813" y="3638137"/>
            <a:ext cx="1060704" cy="914400"/>
          </a:xfrm>
          <a:prstGeom prst="triangle">
            <a:avLst/>
          </a:prstGeom>
          <a:solidFill>
            <a:srgbClr val="C9F1FF"/>
          </a:solidFill>
          <a:ln>
            <a:solidFill>
              <a:srgbClr val="C9F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 name="Isosceles Triangle 73">
            <a:extLst>
              <a:ext uri="{FF2B5EF4-FFF2-40B4-BE49-F238E27FC236}">
                <a16:creationId xmlns:a16="http://schemas.microsoft.com/office/drawing/2014/main" id="{216798A1-8FA4-D105-967E-CF6AF870B83B}"/>
              </a:ext>
            </a:extLst>
          </p:cNvPr>
          <p:cNvSpPr/>
          <p:nvPr/>
        </p:nvSpPr>
        <p:spPr>
          <a:xfrm rot="16200000">
            <a:off x="4287934" y="5161119"/>
            <a:ext cx="1060704" cy="914400"/>
          </a:xfrm>
          <a:prstGeom prst="triangle">
            <a:avLst/>
          </a:prstGeom>
          <a:solidFill>
            <a:srgbClr val="FCEECC"/>
          </a:solidFill>
          <a:ln>
            <a:solidFill>
              <a:srgbClr val="FEFA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1" name="Isosceles Triangle 70">
            <a:extLst>
              <a:ext uri="{FF2B5EF4-FFF2-40B4-BE49-F238E27FC236}">
                <a16:creationId xmlns:a16="http://schemas.microsoft.com/office/drawing/2014/main" id="{3E343292-94FE-9CE9-4348-968816C1178E}"/>
              </a:ext>
            </a:extLst>
          </p:cNvPr>
          <p:cNvSpPr/>
          <p:nvPr/>
        </p:nvSpPr>
        <p:spPr>
          <a:xfrm rot="16200000">
            <a:off x="4344097" y="2364387"/>
            <a:ext cx="637732" cy="914400"/>
          </a:xfrm>
          <a:prstGeom prst="triangle">
            <a:avLst/>
          </a:prstGeom>
          <a:solidFill>
            <a:srgbClr val="FFD1E4"/>
          </a:solidFill>
          <a:ln>
            <a:solidFill>
              <a:srgbClr val="FFD1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0" name="Isosceles Triangle 69">
            <a:extLst>
              <a:ext uri="{FF2B5EF4-FFF2-40B4-BE49-F238E27FC236}">
                <a16:creationId xmlns:a16="http://schemas.microsoft.com/office/drawing/2014/main" id="{9FF7FC32-2159-8D0B-D2A7-F69B7E4D78DF}"/>
              </a:ext>
            </a:extLst>
          </p:cNvPr>
          <p:cNvSpPr/>
          <p:nvPr/>
        </p:nvSpPr>
        <p:spPr>
          <a:xfrm rot="16200000">
            <a:off x="4239969" y="662968"/>
            <a:ext cx="1060704" cy="914400"/>
          </a:xfrm>
          <a:prstGeom prst="triangle">
            <a:avLst/>
          </a:prstGeom>
          <a:solidFill>
            <a:srgbClr val="C9FFE1"/>
          </a:solidFill>
          <a:ln>
            <a:solidFill>
              <a:srgbClr val="C9FF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Rectangle: Rounded Corners 62">
            <a:extLst>
              <a:ext uri="{FF2B5EF4-FFF2-40B4-BE49-F238E27FC236}">
                <a16:creationId xmlns:a16="http://schemas.microsoft.com/office/drawing/2014/main" id="{7E30B84F-BDDC-5CC7-C651-DA7F8205A582}"/>
              </a:ext>
            </a:extLst>
          </p:cNvPr>
          <p:cNvSpPr/>
          <p:nvPr/>
        </p:nvSpPr>
        <p:spPr>
          <a:xfrm>
            <a:off x="4893374" y="3559794"/>
            <a:ext cx="6048000" cy="1224000"/>
          </a:xfrm>
          <a:prstGeom prst="roundRect">
            <a:avLst>
              <a:gd name="adj" fmla="val 6373"/>
            </a:avLst>
          </a:prstGeom>
          <a:solidFill>
            <a:srgbClr val="C9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4" name="Rectangle: Rounded Corners 63">
            <a:extLst>
              <a:ext uri="{FF2B5EF4-FFF2-40B4-BE49-F238E27FC236}">
                <a16:creationId xmlns:a16="http://schemas.microsoft.com/office/drawing/2014/main" id="{CB1E0B3D-26F4-D3E9-C356-3C639761466C}"/>
              </a:ext>
            </a:extLst>
          </p:cNvPr>
          <p:cNvSpPr/>
          <p:nvPr/>
        </p:nvSpPr>
        <p:spPr>
          <a:xfrm>
            <a:off x="4887373" y="4871606"/>
            <a:ext cx="5777937" cy="1593650"/>
          </a:xfrm>
          <a:prstGeom prst="roundRect">
            <a:avLst>
              <a:gd name="adj" fmla="val 6373"/>
            </a:avLst>
          </a:prstGeom>
          <a:solidFill>
            <a:srgbClr val="FCEE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Rectangle: Rounded Corners 61">
            <a:extLst>
              <a:ext uri="{FF2B5EF4-FFF2-40B4-BE49-F238E27FC236}">
                <a16:creationId xmlns:a16="http://schemas.microsoft.com/office/drawing/2014/main" id="{2FA2076C-C288-DF32-4ADA-53F3C3B0D57A}"/>
              </a:ext>
            </a:extLst>
          </p:cNvPr>
          <p:cNvSpPr/>
          <p:nvPr/>
        </p:nvSpPr>
        <p:spPr>
          <a:xfrm>
            <a:off x="4883214" y="2313107"/>
            <a:ext cx="7200000" cy="1143846"/>
          </a:xfrm>
          <a:prstGeom prst="roundRect">
            <a:avLst>
              <a:gd name="adj" fmla="val 6373"/>
            </a:avLst>
          </a:prstGeom>
          <a:solidFill>
            <a:srgbClr val="FFD1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1" name="Rectangle: Rounded Corners 60">
            <a:extLst>
              <a:ext uri="{FF2B5EF4-FFF2-40B4-BE49-F238E27FC236}">
                <a16:creationId xmlns:a16="http://schemas.microsoft.com/office/drawing/2014/main" id="{633F6A3F-2C3C-0D0C-5028-167AA5DDCEEB}"/>
              </a:ext>
            </a:extLst>
          </p:cNvPr>
          <p:cNvSpPr/>
          <p:nvPr/>
        </p:nvSpPr>
        <p:spPr>
          <a:xfrm>
            <a:off x="4886960" y="393494"/>
            <a:ext cx="5544052" cy="1793170"/>
          </a:xfrm>
          <a:prstGeom prst="roundRect">
            <a:avLst>
              <a:gd name="adj" fmla="val 6373"/>
            </a:avLst>
          </a:prstGeom>
          <a:solidFill>
            <a:srgbClr val="C9FF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itle 4">
            <a:extLst>
              <a:ext uri="{FF2B5EF4-FFF2-40B4-BE49-F238E27FC236}">
                <a16:creationId xmlns:a16="http://schemas.microsoft.com/office/drawing/2014/main" id="{03B9FF61-E6D3-40F8-6FA3-6385E643B205}"/>
              </a:ext>
            </a:extLst>
          </p:cNvPr>
          <p:cNvSpPr>
            <a:spLocks noGrp="1"/>
          </p:cNvSpPr>
          <p:nvPr>
            <p:ph type="title"/>
          </p:nvPr>
        </p:nvSpPr>
        <p:spPr>
          <a:xfrm rot="16200000" flipH="1">
            <a:off x="-685183" y="929662"/>
            <a:ext cx="3015096" cy="1282455"/>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TECHNOLOGY TAXONOMY</a:t>
            </a:r>
            <a:endParaRPr lang="en-IN" sz="4000" dirty="0">
              <a:solidFill>
                <a:srgbClr val="595555"/>
              </a:solidFill>
              <a:latin typeface="Tenorite" panose="00000500000000000000" pitchFamily="2"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67767B1-6F2B-7BF9-AB13-59DA14BEC8C3}"/>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0C1AC4CA-BB01-C427-23D4-4960BBA142B1}"/>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3" name="Rectangle: Rounded Corners 2">
            <a:extLst>
              <a:ext uri="{FF2B5EF4-FFF2-40B4-BE49-F238E27FC236}">
                <a16:creationId xmlns:a16="http://schemas.microsoft.com/office/drawing/2014/main" id="{7EA5839D-61A9-CC0E-C00F-C73FBD321AE9}"/>
              </a:ext>
            </a:extLst>
          </p:cNvPr>
          <p:cNvSpPr/>
          <p:nvPr/>
        </p:nvSpPr>
        <p:spPr>
          <a:xfrm>
            <a:off x="224038" y="3342386"/>
            <a:ext cx="1980000" cy="72000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chemeClr val="bg1"/>
                </a:solidFill>
                <a:latin typeface="Tenorite" panose="00000500000000000000" pitchFamily="2" charset="0"/>
              </a:rPr>
              <a:t>In-Vivo Ablated Tissue Characterization</a:t>
            </a:r>
          </a:p>
        </p:txBody>
      </p:sp>
      <p:sp>
        <p:nvSpPr>
          <p:cNvPr id="4" name="Rectangle: Rounded Corners 3">
            <a:extLst>
              <a:ext uri="{FF2B5EF4-FFF2-40B4-BE49-F238E27FC236}">
                <a16:creationId xmlns:a16="http://schemas.microsoft.com/office/drawing/2014/main" id="{C345BD63-29D1-4B05-3EB6-3677D879EE7D}"/>
              </a:ext>
            </a:extLst>
          </p:cNvPr>
          <p:cNvSpPr/>
          <p:nvPr/>
        </p:nvSpPr>
        <p:spPr>
          <a:xfrm>
            <a:off x="2703148" y="724870"/>
            <a:ext cx="1980000" cy="720000"/>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chemeClr val="bg1"/>
                </a:solidFill>
                <a:latin typeface="Tenorite" panose="00000500000000000000" pitchFamily="2" charset="0"/>
              </a:rPr>
              <a:t>Sensing Modality (480)</a:t>
            </a:r>
          </a:p>
        </p:txBody>
      </p:sp>
      <p:sp>
        <p:nvSpPr>
          <p:cNvPr id="8" name="Rectangle: Rounded Corners 7">
            <a:extLst>
              <a:ext uri="{FF2B5EF4-FFF2-40B4-BE49-F238E27FC236}">
                <a16:creationId xmlns:a16="http://schemas.microsoft.com/office/drawing/2014/main" id="{E646E686-ECC4-0825-EC6A-7DCDD3589F82}"/>
              </a:ext>
            </a:extLst>
          </p:cNvPr>
          <p:cNvSpPr/>
          <p:nvPr/>
        </p:nvSpPr>
        <p:spPr>
          <a:xfrm>
            <a:off x="2703148" y="5273854"/>
            <a:ext cx="1980000" cy="720000"/>
          </a:xfrm>
          <a:prstGeom prst="roundRect">
            <a:avLst/>
          </a:prstGeom>
          <a:solidFill>
            <a:srgbClr val="FE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chemeClr val="bg1"/>
                </a:solidFill>
                <a:latin typeface="Tenorite" panose="00000500000000000000" pitchFamily="2" charset="0"/>
              </a:rPr>
              <a:t>Tissue / Anatomical Target (480)</a:t>
            </a:r>
          </a:p>
        </p:txBody>
      </p:sp>
      <p:sp>
        <p:nvSpPr>
          <p:cNvPr id="9" name="Rectangle: Rounded Corners 8">
            <a:extLst>
              <a:ext uri="{FF2B5EF4-FFF2-40B4-BE49-F238E27FC236}">
                <a16:creationId xmlns:a16="http://schemas.microsoft.com/office/drawing/2014/main" id="{5C392ABB-9BB3-7597-3495-7DD4E33316F1}"/>
              </a:ext>
            </a:extLst>
          </p:cNvPr>
          <p:cNvSpPr/>
          <p:nvPr/>
        </p:nvSpPr>
        <p:spPr>
          <a:xfrm>
            <a:off x="2703148" y="2424078"/>
            <a:ext cx="1980000" cy="720000"/>
          </a:xfrm>
          <a:prstGeom prst="roundRect">
            <a:avLst/>
          </a:prstGeom>
          <a:solidFill>
            <a:srgbClr val="FF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chemeClr val="bg1"/>
                </a:solidFill>
                <a:latin typeface="Tenorite" panose="00000500000000000000" pitchFamily="2" charset="0"/>
              </a:rPr>
              <a:t>Ablation Energy Modality (332)</a:t>
            </a:r>
          </a:p>
        </p:txBody>
      </p:sp>
      <p:sp>
        <p:nvSpPr>
          <p:cNvPr id="11" name="Rectangle: Rounded Corners 10">
            <a:extLst>
              <a:ext uri="{FF2B5EF4-FFF2-40B4-BE49-F238E27FC236}">
                <a16:creationId xmlns:a16="http://schemas.microsoft.com/office/drawing/2014/main" id="{59A4ADE2-6C90-83C4-3947-F259D1A2274C}"/>
              </a:ext>
            </a:extLst>
          </p:cNvPr>
          <p:cNvSpPr/>
          <p:nvPr/>
        </p:nvSpPr>
        <p:spPr>
          <a:xfrm>
            <a:off x="2703148" y="3757526"/>
            <a:ext cx="1980000" cy="720000"/>
          </a:xfrm>
          <a:prstGeom prst="round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chemeClr val="bg1"/>
                </a:solidFill>
                <a:latin typeface="Tenorite" panose="00000500000000000000" pitchFamily="2" charset="0"/>
              </a:rPr>
              <a:t>Data Computational Framework/Data Processing (80)</a:t>
            </a:r>
          </a:p>
        </p:txBody>
      </p:sp>
      <p:sp>
        <p:nvSpPr>
          <p:cNvPr id="10" name="Rectangle: Rounded Corners 9">
            <a:extLst>
              <a:ext uri="{FF2B5EF4-FFF2-40B4-BE49-F238E27FC236}">
                <a16:creationId xmlns:a16="http://schemas.microsoft.com/office/drawing/2014/main" id="{DB084DC2-8FD5-1D16-5882-6B23DE3DB528}"/>
              </a:ext>
            </a:extLst>
          </p:cNvPr>
          <p:cNvSpPr/>
          <p:nvPr/>
        </p:nvSpPr>
        <p:spPr>
          <a:xfrm>
            <a:off x="4996106" y="453430"/>
            <a:ext cx="2268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Electrical (226)</a:t>
            </a:r>
          </a:p>
        </p:txBody>
      </p:sp>
      <p:sp>
        <p:nvSpPr>
          <p:cNvPr id="12" name="Rectangle: Rounded Corners 11">
            <a:extLst>
              <a:ext uri="{FF2B5EF4-FFF2-40B4-BE49-F238E27FC236}">
                <a16:creationId xmlns:a16="http://schemas.microsoft.com/office/drawing/2014/main" id="{86CC635D-E1BD-D2DA-2EED-33A09628F455}"/>
              </a:ext>
            </a:extLst>
          </p:cNvPr>
          <p:cNvSpPr/>
          <p:nvPr/>
        </p:nvSpPr>
        <p:spPr>
          <a:xfrm>
            <a:off x="4996106" y="798126"/>
            <a:ext cx="2268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Optical / Photonic (86)</a:t>
            </a:r>
          </a:p>
        </p:txBody>
      </p:sp>
      <p:sp>
        <p:nvSpPr>
          <p:cNvPr id="13" name="Rectangle: Rounded Corners 12">
            <a:extLst>
              <a:ext uri="{FF2B5EF4-FFF2-40B4-BE49-F238E27FC236}">
                <a16:creationId xmlns:a16="http://schemas.microsoft.com/office/drawing/2014/main" id="{6F1089EF-E2CC-B6F2-1BC6-F5115D4DA4A9}"/>
              </a:ext>
            </a:extLst>
          </p:cNvPr>
          <p:cNvSpPr/>
          <p:nvPr/>
        </p:nvSpPr>
        <p:spPr>
          <a:xfrm>
            <a:off x="4996106" y="1141242"/>
            <a:ext cx="2268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Thermal / IR (192)</a:t>
            </a:r>
          </a:p>
        </p:txBody>
      </p:sp>
      <p:sp>
        <p:nvSpPr>
          <p:cNvPr id="14" name="Rectangle: Rounded Corners 13">
            <a:extLst>
              <a:ext uri="{FF2B5EF4-FFF2-40B4-BE49-F238E27FC236}">
                <a16:creationId xmlns:a16="http://schemas.microsoft.com/office/drawing/2014/main" id="{76157660-CBDE-7F58-4D59-C342D29C5303}"/>
              </a:ext>
            </a:extLst>
          </p:cNvPr>
          <p:cNvSpPr/>
          <p:nvPr/>
        </p:nvSpPr>
        <p:spPr>
          <a:xfrm>
            <a:off x="4996106" y="1466046"/>
            <a:ext cx="2268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Chemical / Biochemical  (2)</a:t>
            </a:r>
          </a:p>
        </p:txBody>
      </p:sp>
      <p:sp>
        <p:nvSpPr>
          <p:cNvPr id="15" name="Rectangle: Rounded Corners 14">
            <a:extLst>
              <a:ext uri="{FF2B5EF4-FFF2-40B4-BE49-F238E27FC236}">
                <a16:creationId xmlns:a16="http://schemas.microsoft.com/office/drawing/2014/main" id="{87956101-980B-D5B0-BF85-CF73A722EDF8}"/>
              </a:ext>
            </a:extLst>
          </p:cNvPr>
          <p:cNvSpPr/>
          <p:nvPr/>
        </p:nvSpPr>
        <p:spPr>
          <a:xfrm>
            <a:off x="4996106" y="1823531"/>
            <a:ext cx="2268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Imaging Based (88)</a:t>
            </a:r>
          </a:p>
        </p:txBody>
      </p:sp>
      <p:sp>
        <p:nvSpPr>
          <p:cNvPr id="22" name="Rectangle: Rounded Corners 21">
            <a:extLst>
              <a:ext uri="{FF2B5EF4-FFF2-40B4-BE49-F238E27FC236}">
                <a16:creationId xmlns:a16="http://schemas.microsoft.com/office/drawing/2014/main" id="{0584690F-C4EA-97D9-EE61-9E3A60C23BD6}"/>
              </a:ext>
            </a:extLst>
          </p:cNvPr>
          <p:cNvSpPr/>
          <p:nvPr/>
        </p:nvSpPr>
        <p:spPr>
          <a:xfrm>
            <a:off x="7363386" y="442201"/>
            <a:ext cx="2304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Ultrasound/Acoustic  (86)</a:t>
            </a:r>
          </a:p>
        </p:txBody>
      </p:sp>
      <p:sp>
        <p:nvSpPr>
          <p:cNvPr id="23" name="Rectangle: Rounded Corners 22">
            <a:extLst>
              <a:ext uri="{FF2B5EF4-FFF2-40B4-BE49-F238E27FC236}">
                <a16:creationId xmlns:a16="http://schemas.microsoft.com/office/drawing/2014/main" id="{518556C8-370E-E51A-381C-79D660F13756}"/>
              </a:ext>
            </a:extLst>
          </p:cNvPr>
          <p:cNvSpPr/>
          <p:nvPr/>
        </p:nvSpPr>
        <p:spPr>
          <a:xfrm>
            <a:off x="7363386" y="786897"/>
            <a:ext cx="2952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Photoacoustic/Thermoacoustic (12)</a:t>
            </a:r>
          </a:p>
        </p:txBody>
      </p:sp>
      <p:sp>
        <p:nvSpPr>
          <p:cNvPr id="24" name="Rectangle: Rounded Corners 23">
            <a:extLst>
              <a:ext uri="{FF2B5EF4-FFF2-40B4-BE49-F238E27FC236}">
                <a16:creationId xmlns:a16="http://schemas.microsoft.com/office/drawing/2014/main" id="{5717CE9B-2516-6BF9-AAA9-9D4D15BDD87F}"/>
              </a:ext>
            </a:extLst>
          </p:cNvPr>
          <p:cNvSpPr/>
          <p:nvPr/>
        </p:nvSpPr>
        <p:spPr>
          <a:xfrm>
            <a:off x="7363386" y="1130013"/>
            <a:ext cx="2952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Mechanical / Contact Force  (32)</a:t>
            </a:r>
          </a:p>
        </p:txBody>
      </p:sp>
      <p:sp>
        <p:nvSpPr>
          <p:cNvPr id="25" name="Rectangle: Rounded Corners 24">
            <a:extLst>
              <a:ext uri="{FF2B5EF4-FFF2-40B4-BE49-F238E27FC236}">
                <a16:creationId xmlns:a16="http://schemas.microsoft.com/office/drawing/2014/main" id="{CD0672B9-C9CF-6F82-D2B0-9C5352E48669}"/>
              </a:ext>
            </a:extLst>
          </p:cNvPr>
          <p:cNvSpPr/>
          <p:nvPr/>
        </p:nvSpPr>
        <p:spPr>
          <a:xfrm>
            <a:off x="7363386" y="1454817"/>
            <a:ext cx="2952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Magnetic / Electromagnetic (8)</a:t>
            </a:r>
          </a:p>
        </p:txBody>
      </p:sp>
      <p:sp>
        <p:nvSpPr>
          <p:cNvPr id="26" name="Rectangle: Rounded Corners 25">
            <a:extLst>
              <a:ext uri="{FF2B5EF4-FFF2-40B4-BE49-F238E27FC236}">
                <a16:creationId xmlns:a16="http://schemas.microsoft.com/office/drawing/2014/main" id="{569BD996-ECAA-A5BB-9517-494AEF429E68}"/>
              </a:ext>
            </a:extLst>
          </p:cNvPr>
          <p:cNvSpPr/>
          <p:nvPr/>
        </p:nvSpPr>
        <p:spPr>
          <a:xfrm>
            <a:off x="7363386" y="1812302"/>
            <a:ext cx="1980000" cy="288000"/>
          </a:xfrm>
          <a:prstGeom prst="round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Others (10)</a:t>
            </a:r>
          </a:p>
        </p:txBody>
      </p:sp>
      <p:sp>
        <p:nvSpPr>
          <p:cNvPr id="27" name="Rectangle: Rounded Corners 26">
            <a:extLst>
              <a:ext uri="{FF2B5EF4-FFF2-40B4-BE49-F238E27FC236}">
                <a16:creationId xmlns:a16="http://schemas.microsoft.com/office/drawing/2014/main" id="{77B3991C-296E-EFCE-5BE8-FFA7CFCC9AA4}"/>
              </a:ext>
            </a:extLst>
          </p:cNvPr>
          <p:cNvSpPr/>
          <p:nvPr/>
        </p:nvSpPr>
        <p:spPr>
          <a:xfrm>
            <a:off x="4945647" y="2365167"/>
            <a:ext cx="2016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RF Ablation (94)</a:t>
            </a:r>
          </a:p>
        </p:txBody>
      </p:sp>
      <p:sp>
        <p:nvSpPr>
          <p:cNvPr id="28" name="Rectangle: Rounded Corners 27">
            <a:extLst>
              <a:ext uri="{FF2B5EF4-FFF2-40B4-BE49-F238E27FC236}">
                <a16:creationId xmlns:a16="http://schemas.microsoft.com/office/drawing/2014/main" id="{B402A0EA-503C-6BD9-F1BA-A9CCEB41DB50}"/>
              </a:ext>
            </a:extLst>
          </p:cNvPr>
          <p:cNvSpPr/>
          <p:nvPr/>
        </p:nvSpPr>
        <p:spPr>
          <a:xfrm>
            <a:off x="7071838" y="2385729"/>
            <a:ext cx="2268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PEF / Electroporation (110)</a:t>
            </a:r>
          </a:p>
        </p:txBody>
      </p:sp>
      <p:sp>
        <p:nvSpPr>
          <p:cNvPr id="29" name="Rectangle: Rounded Corners 28">
            <a:extLst>
              <a:ext uri="{FF2B5EF4-FFF2-40B4-BE49-F238E27FC236}">
                <a16:creationId xmlns:a16="http://schemas.microsoft.com/office/drawing/2014/main" id="{17E539CA-CFDD-C65B-6878-30C5FA9AEABE}"/>
              </a:ext>
            </a:extLst>
          </p:cNvPr>
          <p:cNvSpPr/>
          <p:nvPr/>
        </p:nvSpPr>
        <p:spPr>
          <a:xfrm>
            <a:off x="7071838" y="2732310"/>
            <a:ext cx="2268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Microwave Ablation (46)</a:t>
            </a:r>
          </a:p>
        </p:txBody>
      </p:sp>
      <p:sp>
        <p:nvSpPr>
          <p:cNvPr id="30" name="Rectangle: Rounded Corners 29">
            <a:extLst>
              <a:ext uri="{FF2B5EF4-FFF2-40B4-BE49-F238E27FC236}">
                <a16:creationId xmlns:a16="http://schemas.microsoft.com/office/drawing/2014/main" id="{636C6532-DBE1-4780-E501-81A52A2B5AF7}"/>
              </a:ext>
            </a:extLst>
          </p:cNvPr>
          <p:cNvSpPr/>
          <p:nvPr/>
        </p:nvSpPr>
        <p:spPr>
          <a:xfrm>
            <a:off x="4945647" y="2726519"/>
            <a:ext cx="2016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Laser Ablation (65)</a:t>
            </a:r>
          </a:p>
        </p:txBody>
      </p:sp>
      <p:sp>
        <p:nvSpPr>
          <p:cNvPr id="31" name="Rectangle: Rounded Corners 30">
            <a:extLst>
              <a:ext uri="{FF2B5EF4-FFF2-40B4-BE49-F238E27FC236}">
                <a16:creationId xmlns:a16="http://schemas.microsoft.com/office/drawing/2014/main" id="{D6D7517F-7345-CADA-1E8D-8591802B4DE2}"/>
              </a:ext>
            </a:extLst>
          </p:cNvPr>
          <p:cNvSpPr/>
          <p:nvPr/>
        </p:nvSpPr>
        <p:spPr>
          <a:xfrm>
            <a:off x="9440757" y="2399813"/>
            <a:ext cx="2268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Cryoablation (36)</a:t>
            </a:r>
          </a:p>
        </p:txBody>
      </p:sp>
      <p:sp>
        <p:nvSpPr>
          <p:cNvPr id="32" name="Rectangle: Rounded Corners 31">
            <a:extLst>
              <a:ext uri="{FF2B5EF4-FFF2-40B4-BE49-F238E27FC236}">
                <a16:creationId xmlns:a16="http://schemas.microsoft.com/office/drawing/2014/main" id="{060E1793-B811-E4AF-4CBC-E5EBE68CA695}"/>
              </a:ext>
            </a:extLst>
          </p:cNvPr>
          <p:cNvSpPr/>
          <p:nvPr/>
        </p:nvSpPr>
        <p:spPr>
          <a:xfrm>
            <a:off x="9440757" y="2745221"/>
            <a:ext cx="2592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Ultrasound Ablation/HIFU (38)</a:t>
            </a:r>
          </a:p>
        </p:txBody>
      </p:sp>
      <p:sp>
        <p:nvSpPr>
          <p:cNvPr id="33" name="Rectangle: Rounded Corners 32">
            <a:extLst>
              <a:ext uri="{FF2B5EF4-FFF2-40B4-BE49-F238E27FC236}">
                <a16:creationId xmlns:a16="http://schemas.microsoft.com/office/drawing/2014/main" id="{46678EEB-5F29-02FE-12A5-180A4A0EBE80}"/>
              </a:ext>
            </a:extLst>
          </p:cNvPr>
          <p:cNvSpPr/>
          <p:nvPr/>
        </p:nvSpPr>
        <p:spPr>
          <a:xfrm>
            <a:off x="4945647" y="3087872"/>
            <a:ext cx="2016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Photothermal (2)</a:t>
            </a:r>
          </a:p>
        </p:txBody>
      </p:sp>
      <p:sp>
        <p:nvSpPr>
          <p:cNvPr id="34" name="Rectangle: Rounded Corners 33">
            <a:extLst>
              <a:ext uri="{FF2B5EF4-FFF2-40B4-BE49-F238E27FC236}">
                <a16:creationId xmlns:a16="http://schemas.microsoft.com/office/drawing/2014/main" id="{06CA6A68-F066-D2B0-B88E-5EEAAAC1EF5A}"/>
              </a:ext>
            </a:extLst>
          </p:cNvPr>
          <p:cNvSpPr/>
          <p:nvPr/>
        </p:nvSpPr>
        <p:spPr>
          <a:xfrm>
            <a:off x="7071838" y="3078890"/>
            <a:ext cx="2268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Steam Ablation (7)</a:t>
            </a:r>
          </a:p>
        </p:txBody>
      </p:sp>
      <p:sp>
        <p:nvSpPr>
          <p:cNvPr id="35" name="Rectangle: Rounded Corners 34">
            <a:extLst>
              <a:ext uri="{FF2B5EF4-FFF2-40B4-BE49-F238E27FC236}">
                <a16:creationId xmlns:a16="http://schemas.microsoft.com/office/drawing/2014/main" id="{FA1C77A8-F2B9-E37C-61DC-A21DFEE4009D}"/>
              </a:ext>
            </a:extLst>
          </p:cNvPr>
          <p:cNvSpPr/>
          <p:nvPr/>
        </p:nvSpPr>
        <p:spPr>
          <a:xfrm>
            <a:off x="9440757" y="3090628"/>
            <a:ext cx="2268000" cy="288000"/>
          </a:xfrm>
          <a:prstGeom prst="roundRect">
            <a:avLst/>
          </a:prstGeom>
          <a:noFill/>
          <a:ln>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Others (11)</a:t>
            </a:r>
          </a:p>
        </p:txBody>
      </p:sp>
      <p:sp>
        <p:nvSpPr>
          <p:cNvPr id="36" name="Rectangle: Rounded Corners 35">
            <a:extLst>
              <a:ext uri="{FF2B5EF4-FFF2-40B4-BE49-F238E27FC236}">
                <a16:creationId xmlns:a16="http://schemas.microsoft.com/office/drawing/2014/main" id="{84848EBE-F053-18DC-AAA2-FEE01AC92E87}"/>
              </a:ext>
            </a:extLst>
          </p:cNvPr>
          <p:cNvSpPr/>
          <p:nvPr/>
        </p:nvSpPr>
        <p:spPr>
          <a:xfrm>
            <a:off x="4955807" y="3756391"/>
            <a:ext cx="2880000" cy="288000"/>
          </a:xfrm>
          <a:prstGeom prst="roundRect">
            <a:avLst/>
          </a:prstGeom>
          <a:noFill/>
          <a:ln>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Signal Processing Algorithms  (41)</a:t>
            </a:r>
          </a:p>
        </p:txBody>
      </p:sp>
      <p:sp>
        <p:nvSpPr>
          <p:cNvPr id="37" name="Rectangle: Rounded Corners 36">
            <a:extLst>
              <a:ext uri="{FF2B5EF4-FFF2-40B4-BE49-F238E27FC236}">
                <a16:creationId xmlns:a16="http://schemas.microsoft.com/office/drawing/2014/main" id="{2B422547-B492-1BB6-BF04-AE03A43F059C}"/>
              </a:ext>
            </a:extLst>
          </p:cNvPr>
          <p:cNvSpPr/>
          <p:nvPr/>
        </p:nvSpPr>
        <p:spPr>
          <a:xfrm>
            <a:off x="4955807" y="4145308"/>
            <a:ext cx="2880000" cy="288000"/>
          </a:xfrm>
          <a:prstGeom prst="roundRect">
            <a:avLst/>
          </a:prstGeom>
          <a:noFill/>
          <a:ln>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Image Processing Algorithms (86)</a:t>
            </a:r>
          </a:p>
        </p:txBody>
      </p:sp>
      <p:sp>
        <p:nvSpPr>
          <p:cNvPr id="38" name="Rectangle: Rounded Corners 37">
            <a:extLst>
              <a:ext uri="{FF2B5EF4-FFF2-40B4-BE49-F238E27FC236}">
                <a16:creationId xmlns:a16="http://schemas.microsoft.com/office/drawing/2014/main" id="{3AA7EF34-2361-977D-B971-76AF96B627B0}"/>
              </a:ext>
            </a:extLst>
          </p:cNvPr>
          <p:cNvSpPr/>
          <p:nvPr/>
        </p:nvSpPr>
        <p:spPr>
          <a:xfrm>
            <a:off x="7966226" y="3641803"/>
            <a:ext cx="2880000" cy="288000"/>
          </a:xfrm>
          <a:prstGeom prst="roundRect">
            <a:avLst/>
          </a:prstGeom>
          <a:noFill/>
          <a:ln>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Statistical / Empirical Models  (124)</a:t>
            </a:r>
          </a:p>
        </p:txBody>
      </p:sp>
      <p:sp>
        <p:nvSpPr>
          <p:cNvPr id="39" name="Rectangle: Rounded Corners 38">
            <a:extLst>
              <a:ext uri="{FF2B5EF4-FFF2-40B4-BE49-F238E27FC236}">
                <a16:creationId xmlns:a16="http://schemas.microsoft.com/office/drawing/2014/main" id="{FC34133D-4BB1-B583-9713-268283F47177}"/>
              </a:ext>
            </a:extLst>
          </p:cNvPr>
          <p:cNvSpPr/>
          <p:nvPr/>
        </p:nvSpPr>
        <p:spPr>
          <a:xfrm>
            <a:off x="7966226" y="4411163"/>
            <a:ext cx="2268000" cy="288000"/>
          </a:xfrm>
          <a:prstGeom prst="roundRect">
            <a:avLst/>
          </a:prstGeom>
          <a:noFill/>
          <a:ln>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AI/ML (65)</a:t>
            </a:r>
          </a:p>
        </p:txBody>
      </p:sp>
      <p:sp>
        <p:nvSpPr>
          <p:cNvPr id="40" name="Rectangle: Rounded Corners 39">
            <a:extLst>
              <a:ext uri="{FF2B5EF4-FFF2-40B4-BE49-F238E27FC236}">
                <a16:creationId xmlns:a16="http://schemas.microsoft.com/office/drawing/2014/main" id="{6DBD7344-C729-9C03-EBC2-DCA7E8F18FB0}"/>
              </a:ext>
            </a:extLst>
          </p:cNvPr>
          <p:cNvSpPr/>
          <p:nvPr/>
        </p:nvSpPr>
        <p:spPr>
          <a:xfrm>
            <a:off x="7966226" y="4026483"/>
            <a:ext cx="2880000" cy="288000"/>
          </a:xfrm>
          <a:prstGeom prst="roundRect">
            <a:avLst/>
          </a:prstGeom>
          <a:noFill/>
          <a:ln>
            <a:solidFill>
              <a:srgbClr val="00B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Multimodal Data Fusion (35)</a:t>
            </a:r>
          </a:p>
        </p:txBody>
      </p:sp>
      <p:sp>
        <p:nvSpPr>
          <p:cNvPr id="41" name="Rectangle: Rounded Corners 40">
            <a:extLst>
              <a:ext uri="{FF2B5EF4-FFF2-40B4-BE49-F238E27FC236}">
                <a16:creationId xmlns:a16="http://schemas.microsoft.com/office/drawing/2014/main" id="{36FC93C7-A65B-F461-D4C8-E9D48052D746}"/>
              </a:ext>
            </a:extLst>
          </p:cNvPr>
          <p:cNvSpPr/>
          <p:nvPr/>
        </p:nvSpPr>
        <p:spPr>
          <a:xfrm>
            <a:off x="4981226" y="5345854"/>
            <a:ext cx="252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Renal / Perirenal (25)</a:t>
            </a:r>
          </a:p>
        </p:txBody>
      </p:sp>
      <p:sp>
        <p:nvSpPr>
          <p:cNvPr id="42" name="Rectangle: Rounded Corners 41">
            <a:extLst>
              <a:ext uri="{FF2B5EF4-FFF2-40B4-BE49-F238E27FC236}">
                <a16:creationId xmlns:a16="http://schemas.microsoft.com/office/drawing/2014/main" id="{34A21A46-C4E2-CD10-D023-B8C84DED72C0}"/>
              </a:ext>
            </a:extLst>
          </p:cNvPr>
          <p:cNvSpPr/>
          <p:nvPr/>
        </p:nvSpPr>
        <p:spPr>
          <a:xfrm>
            <a:off x="4981226" y="5698249"/>
            <a:ext cx="252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Pulmonary / Airway (19)</a:t>
            </a:r>
          </a:p>
        </p:txBody>
      </p:sp>
      <p:sp>
        <p:nvSpPr>
          <p:cNvPr id="43" name="Rectangle: Rounded Corners 42">
            <a:extLst>
              <a:ext uri="{FF2B5EF4-FFF2-40B4-BE49-F238E27FC236}">
                <a16:creationId xmlns:a16="http://schemas.microsoft.com/office/drawing/2014/main" id="{ABAC533C-EB4B-90F3-C94D-0EC141BAB120}"/>
              </a:ext>
            </a:extLst>
          </p:cNvPr>
          <p:cNvSpPr/>
          <p:nvPr/>
        </p:nvSpPr>
        <p:spPr>
          <a:xfrm>
            <a:off x="4981226" y="6037122"/>
            <a:ext cx="252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Gastrointestinal (12)</a:t>
            </a:r>
          </a:p>
        </p:txBody>
      </p:sp>
      <p:sp>
        <p:nvSpPr>
          <p:cNvPr id="44" name="Rectangle: Rounded Corners 43">
            <a:extLst>
              <a:ext uri="{FF2B5EF4-FFF2-40B4-BE49-F238E27FC236}">
                <a16:creationId xmlns:a16="http://schemas.microsoft.com/office/drawing/2014/main" id="{D3A7C19F-8BE1-CED2-ED2C-9B016FF60E6F}"/>
              </a:ext>
            </a:extLst>
          </p:cNvPr>
          <p:cNvSpPr/>
          <p:nvPr/>
        </p:nvSpPr>
        <p:spPr>
          <a:xfrm>
            <a:off x="4981226" y="4980132"/>
            <a:ext cx="252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Cardiac (97)</a:t>
            </a:r>
          </a:p>
        </p:txBody>
      </p:sp>
      <p:sp>
        <p:nvSpPr>
          <p:cNvPr id="45" name="Rectangle: Rounded Corners 44">
            <a:extLst>
              <a:ext uri="{FF2B5EF4-FFF2-40B4-BE49-F238E27FC236}">
                <a16:creationId xmlns:a16="http://schemas.microsoft.com/office/drawing/2014/main" id="{84F4FE1D-0211-7FB4-98DC-47D0ECDD4BB1}"/>
              </a:ext>
            </a:extLst>
          </p:cNvPr>
          <p:cNvSpPr/>
          <p:nvPr/>
        </p:nvSpPr>
        <p:spPr>
          <a:xfrm>
            <a:off x="7641444" y="5299529"/>
            <a:ext cx="288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Neurological / Nerve (27)</a:t>
            </a:r>
          </a:p>
        </p:txBody>
      </p:sp>
      <p:sp>
        <p:nvSpPr>
          <p:cNvPr id="46" name="Rectangle: Rounded Corners 45">
            <a:extLst>
              <a:ext uri="{FF2B5EF4-FFF2-40B4-BE49-F238E27FC236}">
                <a16:creationId xmlns:a16="http://schemas.microsoft.com/office/drawing/2014/main" id="{45B7C432-9265-F0CA-A11E-F3312A9FCE98}"/>
              </a:ext>
            </a:extLst>
          </p:cNvPr>
          <p:cNvSpPr/>
          <p:nvPr/>
        </p:nvSpPr>
        <p:spPr>
          <a:xfrm>
            <a:off x="7641444" y="5672244"/>
            <a:ext cx="288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Generic (No Organ Specified) (206)</a:t>
            </a:r>
          </a:p>
        </p:txBody>
      </p:sp>
      <p:sp>
        <p:nvSpPr>
          <p:cNvPr id="47" name="Rectangle: Rounded Corners 46">
            <a:extLst>
              <a:ext uri="{FF2B5EF4-FFF2-40B4-BE49-F238E27FC236}">
                <a16:creationId xmlns:a16="http://schemas.microsoft.com/office/drawing/2014/main" id="{377A2E7B-D3D0-011A-1310-2045087D5C82}"/>
              </a:ext>
            </a:extLst>
          </p:cNvPr>
          <p:cNvSpPr/>
          <p:nvPr/>
        </p:nvSpPr>
        <p:spPr>
          <a:xfrm>
            <a:off x="7637391" y="6051757"/>
            <a:ext cx="288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Other (15)</a:t>
            </a:r>
          </a:p>
        </p:txBody>
      </p:sp>
      <p:sp>
        <p:nvSpPr>
          <p:cNvPr id="48" name="Rectangle: Rounded Corners 47">
            <a:extLst>
              <a:ext uri="{FF2B5EF4-FFF2-40B4-BE49-F238E27FC236}">
                <a16:creationId xmlns:a16="http://schemas.microsoft.com/office/drawing/2014/main" id="{3983F39C-2627-667A-83E0-7486047B42DA}"/>
              </a:ext>
            </a:extLst>
          </p:cNvPr>
          <p:cNvSpPr/>
          <p:nvPr/>
        </p:nvSpPr>
        <p:spPr>
          <a:xfrm>
            <a:off x="7662772" y="4943967"/>
            <a:ext cx="2880000" cy="288000"/>
          </a:xfrm>
          <a:prstGeom prst="roundRect">
            <a:avLst/>
          </a:prstGeom>
          <a:noFill/>
          <a:ln>
            <a:solidFill>
              <a:srgbClr val="FEC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50" dirty="0">
                <a:solidFill>
                  <a:srgbClr val="595555"/>
                </a:solidFill>
                <a:latin typeface="Tenorite" panose="00000500000000000000" pitchFamily="2" charset="0"/>
              </a:rPr>
              <a:t>Oncology / Tumor (89)</a:t>
            </a:r>
          </a:p>
        </p:txBody>
      </p:sp>
      <p:cxnSp>
        <p:nvCxnSpPr>
          <p:cNvPr id="49" name="Connector: Elbow 48">
            <a:extLst>
              <a:ext uri="{FF2B5EF4-FFF2-40B4-BE49-F238E27FC236}">
                <a16:creationId xmlns:a16="http://schemas.microsoft.com/office/drawing/2014/main" id="{9703BAF8-A0EB-2441-99C5-85855FAC4C6A}"/>
              </a:ext>
            </a:extLst>
          </p:cNvPr>
          <p:cNvCxnSpPr>
            <a:cxnSpLocks/>
            <a:stCxn id="3" idx="3"/>
            <a:endCxn id="4" idx="1"/>
          </p:cNvCxnSpPr>
          <p:nvPr/>
        </p:nvCxnSpPr>
        <p:spPr>
          <a:xfrm flipV="1">
            <a:off x="2204038" y="1084870"/>
            <a:ext cx="499110" cy="2617516"/>
          </a:xfrm>
          <a:prstGeom prst="bentConnector3">
            <a:avLst>
              <a:gd name="adj1" fmla="val 50000"/>
            </a:avLst>
          </a:prstGeom>
          <a:ln w="19050">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3F48BBF7-C7EB-E190-3F3C-FF76D2257C96}"/>
              </a:ext>
            </a:extLst>
          </p:cNvPr>
          <p:cNvCxnSpPr>
            <a:cxnSpLocks/>
            <a:stCxn id="3" idx="3"/>
            <a:endCxn id="9" idx="1"/>
          </p:cNvCxnSpPr>
          <p:nvPr/>
        </p:nvCxnSpPr>
        <p:spPr>
          <a:xfrm flipV="1">
            <a:off x="2204038" y="2784078"/>
            <a:ext cx="499110" cy="918308"/>
          </a:xfrm>
          <a:prstGeom prst="bentConnector3">
            <a:avLst>
              <a:gd name="adj1" fmla="val 50000"/>
            </a:avLst>
          </a:prstGeom>
          <a:ln w="19050">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EF8FE48C-C22C-9962-F635-C1FC256FE264}"/>
              </a:ext>
            </a:extLst>
          </p:cNvPr>
          <p:cNvCxnSpPr>
            <a:cxnSpLocks/>
            <a:stCxn id="3" idx="3"/>
            <a:endCxn id="8" idx="1"/>
          </p:cNvCxnSpPr>
          <p:nvPr/>
        </p:nvCxnSpPr>
        <p:spPr>
          <a:xfrm>
            <a:off x="2204038" y="3702386"/>
            <a:ext cx="499110" cy="1931468"/>
          </a:xfrm>
          <a:prstGeom prst="bentConnector3">
            <a:avLst>
              <a:gd name="adj1" fmla="val 50000"/>
            </a:avLst>
          </a:prstGeom>
          <a:ln w="19050">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Connector: Elbow 57">
            <a:extLst>
              <a:ext uri="{FF2B5EF4-FFF2-40B4-BE49-F238E27FC236}">
                <a16:creationId xmlns:a16="http://schemas.microsoft.com/office/drawing/2014/main" id="{876F658A-CB6E-E103-42BF-5BD1D96F6366}"/>
              </a:ext>
            </a:extLst>
          </p:cNvPr>
          <p:cNvCxnSpPr>
            <a:cxnSpLocks/>
            <a:stCxn id="3" idx="3"/>
            <a:endCxn id="11" idx="1"/>
          </p:cNvCxnSpPr>
          <p:nvPr/>
        </p:nvCxnSpPr>
        <p:spPr>
          <a:xfrm>
            <a:off x="2204038" y="3702386"/>
            <a:ext cx="499110" cy="415140"/>
          </a:xfrm>
          <a:prstGeom prst="bentConnector3">
            <a:avLst>
              <a:gd name="adj1" fmla="val 50000"/>
            </a:avLst>
          </a:prstGeom>
          <a:ln w="19050">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2214C82A-8823-707D-777D-1940F32393D7}"/>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16</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16" name="TextBox 15">
            <a:hlinkClick r:id="rId2" action="ppaction://hlinksldjump"/>
            <a:extLst>
              <a:ext uri="{FF2B5EF4-FFF2-40B4-BE49-F238E27FC236}">
                <a16:creationId xmlns:a16="http://schemas.microsoft.com/office/drawing/2014/main" id="{42872ECA-A4F0-6DBF-FF1C-4B2F32AEFBDC}"/>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522787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A74A7-5DE2-3513-B97A-5A1FF02B49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D17150-E562-BCC7-D26C-02C0BE89B929}"/>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TECHNOLOGY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Sensing Modality</a:t>
            </a:r>
            <a:endParaRPr lang="en-IN"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F0B7328-1F93-5FF9-3FA2-47A1E0044D46}"/>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rgbClr val="595555"/>
                </a:solidFill>
              </a:rPr>
              <a:t>This section provides key insights and innovation trends observed in the technology category Sensing Modality.</a:t>
            </a:r>
          </a:p>
        </p:txBody>
      </p:sp>
      <p:sp>
        <p:nvSpPr>
          <p:cNvPr id="2" name="TextBox 1">
            <a:extLst>
              <a:ext uri="{FF2B5EF4-FFF2-40B4-BE49-F238E27FC236}">
                <a16:creationId xmlns:a16="http://schemas.microsoft.com/office/drawing/2014/main" id="{06B17D66-D786-078C-5750-27B6E7873764}"/>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F3AE69B7-C5F6-DA15-A7B4-C6127A0CA310}"/>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3" name="Table 2">
            <a:extLst>
              <a:ext uri="{FF2B5EF4-FFF2-40B4-BE49-F238E27FC236}">
                <a16:creationId xmlns:a16="http://schemas.microsoft.com/office/drawing/2014/main" id="{9CF2BF87-A9AF-2123-2E6A-B1AA02097A2A}"/>
              </a:ext>
            </a:extLst>
          </p:cNvPr>
          <p:cNvGraphicFramePr>
            <a:graphicFrameLocks noGrp="1"/>
          </p:cNvGraphicFramePr>
          <p:nvPr>
            <p:extLst>
              <p:ext uri="{D42A27DB-BD31-4B8C-83A1-F6EECF244321}">
                <p14:modId xmlns:p14="http://schemas.microsoft.com/office/powerpoint/2010/main" val="3259870899"/>
              </p:ext>
            </p:extLst>
          </p:nvPr>
        </p:nvGraphicFramePr>
        <p:xfrm>
          <a:off x="660038" y="1178361"/>
          <a:ext cx="10368000" cy="3168000"/>
        </p:xfrm>
        <a:graphic>
          <a:graphicData uri="http://schemas.openxmlformats.org/drawingml/2006/table">
            <a:tbl>
              <a:tblPr/>
              <a:tblGrid>
                <a:gridCol w="3240000">
                  <a:extLst>
                    <a:ext uri="{9D8B030D-6E8A-4147-A177-3AD203B41FA5}">
                      <a16:colId xmlns:a16="http://schemas.microsoft.com/office/drawing/2014/main" val="453991943"/>
                    </a:ext>
                  </a:extLst>
                </a:gridCol>
                <a:gridCol w="1188000">
                  <a:extLst>
                    <a:ext uri="{9D8B030D-6E8A-4147-A177-3AD203B41FA5}">
                      <a16:colId xmlns:a16="http://schemas.microsoft.com/office/drawing/2014/main" val="2471116036"/>
                    </a:ext>
                  </a:extLst>
                </a:gridCol>
                <a:gridCol w="1188000">
                  <a:extLst>
                    <a:ext uri="{9D8B030D-6E8A-4147-A177-3AD203B41FA5}">
                      <a16:colId xmlns:a16="http://schemas.microsoft.com/office/drawing/2014/main" val="2429642390"/>
                    </a:ext>
                  </a:extLst>
                </a:gridCol>
                <a:gridCol w="1188000">
                  <a:extLst>
                    <a:ext uri="{9D8B030D-6E8A-4147-A177-3AD203B41FA5}">
                      <a16:colId xmlns:a16="http://schemas.microsoft.com/office/drawing/2014/main" val="944152183"/>
                    </a:ext>
                  </a:extLst>
                </a:gridCol>
                <a:gridCol w="1188000">
                  <a:extLst>
                    <a:ext uri="{9D8B030D-6E8A-4147-A177-3AD203B41FA5}">
                      <a16:colId xmlns:a16="http://schemas.microsoft.com/office/drawing/2014/main" val="259335097"/>
                    </a:ext>
                  </a:extLst>
                </a:gridCol>
                <a:gridCol w="1188000">
                  <a:extLst>
                    <a:ext uri="{9D8B030D-6E8A-4147-A177-3AD203B41FA5}">
                      <a16:colId xmlns:a16="http://schemas.microsoft.com/office/drawing/2014/main" val="315870813"/>
                    </a:ext>
                  </a:extLst>
                </a:gridCol>
                <a:gridCol w="1188000">
                  <a:extLst>
                    <a:ext uri="{9D8B030D-6E8A-4147-A177-3AD203B41FA5}">
                      <a16:colId xmlns:a16="http://schemas.microsoft.com/office/drawing/2014/main" val="3979568573"/>
                    </a:ext>
                  </a:extLst>
                </a:gridCol>
              </a:tblGrid>
              <a:tr h="288000">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2020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2021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2022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2023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2024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2025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128726"/>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Electrical</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1E0AC"/>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35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9D18F"/>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41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43C980"/>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38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4ECD88"/>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59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6FD99F"/>
                    </a:solidFill>
                  </a:tcPr>
                </a:tc>
                <a:extLst>
                  <a:ext uri="{0D108BD9-81ED-4DB2-BD59-A6C34878D82A}">
                    <a16:rowId xmlns:a16="http://schemas.microsoft.com/office/drawing/2014/main" val="4259470461"/>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Optical / Photonic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14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6EEC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DF1CC"/>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ADDA7"/>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1F2CE"/>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9EFC9"/>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4F3D1"/>
                    </a:solidFill>
                  </a:tcPr>
                </a:tc>
                <a:extLst>
                  <a:ext uri="{0D108BD9-81ED-4DB2-BD59-A6C34878D82A}">
                    <a16:rowId xmlns:a16="http://schemas.microsoft.com/office/drawing/2014/main" val="2041730593"/>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Ultrasound / Acoustic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DF1CC"/>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1F2CE"/>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3E7B9"/>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3E7B9"/>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BEABF"/>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CF6D6"/>
                    </a:solidFill>
                  </a:tcPr>
                </a:tc>
                <a:extLst>
                  <a:ext uri="{0D108BD9-81ED-4DB2-BD59-A6C34878D82A}">
                    <a16:rowId xmlns:a16="http://schemas.microsoft.com/office/drawing/2014/main" val="1440554576"/>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Photoacoustic/Thermoacoustic</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5FFE8"/>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5FFE8"/>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2FEE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7FADE"/>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EFDE3"/>
                    </a:solidFill>
                  </a:tcPr>
                </a:tc>
                <a:extLst>
                  <a:ext uri="{0D108BD9-81ED-4DB2-BD59-A6C34878D82A}">
                    <a16:rowId xmlns:a16="http://schemas.microsoft.com/office/drawing/2014/main" val="1556273902"/>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Thermal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2DBA2"/>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34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CD392"/>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31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67D79A"/>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2DBA2"/>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49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5BE6B"/>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8E3B1"/>
                    </a:solidFill>
                  </a:tcPr>
                </a:tc>
                <a:extLst>
                  <a:ext uri="{0D108BD9-81ED-4DB2-BD59-A6C34878D82A}">
                    <a16:rowId xmlns:a16="http://schemas.microsoft.com/office/drawing/2014/main" val="1137648034"/>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Mechanical / Contact Force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EFDE3"/>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FF7D9"/>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CF6D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EFDE3"/>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CF6D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EFDE3"/>
                    </a:solidFill>
                  </a:tcPr>
                </a:tc>
                <a:extLst>
                  <a:ext uri="{0D108BD9-81ED-4DB2-BD59-A6C34878D82A}">
                    <a16:rowId xmlns:a16="http://schemas.microsoft.com/office/drawing/2014/main" val="2328160865"/>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Chemical / Biochemical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2FEE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111652"/>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Magnetic / Electromagnetic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5FFE8"/>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EFDE3"/>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2FEE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2FEE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4825891"/>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Imaging Based</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13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9EFC9"/>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BEABF"/>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1F2CE"/>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2ECC4"/>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7E8BC"/>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14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6EEC6"/>
                    </a:solidFill>
                  </a:tcPr>
                </a:tc>
                <a:extLst>
                  <a:ext uri="{0D108BD9-81ED-4DB2-BD59-A6C34878D82A}">
                    <a16:rowId xmlns:a16="http://schemas.microsoft.com/office/drawing/2014/main" val="3572712867"/>
                  </a:ext>
                </a:extLst>
              </a:tr>
              <a:tr h="288000">
                <a:tc>
                  <a:txBody>
                    <a:bodyPr/>
                    <a:lstStyle/>
                    <a:p>
                      <a:pPr algn="l" fontAlgn="b">
                        <a:buNone/>
                      </a:pPr>
                      <a:r>
                        <a:rPr lang="en-IN" sz="1200" b="0" i="0" u="none" strike="noStrike" dirty="0">
                          <a:solidFill>
                            <a:srgbClr val="000000"/>
                          </a:solidFill>
                          <a:effectLst/>
                          <a:latin typeface="Tenorite" panose="00000500000000000000" pitchFamily="2" charset="0"/>
                        </a:rPr>
                        <a:t>Others</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EFDE3"/>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2FEE6"/>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EFDE3"/>
                    </a:solidFill>
                  </a:tcPr>
                </a:tc>
                <a:tc>
                  <a:txBody>
                    <a:bodyPr/>
                    <a:lstStyle/>
                    <a:p>
                      <a:pPr algn="ctr" fontAlgn="b">
                        <a:buNone/>
                      </a:pPr>
                      <a:r>
                        <a:rPr lang="en-IN" sz="1200" b="0" i="0" u="none" strike="noStrike" dirty="0">
                          <a:solidFill>
                            <a:srgbClr val="000000"/>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IN" sz="1200" b="0" i="0" u="none" strike="noStrike" dirty="0">
                          <a:solidFill>
                            <a:srgbClr val="000000"/>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2FEE6"/>
                    </a:solidFill>
                  </a:tcPr>
                </a:tc>
                <a:extLst>
                  <a:ext uri="{0D108BD9-81ED-4DB2-BD59-A6C34878D82A}">
                    <a16:rowId xmlns:a16="http://schemas.microsoft.com/office/drawing/2014/main" val="3170873042"/>
                  </a:ext>
                </a:extLst>
              </a:tr>
            </a:tbl>
          </a:graphicData>
        </a:graphic>
      </p:graphicFrame>
      <p:sp>
        <p:nvSpPr>
          <p:cNvPr id="4" name="TextBox 3">
            <a:extLst>
              <a:ext uri="{FF2B5EF4-FFF2-40B4-BE49-F238E27FC236}">
                <a16:creationId xmlns:a16="http://schemas.microsoft.com/office/drawing/2014/main" id="{77845D07-286B-06CD-8178-D1C4EDD02ACC}"/>
              </a:ext>
            </a:extLst>
          </p:cNvPr>
          <p:cNvSpPr txBox="1"/>
          <p:nvPr/>
        </p:nvSpPr>
        <p:spPr>
          <a:xfrm>
            <a:off x="660038" y="4312453"/>
            <a:ext cx="11247403" cy="2079608"/>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The majority of patent applications (226) in the domain disclose processing of tissue-related electrical parameters during ablation procedures, including impedance, current, voltage, resistance, and electrophysiological data, for tissue characterization and lesion assessment.</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Thermal/temperature sensing represents another highly preferred sensing modality (192), with patent applications disclosing tissue temperature assessment for applications such as monitoring ablation progression, evaluating lesion formation, ensuring procedural safety, and determining ablation completion.</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The imaging-based category includes patent applications disclosing the use of medical imaging modalities such as MRI and CT for tissue characterization/lesion assessment. Key contributors in this category include Medtronic (10), Hangzhou GenLight MedTech (4), and GYRUS (3).</a:t>
            </a:r>
          </a:p>
        </p:txBody>
      </p:sp>
      <p:sp>
        <p:nvSpPr>
          <p:cNvPr id="8" name="Slide Number Placeholder 5">
            <a:extLst>
              <a:ext uri="{FF2B5EF4-FFF2-40B4-BE49-F238E27FC236}">
                <a16:creationId xmlns:a16="http://schemas.microsoft.com/office/drawing/2014/main" id="{D939989C-8BD6-5BE8-5BC5-836E9277A24E}"/>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17</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9" name="TextBox 8">
            <a:hlinkClick r:id="rId2" action="ppaction://hlinksldjump"/>
            <a:extLst>
              <a:ext uri="{FF2B5EF4-FFF2-40B4-BE49-F238E27FC236}">
                <a16:creationId xmlns:a16="http://schemas.microsoft.com/office/drawing/2014/main" id="{60CD3792-7C88-2446-62E9-9D726652A2C4}"/>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841536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112CC-EAD2-7DB5-21A5-03123388D5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798C49-4022-0E20-F43A-EC248FD7774F}"/>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TECHNOLOGY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Ablation Energy Modality</a:t>
            </a:r>
            <a:endParaRPr lang="en-IN"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7A60453-5FB7-FDC8-F3A3-B01101678E65}"/>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rgbClr val="595555"/>
                </a:solidFill>
              </a:rPr>
              <a:t>This section provides key insights and innovation trends observed in the technology category Ablation Energy Modalities.</a:t>
            </a:r>
          </a:p>
        </p:txBody>
      </p:sp>
      <p:sp>
        <p:nvSpPr>
          <p:cNvPr id="2" name="TextBox 1">
            <a:extLst>
              <a:ext uri="{FF2B5EF4-FFF2-40B4-BE49-F238E27FC236}">
                <a16:creationId xmlns:a16="http://schemas.microsoft.com/office/drawing/2014/main" id="{8370FEC3-1485-9CDC-BDF4-6ED9EC8796A5}"/>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E8FF4B15-1082-C487-5C18-19BB8493E5F8}"/>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10" name="Table 9">
            <a:extLst>
              <a:ext uri="{FF2B5EF4-FFF2-40B4-BE49-F238E27FC236}">
                <a16:creationId xmlns:a16="http://schemas.microsoft.com/office/drawing/2014/main" id="{830F36F4-31DA-C247-408C-BC9DC13D8A89}"/>
              </a:ext>
            </a:extLst>
          </p:cNvPr>
          <p:cNvGraphicFramePr>
            <a:graphicFrameLocks noGrp="1"/>
          </p:cNvGraphicFramePr>
          <p:nvPr>
            <p:extLst>
              <p:ext uri="{D42A27DB-BD31-4B8C-83A1-F6EECF244321}">
                <p14:modId xmlns:p14="http://schemas.microsoft.com/office/powerpoint/2010/main" val="2580897478"/>
              </p:ext>
            </p:extLst>
          </p:nvPr>
        </p:nvGraphicFramePr>
        <p:xfrm>
          <a:off x="654412" y="1191176"/>
          <a:ext cx="10368000" cy="2880000"/>
        </p:xfrm>
        <a:graphic>
          <a:graphicData uri="http://schemas.openxmlformats.org/drawingml/2006/table">
            <a:tbl>
              <a:tblPr/>
              <a:tblGrid>
                <a:gridCol w="3240000">
                  <a:extLst>
                    <a:ext uri="{9D8B030D-6E8A-4147-A177-3AD203B41FA5}">
                      <a16:colId xmlns:a16="http://schemas.microsoft.com/office/drawing/2014/main" val="2710976117"/>
                    </a:ext>
                  </a:extLst>
                </a:gridCol>
                <a:gridCol w="1188000">
                  <a:extLst>
                    <a:ext uri="{9D8B030D-6E8A-4147-A177-3AD203B41FA5}">
                      <a16:colId xmlns:a16="http://schemas.microsoft.com/office/drawing/2014/main" val="959445500"/>
                    </a:ext>
                  </a:extLst>
                </a:gridCol>
                <a:gridCol w="1188000">
                  <a:extLst>
                    <a:ext uri="{9D8B030D-6E8A-4147-A177-3AD203B41FA5}">
                      <a16:colId xmlns:a16="http://schemas.microsoft.com/office/drawing/2014/main" val="3235432902"/>
                    </a:ext>
                  </a:extLst>
                </a:gridCol>
                <a:gridCol w="1188000">
                  <a:extLst>
                    <a:ext uri="{9D8B030D-6E8A-4147-A177-3AD203B41FA5}">
                      <a16:colId xmlns:a16="http://schemas.microsoft.com/office/drawing/2014/main" val="2231714020"/>
                    </a:ext>
                  </a:extLst>
                </a:gridCol>
                <a:gridCol w="1188000">
                  <a:extLst>
                    <a:ext uri="{9D8B030D-6E8A-4147-A177-3AD203B41FA5}">
                      <a16:colId xmlns:a16="http://schemas.microsoft.com/office/drawing/2014/main" val="168604358"/>
                    </a:ext>
                  </a:extLst>
                </a:gridCol>
                <a:gridCol w="1188000">
                  <a:extLst>
                    <a:ext uri="{9D8B030D-6E8A-4147-A177-3AD203B41FA5}">
                      <a16:colId xmlns:a16="http://schemas.microsoft.com/office/drawing/2014/main" val="3283713820"/>
                    </a:ext>
                  </a:extLst>
                </a:gridCol>
                <a:gridCol w="1188000">
                  <a:extLst>
                    <a:ext uri="{9D8B030D-6E8A-4147-A177-3AD203B41FA5}">
                      <a16:colId xmlns:a16="http://schemas.microsoft.com/office/drawing/2014/main" val="344555844"/>
                    </a:ext>
                  </a:extLst>
                </a:gridCol>
              </a:tblGrid>
              <a:tr h="288000">
                <a:tc>
                  <a:txBody>
                    <a:bodyPr/>
                    <a:lstStyle/>
                    <a:p>
                      <a:pPr algn="l" fontAlgn="b">
                        <a:buNone/>
                      </a:pPr>
                      <a:endParaRPr lang="en-IN" sz="1200" b="0" i="0" u="none" strike="noStrike" dirty="0">
                        <a:solidFill>
                          <a:schemeClr val="tx1">
                            <a:lumMod val="75000"/>
                            <a:lumOff val="25000"/>
                          </a:schemeClr>
                        </a:solidFill>
                        <a:effectLst/>
                        <a:latin typeface="Tenorite" panose="00000500000000000000" pitchFamily="2" charset="0"/>
                      </a:endParaRPr>
                    </a:p>
                  </a:txBody>
                  <a:tcPr marL="6350" marR="6350" marT="6350" marB="0" anchor="b">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9907343"/>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Radiofrequency (RF) Ablation</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599C"/>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69A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69A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89B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398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99C2"/>
                    </a:solidFill>
                  </a:tcPr>
                </a:tc>
                <a:extLst>
                  <a:ext uri="{0D108BD9-81ED-4DB2-BD59-A6C34878D82A}">
                    <a16:rowId xmlns:a16="http://schemas.microsoft.com/office/drawing/2014/main" val="2241260916"/>
                  </a:ext>
                </a:extLst>
              </a:tr>
              <a:tr h="288000">
                <a:tc>
                  <a:txBody>
                    <a:bodyPr/>
                    <a:lstStyle/>
                    <a:p>
                      <a:pPr algn="l" fontAlgn="b">
                        <a:buNone/>
                      </a:pPr>
                      <a:r>
                        <a:rPr lang="en-US" sz="1200" b="0" i="0" u="none" strike="noStrike" dirty="0">
                          <a:solidFill>
                            <a:schemeClr val="tx1">
                              <a:lumMod val="75000"/>
                              <a:lumOff val="25000"/>
                            </a:schemeClr>
                          </a:solidFill>
                          <a:effectLst/>
                          <a:latin typeface="Tenorite" panose="00000500000000000000" pitchFamily="2" charset="0"/>
                        </a:rPr>
                        <a:t>Pulsed Electric Field (PEF) / Electroporation</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1D1"/>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69A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217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4992"/>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66"/>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81B4"/>
                    </a:solidFill>
                  </a:tcPr>
                </a:tc>
                <a:extLst>
                  <a:ext uri="{0D108BD9-81ED-4DB2-BD59-A6C34878D82A}">
                    <a16:rowId xmlns:a16="http://schemas.microsoft.com/office/drawing/2014/main" val="385689511"/>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Microwave Ablation</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9D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9CC"/>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9CC"/>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9D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79AF"/>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9DF"/>
                    </a:solidFill>
                  </a:tcPr>
                </a:tc>
                <a:extLst>
                  <a:ext uri="{0D108BD9-81ED-4DB2-BD59-A6C34878D82A}">
                    <a16:rowId xmlns:a16="http://schemas.microsoft.com/office/drawing/2014/main" val="681008835"/>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Laser Ablation</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99C2"/>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81B4"/>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519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1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9D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9CC"/>
                    </a:solidFill>
                  </a:tcPr>
                </a:tc>
                <a:extLst>
                  <a:ext uri="{0D108BD9-81ED-4DB2-BD59-A6C34878D82A}">
                    <a16:rowId xmlns:a16="http://schemas.microsoft.com/office/drawing/2014/main" val="2268246367"/>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Cryoablation</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9D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1D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1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9D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B9D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9DF"/>
                    </a:solidFill>
                  </a:tcPr>
                </a:tc>
                <a:extLst>
                  <a:ext uri="{0D108BD9-81ED-4DB2-BD59-A6C34878D82A}">
                    <a16:rowId xmlns:a16="http://schemas.microsoft.com/office/drawing/2014/main" val="2200367520"/>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Ultrasound Ablation (HIFU)</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1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1E4"/>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A1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1D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89B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0857110"/>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Phototherapy / Photothermal</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1E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1E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118302"/>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Steam Ablation</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9DF"/>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1E4"/>
                    </a:solidFill>
                  </a:tcPr>
                </a:tc>
                <a:extLst>
                  <a:ext uri="{0D108BD9-81ED-4DB2-BD59-A6C34878D82A}">
                    <a16:rowId xmlns:a16="http://schemas.microsoft.com/office/drawing/2014/main" val="3998287604"/>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Others</a:t>
                      </a:r>
                    </a:p>
                  </a:txBody>
                  <a:tcPr marL="6350" marR="6350" marT="635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9DF"/>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9DF"/>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1E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9E9"/>
                    </a:solidFill>
                  </a:tcPr>
                </a:tc>
                <a:extLst>
                  <a:ext uri="{0D108BD9-81ED-4DB2-BD59-A6C34878D82A}">
                    <a16:rowId xmlns:a16="http://schemas.microsoft.com/office/drawing/2014/main" val="3427019229"/>
                  </a:ext>
                </a:extLst>
              </a:tr>
            </a:tbl>
          </a:graphicData>
        </a:graphic>
      </p:graphicFrame>
      <p:sp>
        <p:nvSpPr>
          <p:cNvPr id="3" name="TextBox 2">
            <a:extLst>
              <a:ext uri="{FF2B5EF4-FFF2-40B4-BE49-F238E27FC236}">
                <a16:creationId xmlns:a16="http://schemas.microsoft.com/office/drawing/2014/main" id="{74B8AF1B-460A-F58A-E372-D6739B1EA6C5}"/>
              </a:ext>
            </a:extLst>
          </p:cNvPr>
          <p:cNvSpPr txBox="1"/>
          <p:nvPr/>
        </p:nvSpPr>
        <p:spPr>
          <a:xfrm>
            <a:off x="660038" y="4312453"/>
            <a:ext cx="10695633" cy="2079608"/>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Pulsed Electric Field (PEF) ablation appears to be one of the most preferred ablation energy modalities, with leading contributors including Hangzhou Ruidi Biological Technology (6), Boston Scientific (5), Ronghe Medical Tech Zhejiang (4), and Medtronic (4). Further, the majority of patent applications related to PEF ablation technology disclose assessment of electrical parameters (85) for tissue characterization.</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Another widely preferred ablation modality is Radiofrequency (RF) ablation, with key contributors including Medtronic (11), Shanghai MicroPort EP MedTech (4), and Zhejiang Curaway Medical Technology (4). Most patent applications related to RF ablation technology disclose assessment of thermal parameters (61), electrical parameters (59), or both (42) for tissue characterization.</a:t>
            </a:r>
          </a:p>
        </p:txBody>
      </p:sp>
      <p:sp>
        <p:nvSpPr>
          <p:cNvPr id="4" name="Slide Number Placeholder 5">
            <a:extLst>
              <a:ext uri="{FF2B5EF4-FFF2-40B4-BE49-F238E27FC236}">
                <a16:creationId xmlns:a16="http://schemas.microsoft.com/office/drawing/2014/main" id="{56744A22-C3C9-812D-239D-D13B79F4445A}"/>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18</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2" action="ppaction://hlinksldjump"/>
            <a:extLst>
              <a:ext uri="{FF2B5EF4-FFF2-40B4-BE49-F238E27FC236}">
                <a16:creationId xmlns:a16="http://schemas.microsoft.com/office/drawing/2014/main" id="{31C87078-55CB-9AD4-AEDB-9B67392BFFA3}"/>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479955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939E8-F760-24D6-7E0E-217890F2042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B9EEE3-3CBF-8CDA-DBCA-48F2672E1485}"/>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TECHNOLOGY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Data Computational Framework</a:t>
            </a:r>
            <a:endParaRPr lang="en-IN"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E1F4835-C5DE-97C7-A32B-E138C459EC28}"/>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rgbClr val="595555"/>
                </a:solidFill>
              </a:rPr>
              <a:t>This section provides key insights and innovation trends observed in the technology category Data Computational Framework.</a:t>
            </a:r>
          </a:p>
        </p:txBody>
      </p:sp>
      <p:sp>
        <p:nvSpPr>
          <p:cNvPr id="2" name="TextBox 1">
            <a:extLst>
              <a:ext uri="{FF2B5EF4-FFF2-40B4-BE49-F238E27FC236}">
                <a16:creationId xmlns:a16="http://schemas.microsoft.com/office/drawing/2014/main" id="{8347FAD6-0595-BDC8-29FB-7E436F24829A}"/>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61742487-FA69-4D7A-09E5-3C00D67D5822}"/>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3" name="Table 2">
            <a:extLst>
              <a:ext uri="{FF2B5EF4-FFF2-40B4-BE49-F238E27FC236}">
                <a16:creationId xmlns:a16="http://schemas.microsoft.com/office/drawing/2014/main" id="{E4A8DF27-7E32-7442-779A-725319B91A59}"/>
              </a:ext>
            </a:extLst>
          </p:cNvPr>
          <p:cNvGraphicFramePr>
            <a:graphicFrameLocks noGrp="1"/>
          </p:cNvGraphicFramePr>
          <p:nvPr>
            <p:extLst>
              <p:ext uri="{D42A27DB-BD31-4B8C-83A1-F6EECF244321}">
                <p14:modId xmlns:p14="http://schemas.microsoft.com/office/powerpoint/2010/main" val="1986034718"/>
              </p:ext>
            </p:extLst>
          </p:nvPr>
        </p:nvGraphicFramePr>
        <p:xfrm>
          <a:off x="655138" y="1190199"/>
          <a:ext cx="10368000" cy="1809866"/>
        </p:xfrm>
        <a:graphic>
          <a:graphicData uri="http://schemas.openxmlformats.org/drawingml/2006/table">
            <a:tbl>
              <a:tblPr/>
              <a:tblGrid>
                <a:gridCol w="3240000">
                  <a:extLst>
                    <a:ext uri="{9D8B030D-6E8A-4147-A177-3AD203B41FA5}">
                      <a16:colId xmlns:a16="http://schemas.microsoft.com/office/drawing/2014/main" val="2320448171"/>
                    </a:ext>
                  </a:extLst>
                </a:gridCol>
                <a:gridCol w="1188000">
                  <a:extLst>
                    <a:ext uri="{9D8B030D-6E8A-4147-A177-3AD203B41FA5}">
                      <a16:colId xmlns:a16="http://schemas.microsoft.com/office/drawing/2014/main" val="671593720"/>
                    </a:ext>
                  </a:extLst>
                </a:gridCol>
                <a:gridCol w="1188000">
                  <a:extLst>
                    <a:ext uri="{9D8B030D-6E8A-4147-A177-3AD203B41FA5}">
                      <a16:colId xmlns:a16="http://schemas.microsoft.com/office/drawing/2014/main" val="1638578279"/>
                    </a:ext>
                  </a:extLst>
                </a:gridCol>
                <a:gridCol w="1188000">
                  <a:extLst>
                    <a:ext uri="{9D8B030D-6E8A-4147-A177-3AD203B41FA5}">
                      <a16:colId xmlns:a16="http://schemas.microsoft.com/office/drawing/2014/main" val="2153334718"/>
                    </a:ext>
                  </a:extLst>
                </a:gridCol>
                <a:gridCol w="1188000">
                  <a:extLst>
                    <a:ext uri="{9D8B030D-6E8A-4147-A177-3AD203B41FA5}">
                      <a16:colId xmlns:a16="http://schemas.microsoft.com/office/drawing/2014/main" val="1141576539"/>
                    </a:ext>
                  </a:extLst>
                </a:gridCol>
                <a:gridCol w="1188000">
                  <a:extLst>
                    <a:ext uri="{9D8B030D-6E8A-4147-A177-3AD203B41FA5}">
                      <a16:colId xmlns:a16="http://schemas.microsoft.com/office/drawing/2014/main" val="4050618226"/>
                    </a:ext>
                  </a:extLst>
                </a:gridCol>
                <a:gridCol w="1188000">
                  <a:extLst>
                    <a:ext uri="{9D8B030D-6E8A-4147-A177-3AD203B41FA5}">
                      <a16:colId xmlns:a16="http://schemas.microsoft.com/office/drawing/2014/main" val="2621872089"/>
                    </a:ext>
                  </a:extLst>
                </a:gridCol>
              </a:tblGrid>
              <a:tr h="369866">
                <a:tc>
                  <a:txBody>
                    <a:bodyPr/>
                    <a:lstStyle/>
                    <a:p>
                      <a:pPr algn="l" fontAlgn="b">
                        <a:buNone/>
                      </a:pPr>
                      <a:endParaRPr lang="en-IN" sz="1200" b="0" i="0" u="none" strike="noStrike" dirty="0">
                        <a:solidFill>
                          <a:schemeClr val="tx1">
                            <a:lumMod val="75000"/>
                            <a:lumOff val="25000"/>
                          </a:schemeClr>
                        </a:solidFill>
                        <a:effectLst/>
                        <a:latin typeface="Tenorite" panose="00000500000000000000" pitchFamily="2" charset="0"/>
                      </a:endParaRPr>
                    </a:p>
                  </a:txBody>
                  <a:tcPr marL="6350" marR="6350" marT="635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2025</a:t>
                      </a:r>
                    </a:p>
                  </a:txBody>
                  <a:tcPr marL="6350" marR="6350" marT="635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3321485"/>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Signal Processing Algorithms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E9F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E9F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CD1E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7ECF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ADFF2"/>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DF6FF"/>
                    </a:solidFill>
                  </a:tcPr>
                </a:tc>
                <a:extLst>
                  <a:ext uri="{0D108BD9-81ED-4DB2-BD59-A6C34878D82A}">
                    <a16:rowId xmlns:a16="http://schemas.microsoft.com/office/drawing/2014/main" val="1474155875"/>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Image Processing Algorithms</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ADFF2"/>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C7E4"/>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ECBE6"/>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2B7D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C7E4"/>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ADFF2"/>
                    </a:solidFill>
                  </a:tcPr>
                </a:tc>
                <a:extLst>
                  <a:ext uri="{0D108BD9-81ED-4DB2-BD59-A6C34878D82A}">
                    <a16:rowId xmlns:a16="http://schemas.microsoft.com/office/drawing/2014/main" val="4017356167"/>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Statistical / Empirical Models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5CEE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BACD4"/>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68C1E0"/>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60BDDE"/>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91C4"/>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6FC4E2"/>
                    </a:solidFill>
                  </a:tcPr>
                </a:tc>
                <a:extLst>
                  <a:ext uri="{0D108BD9-81ED-4DB2-BD59-A6C34878D82A}">
                    <a16:rowId xmlns:a16="http://schemas.microsoft.com/office/drawing/2014/main" val="2584122324"/>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AI/ML</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BD8EE"/>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9E6F6"/>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ADFF2"/>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4D5EC"/>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3DCF0"/>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C7E4"/>
                    </a:solidFill>
                  </a:tcPr>
                </a:tc>
                <a:extLst>
                  <a:ext uri="{0D108BD9-81ED-4DB2-BD59-A6C34878D82A}">
                    <a16:rowId xmlns:a16="http://schemas.microsoft.com/office/drawing/2014/main" val="2437951675"/>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Multimodal Data Fusion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DF6FF"/>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FF0FC"/>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C0E9F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9E6F6"/>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9E6F6"/>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AADFF2"/>
                    </a:solidFill>
                  </a:tcPr>
                </a:tc>
                <a:extLst>
                  <a:ext uri="{0D108BD9-81ED-4DB2-BD59-A6C34878D82A}">
                    <a16:rowId xmlns:a16="http://schemas.microsoft.com/office/drawing/2014/main" val="3441797290"/>
                  </a:ext>
                </a:extLst>
              </a:tr>
            </a:tbl>
          </a:graphicData>
        </a:graphic>
      </p:graphicFrame>
      <p:sp>
        <p:nvSpPr>
          <p:cNvPr id="4" name="TextBox 3">
            <a:extLst>
              <a:ext uri="{FF2B5EF4-FFF2-40B4-BE49-F238E27FC236}">
                <a16:creationId xmlns:a16="http://schemas.microsoft.com/office/drawing/2014/main" id="{65E7594B-6A62-134A-56C4-DCFD97F16C5E}"/>
              </a:ext>
            </a:extLst>
          </p:cNvPr>
          <p:cNvSpPr txBox="1"/>
          <p:nvPr/>
        </p:nvSpPr>
        <p:spPr>
          <a:xfrm>
            <a:off x="660038" y="4116511"/>
            <a:ext cx="10695633" cy="2079608"/>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The largest number of patent applications disclose statistical or empirical model-based data processing approaches. Key contributors in this area include Medtronic (10) and Abbott Laboratories subsidiary St. Jude Medical (4). </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 total of 65 patent applications disclose AI/ML-based data processing systems, with leading contributors including Neurent Medical (4) and Anumana (3). </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Among patent applications disclosing AI/ML-based data processing, the majority relate to assessment of electrical parameters (28), ultrasonic/ultrasound-based parameters (20), or medical imaging data (19) for tissue characterization and lesion assessment.</a:t>
            </a:r>
          </a:p>
        </p:txBody>
      </p:sp>
      <p:sp>
        <p:nvSpPr>
          <p:cNvPr id="8" name="Slide Number Placeholder 5">
            <a:extLst>
              <a:ext uri="{FF2B5EF4-FFF2-40B4-BE49-F238E27FC236}">
                <a16:creationId xmlns:a16="http://schemas.microsoft.com/office/drawing/2014/main" id="{9B14492B-5EC4-45A1-FC7C-6C17BC7F93C4}"/>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19</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9" name="TextBox 8">
            <a:hlinkClick r:id="rId2" action="ppaction://hlinksldjump"/>
            <a:extLst>
              <a:ext uri="{FF2B5EF4-FFF2-40B4-BE49-F238E27FC236}">
                <a16:creationId xmlns:a16="http://schemas.microsoft.com/office/drawing/2014/main" id="{B9A31815-68A6-1266-3811-3BB240A30AC6}"/>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41818452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97EA0-0304-CB36-DCD3-7FA2A3C3209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FF5426-AB80-D4DE-2DB7-C59C210BAC9A}"/>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TECHNOLOGY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Tissue / Anatomical Target</a:t>
            </a:r>
            <a:endParaRPr lang="en-IN"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B18989E-071B-E784-E485-1CF144A57DB7}"/>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rgbClr val="595555"/>
                </a:solidFill>
              </a:rPr>
              <a:t>This section provides key insights and innovation trends observed in the technology category Tissue/Anatomical Target.</a:t>
            </a:r>
          </a:p>
        </p:txBody>
      </p:sp>
      <p:sp>
        <p:nvSpPr>
          <p:cNvPr id="2" name="TextBox 1">
            <a:extLst>
              <a:ext uri="{FF2B5EF4-FFF2-40B4-BE49-F238E27FC236}">
                <a16:creationId xmlns:a16="http://schemas.microsoft.com/office/drawing/2014/main" id="{D6C0B5FB-9FF5-45B0-1010-8F97C82711BC}"/>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7EE5F449-9CE5-C796-4E9B-B9C99B0C2E62}"/>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graphicFrame>
        <p:nvGraphicFramePr>
          <p:cNvPr id="3" name="Table 2">
            <a:extLst>
              <a:ext uri="{FF2B5EF4-FFF2-40B4-BE49-F238E27FC236}">
                <a16:creationId xmlns:a16="http://schemas.microsoft.com/office/drawing/2014/main" id="{22C5584C-F964-7F33-C973-34456698DD17}"/>
              </a:ext>
            </a:extLst>
          </p:cNvPr>
          <p:cNvGraphicFramePr>
            <a:graphicFrameLocks noGrp="1"/>
          </p:cNvGraphicFramePr>
          <p:nvPr>
            <p:extLst>
              <p:ext uri="{D42A27DB-BD31-4B8C-83A1-F6EECF244321}">
                <p14:modId xmlns:p14="http://schemas.microsoft.com/office/powerpoint/2010/main" val="2539715703"/>
              </p:ext>
            </p:extLst>
          </p:nvPr>
        </p:nvGraphicFramePr>
        <p:xfrm>
          <a:off x="653686" y="1193658"/>
          <a:ext cx="10368000" cy="2592000"/>
        </p:xfrm>
        <a:graphic>
          <a:graphicData uri="http://schemas.openxmlformats.org/drawingml/2006/table">
            <a:tbl>
              <a:tblPr/>
              <a:tblGrid>
                <a:gridCol w="3240000">
                  <a:extLst>
                    <a:ext uri="{9D8B030D-6E8A-4147-A177-3AD203B41FA5}">
                      <a16:colId xmlns:a16="http://schemas.microsoft.com/office/drawing/2014/main" val="750202736"/>
                    </a:ext>
                  </a:extLst>
                </a:gridCol>
                <a:gridCol w="1188000">
                  <a:extLst>
                    <a:ext uri="{9D8B030D-6E8A-4147-A177-3AD203B41FA5}">
                      <a16:colId xmlns:a16="http://schemas.microsoft.com/office/drawing/2014/main" val="339016725"/>
                    </a:ext>
                  </a:extLst>
                </a:gridCol>
                <a:gridCol w="1188000">
                  <a:extLst>
                    <a:ext uri="{9D8B030D-6E8A-4147-A177-3AD203B41FA5}">
                      <a16:colId xmlns:a16="http://schemas.microsoft.com/office/drawing/2014/main" val="1492429942"/>
                    </a:ext>
                  </a:extLst>
                </a:gridCol>
                <a:gridCol w="1188000">
                  <a:extLst>
                    <a:ext uri="{9D8B030D-6E8A-4147-A177-3AD203B41FA5}">
                      <a16:colId xmlns:a16="http://schemas.microsoft.com/office/drawing/2014/main" val="2173224901"/>
                    </a:ext>
                  </a:extLst>
                </a:gridCol>
                <a:gridCol w="1188000">
                  <a:extLst>
                    <a:ext uri="{9D8B030D-6E8A-4147-A177-3AD203B41FA5}">
                      <a16:colId xmlns:a16="http://schemas.microsoft.com/office/drawing/2014/main" val="3622986941"/>
                    </a:ext>
                  </a:extLst>
                </a:gridCol>
                <a:gridCol w="1188000">
                  <a:extLst>
                    <a:ext uri="{9D8B030D-6E8A-4147-A177-3AD203B41FA5}">
                      <a16:colId xmlns:a16="http://schemas.microsoft.com/office/drawing/2014/main" val="193383551"/>
                    </a:ext>
                  </a:extLst>
                </a:gridCol>
                <a:gridCol w="1188000">
                  <a:extLst>
                    <a:ext uri="{9D8B030D-6E8A-4147-A177-3AD203B41FA5}">
                      <a16:colId xmlns:a16="http://schemas.microsoft.com/office/drawing/2014/main" val="3700271310"/>
                    </a:ext>
                  </a:extLst>
                </a:gridCol>
              </a:tblGrid>
              <a:tr h="288000">
                <a:tc>
                  <a:txBody>
                    <a:bodyPr/>
                    <a:lstStyle/>
                    <a:p>
                      <a:pPr algn="l" fontAlgn="b">
                        <a:buNone/>
                      </a:pPr>
                      <a:endParaRPr lang="en-IN" sz="1200" b="0" i="0" u="none" strike="noStrike" dirty="0">
                        <a:solidFill>
                          <a:schemeClr val="tx1">
                            <a:lumMod val="75000"/>
                            <a:lumOff val="25000"/>
                          </a:schemeClr>
                        </a:solidFill>
                        <a:effectLst/>
                        <a:latin typeface="Tenorite" panose="00000500000000000000" pitchFamily="2" charset="0"/>
                      </a:endParaRPr>
                    </a:p>
                  </a:txBody>
                  <a:tcPr marL="6350" marR="6350" marT="635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2020</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2025</a:t>
                      </a:r>
                    </a:p>
                  </a:txBody>
                  <a:tcPr marL="6350" marR="6350" marT="635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6304651"/>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Cardiac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89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38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79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17</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696"/>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58F"/>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9</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DB2"/>
                    </a:solidFill>
                  </a:tcPr>
                </a:tc>
                <a:extLst>
                  <a:ext uri="{0D108BD9-81ED-4DB2-BD59-A6C34878D82A}">
                    <a16:rowId xmlns:a16="http://schemas.microsoft.com/office/drawing/2014/main" val="269721691"/>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Renal / Perirenal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1C3"/>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FBC"/>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AA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A"/>
                    </a:solidFill>
                  </a:tcPr>
                </a:tc>
                <a:extLst>
                  <a:ext uri="{0D108BD9-81ED-4DB2-BD59-A6C34878D82A}">
                    <a16:rowId xmlns:a16="http://schemas.microsoft.com/office/drawing/2014/main" val="2521256228"/>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Pulmonary / Airway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2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0C0"/>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0C0"/>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2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2C7"/>
                    </a:solidFill>
                  </a:tcPr>
                </a:tc>
                <a:extLst>
                  <a:ext uri="{0D108BD9-81ED-4DB2-BD59-A6C34878D82A}">
                    <a16:rowId xmlns:a16="http://schemas.microsoft.com/office/drawing/2014/main" val="3297726365"/>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Gastrointestinal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0C0"/>
                    </a:solidFill>
                  </a:tcPr>
                </a:tc>
                <a:extLst>
                  <a:ext uri="{0D108BD9-81ED-4DB2-BD59-A6C34878D82A}">
                    <a16:rowId xmlns:a16="http://schemas.microsoft.com/office/drawing/2014/main" val="3884132942"/>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Oncology / Tumor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AA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AA4"/>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593"/>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79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593"/>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AA7"/>
                    </a:solidFill>
                  </a:tcPr>
                </a:tc>
                <a:extLst>
                  <a:ext uri="{0D108BD9-81ED-4DB2-BD59-A6C34878D82A}">
                    <a16:rowId xmlns:a16="http://schemas.microsoft.com/office/drawing/2014/main" val="1660883572"/>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Neurological / Nerve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EB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8</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EB5"/>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1C3"/>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2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A"/>
                    </a:solidFill>
                  </a:tcPr>
                </a:tc>
                <a:extLst>
                  <a:ext uri="{0D108BD9-81ED-4DB2-BD59-A6C34878D82A}">
                    <a16:rowId xmlns:a16="http://schemas.microsoft.com/office/drawing/2014/main" val="1197494186"/>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Generic (No Organ Specified)</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388"/>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95F"/>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53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819"/>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A62"/>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42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240"/>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25</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07A"/>
                    </a:solidFill>
                  </a:tcPr>
                </a:tc>
                <a:extLst>
                  <a:ext uri="{0D108BD9-81ED-4DB2-BD59-A6C34878D82A}">
                    <a16:rowId xmlns:a16="http://schemas.microsoft.com/office/drawing/2014/main" val="2519972277"/>
                  </a:ext>
                </a:extLst>
              </a:tr>
              <a:tr h="288000">
                <a:tc>
                  <a:txBody>
                    <a:bodyPr/>
                    <a:lstStyle/>
                    <a:p>
                      <a:pPr algn="l" fontAlgn="b">
                        <a:buNone/>
                      </a:pPr>
                      <a:r>
                        <a:rPr lang="en-IN" sz="1200" b="0" i="0" u="none" strike="noStrike" dirty="0">
                          <a:solidFill>
                            <a:schemeClr val="tx1">
                              <a:lumMod val="75000"/>
                              <a:lumOff val="25000"/>
                            </a:schemeClr>
                          </a:solidFill>
                          <a:effectLst/>
                          <a:latin typeface="Tenorite" panose="00000500000000000000" pitchFamily="2" charset="0"/>
                        </a:rPr>
                        <a:t>Other / Non-Specific </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6</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EFBC"/>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1</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D"/>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A"/>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3</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2C7"/>
                    </a:solidFill>
                  </a:tcPr>
                </a:tc>
                <a:tc>
                  <a:txBody>
                    <a:bodyPr/>
                    <a:lstStyle/>
                    <a:p>
                      <a:pPr algn="ctr" fontAlgn="ctr">
                        <a:buNone/>
                      </a:pPr>
                      <a:r>
                        <a:rPr lang="en-IN" sz="1200" b="0" i="0" u="none" strike="noStrike" dirty="0">
                          <a:solidFill>
                            <a:schemeClr val="tx1">
                              <a:lumMod val="75000"/>
                              <a:lumOff val="25000"/>
                            </a:schemeClr>
                          </a:solidFill>
                          <a:effectLst/>
                          <a:latin typeface="Tenorite" panose="00000500000000000000" pitchFamily="2" charset="0"/>
                        </a:rPr>
                        <a:t>2</a:t>
                      </a:r>
                    </a:p>
                  </a:txBody>
                  <a:tcPr marL="6350" marR="6350" marT="635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3CA"/>
                    </a:solidFill>
                  </a:tcPr>
                </a:tc>
                <a:extLst>
                  <a:ext uri="{0D108BD9-81ED-4DB2-BD59-A6C34878D82A}">
                    <a16:rowId xmlns:a16="http://schemas.microsoft.com/office/drawing/2014/main" val="3361983298"/>
                  </a:ext>
                </a:extLst>
              </a:tr>
            </a:tbl>
          </a:graphicData>
        </a:graphic>
      </p:graphicFrame>
      <p:sp>
        <p:nvSpPr>
          <p:cNvPr id="4" name="TextBox 3">
            <a:extLst>
              <a:ext uri="{FF2B5EF4-FFF2-40B4-BE49-F238E27FC236}">
                <a16:creationId xmlns:a16="http://schemas.microsoft.com/office/drawing/2014/main" id="{3E23E308-CB13-43F1-341E-90525CC58EAA}"/>
              </a:ext>
            </a:extLst>
          </p:cNvPr>
          <p:cNvSpPr txBox="1"/>
          <p:nvPr/>
        </p:nvSpPr>
        <p:spPr>
          <a:xfrm>
            <a:off x="660038" y="4312453"/>
            <a:ext cx="10695633" cy="1791068"/>
          </a:xfrm>
          <a:prstGeom prst="rect">
            <a:avLst/>
          </a:prstGeom>
          <a:noFill/>
        </p:spPr>
        <p:txBody>
          <a:bodyPr wrap="square" rtlCol="0">
            <a:spAutoFit/>
          </a:bodyPr>
          <a:lstStyle/>
          <a:p>
            <a:pPr algn="just">
              <a:lnSpc>
                <a:spcPct val="150000"/>
              </a:lnSpc>
              <a:buClr>
                <a:srgbClr val="0070C0"/>
              </a:buClr>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Insights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Majority of the patent applications (206) disclose generic applications without specifying particular anatomical targets. Key contributors in this category include Shanghai MicroPort EP MedTech (9), Olympus Corporation subsidiary GYRUS (8), Medlumics (7), and Medtronic (6). </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Among applications specifying anatomical targets, cardiac (97) and oncology (89) represent the leading focus areas.</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Within cardiac-related applications, the majority disclose assessment of tissue-related electrical parameters (66).</a:t>
            </a:r>
          </a:p>
          <a:p>
            <a:pPr marL="285750" indent="-285750" algn="just">
              <a:lnSpc>
                <a:spcPct val="150000"/>
              </a:lnSpc>
              <a:buClr>
                <a:srgbClr val="81DEFF"/>
              </a:buClr>
              <a:buFont typeface="Arial" panose="020B0604020202020204" pitchFamily="34" charset="0"/>
              <a:buChar char="•"/>
            </a:pPr>
            <a:r>
              <a:rPr lang="en-US" sz="1250" dirty="0">
                <a:latin typeface="Tenorite" panose="00000500000000000000" pitchFamily="2" charset="0"/>
                <a:ea typeface="Calibri" panose="020F0502020204030204" pitchFamily="34" charset="0"/>
                <a:cs typeface="Calibri" panose="020F0502020204030204" pitchFamily="34" charset="0"/>
              </a:rPr>
              <a:t>In oncology-related applications, the majority disclose assessment of tissue-related thermal parameters (40).</a:t>
            </a:r>
          </a:p>
        </p:txBody>
      </p:sp>
      <p:sp>
        <p:nvSpPr>
          <p:cNvPr id="8" name="Slide Number Placeholder 5">
            <a:extLst>
              <a:ext uri="{FF2B5EF4-FFF2-40B4-BE49-F238E27FC236}">
                <a16:creationId xmlns:a16="http://schemas.microsoft.com/office/drawing/2014/main" id="{F7DF2376-6565-A8FB-D743-6C2F37D6C566}"/>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20</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9" name="TextBox 8">
            <a:hlinkClick r:id="rId2" action="ppaction://hlinksldjump"/>
            <a:extLst>
              <a:ext uri="{FF2B5EF4-FFF2-40B4-BE49-F238E27FC236}">
                <a16:creationId xmlns:a16="http://schemas.microsoft.com/office/drawing/2014/main" id="{B9F893B9-73AD-0C95-7944-3D047903D101}"/>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7161575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4367-640F-D02F-8E52-0DEA886768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FABCE2-4784-B3F9-F4B5-78227D3BE8CF}"/>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0070C0"/>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solidFill>
                  <a:srgbClr val="595555"/>
                </a:solidFill>
              </a:rPr>
              <a:t>This section presents key observations derived from the analysis of recent patent filings.</a:t>
            </a:r>
          </a:p>
        </p:txBody>
      </p:sp>
      <p:sp>
        <p:nvSpPr>
          <p:cNvPr id="2" name="TextBox 1">
            <a:extLst>
              <a:ext uri="{FF2B5EF4-FFF2-40B4-BE49-F238E27FC236}">
                <a16:creationId xmlns:a16="http://schemas.microsoft.com/office/drawing/2014/main" id="{891CD87E-47DF-4EB0-6F8E-E533B34B8218}"/>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C7DA83BB-3E14-625C-84F7-94608267F5BA}"/>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8" name="Title 4">
            <a:extLst>
              <a:ext uri="{FF2B5EF4-FFF2-40B4-BE49-F238E27FC236}">
                <a16:creationId xmlns:a16="http://schemas.microsoft.com/office/drawing/2014/main" id="{3568EE34-721E-3C12-88D5-49389777199E}"/>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TECHNOLOGY TREND </a:t>
            </a:r>
            <a:r>
              <a:rPr lang="en-US"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 </a:t>
            </a:r>
            <a:r>
              <a:rPr lang="en-US" sz="28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rPr>
              <a:t>Overall Observation</a:t>
            </a:r>
            <a:endParaRPr lang="en-IN" sz="3600" dirty="0">
              <a:solidFill>
                <a:schemeClr val="tx1">
                  <a:lumMod val="75000"/>
                  <a:lumOff val="25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3FE1B3A-21CF-0884-EB80-33A51EFC3633}"/>
              </a:ext>
            </a:extLst>
          </p:cNvPr>
          <p:cNvSpPr txBox="1"/>
          <p:nvPr/>
        </p:nvSpPr>
        <p:spPr>
          <a:xfrm>
            <a:off x="658813" y="1081302"/>
            <a:ext cx="11247403" cy="4965014"/>
          </a:xfrm>
          <a:prstGeom prst="rect">
            <a:avLst/>
          </a:prstGeom>
          <a:noFill/>
        </p:spPr>
        <p:txBody>
          <a:bodyPr wrap="square" rtlCol="0">
            <a:spAutoFit/>
          </a:bodyPr>
          <a:lstStyle/>
          <a:p>
            <a:pPr marL="342900" indent="-342900" algn="just">
              <a:lnSpc>
                <a:spcPct val="150000"/>
              </a:lnSpc>
              <a:buClr>
                <a:srgbClr val="65B4E5"/>
              </a:buClr>
              <a:buFont typeface="+mj-lt"/>
              <a:buAutoNum type="arabicPeriod"/>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Impedance-Based Lesion Endpoint Detection: </a:t>
            </a:r>
            <a:r>
              <a:rPr lang="en-US" sz="1250" i="0" u="none" strike="noStrike" dirty="0">
                <a:effectLst/>
                <a:latin typeface="Tenorite" panose="00000500000000000000" pitchFamily="2" charset="0"/>
                <a:ea typeface="Calibri" panose="020F0502020204030204" pitchFamily="34" charset="0"/>
                <a:cs typeface="Calibri" panose="020F0502020204030204" pitchFamily="34" charset="0"/>
              </a:rPr>
              <a:t>Real-time tracking of tissue impedance changes provides a reliable indicator of ablation progression, lesion completion, and tissue desiccation. This approach is broadly applicable across multiple ablation modalities, including RF ablation, pulsed electric field (PEF) ablation, microwave ablation, cryoablation, and ultrasound-based ablation.</a:t>
            </a:r>
          </a:p>
          <a:p>
            <a:pPr marL="342900" indent="-342900" algn="just">
              <a:lnSpc>
                <a:spcPct val="150000"/>
              </a:lnSpc>
              <a:buClr>
                <a:srgbClr val="65B4E5"/>
              </a:buClr>
              <a:buFont typeface="+mj-lt"/>
              <a:buAutoNum type="arabicPeriod"/>
            </a:pPr>
            <a:endParaRPr lang="en-US" sz="1250" dirty="0">
              <a:latin typeface="Tenorite" panose="00000500000000000000" pitchFamily="2" charset="0"/>
              <a:ea typeface="Calibri" panose="020F0502020204030204" pitchFamily="34" charset="0"/>
              <a:cs typeface="Calibri" panose="020F0502020204030204" pitchFamily="34" charset="0"/>
            </a:endParaRPr>
          </a:p>
          <a:p>
            <a:pPr marL="342900" indent="-342900" algn="just">
              <a:lnSpc>
                <a:spcPct val="150000"/>
              </a:lnSpc>
              <a:buClr>
                <a:srgbClr val="65B4E5"/>
              </a:buClr>
              <a:buFont typeface="+mj-lt"/>
              <a:buAutoNum type="arabicPeriod"/>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Distributed Multi-Point Thermal Sensing with Spatial Field Reconstruction: </a:t>
            </a:r>
            <a:r>
              <a:rPr lang="en-US" sz="1250" dirty="0">
                <a:latin typeface="Tenorite" panose="00000500000000000000" pitchFamily="2" charset="0"/>
                <a:ea typeface="Calibri" panose="020F0502020204030204" pitchFamily="34" charset="0"/>
                <a:cs typeface="Calibri" panose="020F0502020204030204" pitchFamily="34" charset="0"/>
              </a:rPr>
              <a:t>Incorporation of arrays of temperature sensors, rather than a single tip-based thermometer, facilitates spatially distributed thermal sensing across the treatment region. Combined with spatial interpolation and reconstruction algorithms, these sensor arrays enable continuous thermal field mapping of the ablation zone, supporting improved assessment of lesion formation, tissue heating distribution, and procedural efficacy.</a:t>
            </a:r>
          </a:p>
          <a:p>
            <a:pPr marL="342900" indent="-342900" algn="just">
              <a:lnSpc>
                <a:spcPct val="150000"/>
              </a:lnSpc>
              <a:buClr>
                <a:srgbClr val="65B4E5"/>
              </a:buClr>
              <a:buFont typeface="+mj-lt"/>
              <a:buAutoNum type="arabicPeriod"/>
            </a:pPr>
            <a:endParaRPr lang="en-US" sz="1250" dirty="0">
              <a:latin typeface="Tenorite" panose="00000500000000000000" pitchFamily="2" charset="0"/>
              <a:ea typeface="Calibri" panose="020F0502020204030204" pitchFamily="34" charset="0"/>
              <a:cs typeface="Calibri" panose="020F0502020204030204" pitchFamily="34" charset="0"/>
            </a:endParaRPr>
          </a:p>
          <a:p>
            <a:pPr marL="342900" indent="-342900" algn="just">
              <a:lnSpc>
                <a:spcPct val="150000"/>
              </a:lnSpc>
              <a:buClr>
                <a:srgbClr val="65B4E5"/>
              </a:buClr>
              <a:buFont typeface="+mj-lt"/>
              <a:buAutoNum type="arabicPeriod"/>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Multi-Modal Sensor Fusion with Deep Learning: </a:t>
            </a:r>
            <a:r>
              <a:rPr lang="en-US" sz="1250" dirty="0">
                <a:latin typeface="Tenorite" panose="00000500000000000000" pitchFamily="2" charset="0"/>
                <a:ea typeface="Calibri" panose="020F0502020204030204" pitchFamily="34" charset="0"/>
                <a:cs typeface="Calibri" panose="020F0502020204030204" pitchFamily="34" charset="0"/>
              </a:rPr>
              <a:t>Integration of multiple sensing modalities enables simultaneous acquisition of complementary tissue-related data. Combined with AI/ML algorithms, these systems support more efficient and accurate assessment of tissue characteristics and lesion status.</a:t>
            </a:r>
          </a:p>
          <a:p>
            <a:pPr marL="342900" indent="-342900" algn="just">
              <a:lnSpc>
                <a:spcPct val="150000"/>
              </a:lnSpc>
              <a:buClr>
                <a:srgbClr val="65B4E5"/>
              </a:buClr>
              <a:buFont typeface="+mj-lt"/>
              <a:buAutoNum type="arabicPeriod"/>
            </a:pPr>
            <a:endParaRPr lang="en-US" sz="1250" dirty="0">
              <a:latin typeface="Tenorite" panose="00000500000000000000" pitchFamily="2" charset="0"/>
              <a:ea typeface="Calibri" panose="020F0502020204030204" pitchFamily="34" charset="0"/>
              <a:cs typeface="Calibri" panose="020F0502020204030204" pitchFamily="34" charset="0"/>
            </a:endParaRPr>
          </a:p>
          <a:p>
            <a:pPr marL="342900" indent="-342900" algn="just">
              <a:lnSpc>
                <a:spcPct val="150000"/>
              </a:lnSpc>
              <a:buClr>
                <a:srgbClr val="65B4E5"/>
              </a:buClr>
              <a:buFont typeface="+mj-lt"/>
              <a:buAutoNum type="arabicPeriod"/>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Imaging-Guided Real-Time Lesion Visualization: </a:t>
            </a:r>
            <a:r>
              <a:rPr lang="en-US" sz="1250" dirty="0">
                <a:latin typeface="Tenorite" panose="00000500000000000000" pitchFamily="2" charset="0"/>
                <a:ea typeface="Calibri" panose="020F0502020204030204" pitchFamily="34" charset="0"/>
                <a:cs typeface="Calibri" panose="020F0502020204030204" pitchFamily="34" charset="0"/>
              </a:rPr>
              <a:t>Integration of ablation devices with imaging modalities such as ultrasound, OCT, photoacoustic imaging, and CT enables real-time visualization of lesion formation during ablation procedures.</a:t>
            </a:r>
          </a:p>
          <a:p>
            <a:pPr marL="342900" indent="-342900" algn="just">
              <a:lnSpc>
                <a:spcPct val="150000"/>
              </a:lnSpc>
              <a:buClr>
                <a:srgbClr val="65B4E5"/>
              </a:buClr>
              <a:buFont typeface="+mj-lt"/>
              <a:buAutoNum type="arabicPeriod"/>
            </a:pPr>
            <a:endParaRPr lang="en-US" sz="1250" dirty="0">
              <a:latin typeface="Tenorite" panose="00000500000000000000" pitchFamily="2" charset="0"/>
              <a:ea typeface="Calibri" panose="020F0502020204030204" pitchFamily="34" charset="0"/>
              <a:cs typeface="Calibri" panose="020F0502020204030204" pitchFamily="34" charset="0"/>
            </a:endParaRPr>
          </a:p>
          <a:p>
            <a:pPr marL="342900" indent="-342900" algn="just">
              <a:lnSpc>
                <a:spcPct val="150000"/>
              </a:lnSpc>
              <a:buClr>
                <a:srgbClr val="65B4E5"/>
              </a:buClr>
              <a:buFont typeface="+mj-lt"/>
              <a:buAutoNum type="arabicPeriod"/>
            </a:pPr>
            <a:r>
              <a:rPr lang="en-US" sz="1250" b="1" dirty="0">
                <a:solidFill>
                  <a:srgbClr val="65B4E5"/>
                </a:solidFill>
                <a:latin typeface="Tenorite" panose="00000500000000000000" pitchFamily="2" charset="0"/>
                <a:ea typeface="Calibri" panose="020F0502020204030204" pitchFamily="34" charset="0"/>
                <a:cs typeface="Calibri" panose="020F0502020204030204" pitchFamily="34" charset="0"/>
              </a:rPr>
              <a:t>Closed-Loop Adaptive Energy Control: </a:t>
            </a:r>
            <a:r>
              <a:rPr lang="en-US" sz="1250" dirty="0">
                <a:latin typeface="Tenorite" panose="00000500000000000000" pitchFamily="2" charset="0"/>
                <a:ea typeface="Calibri" panose="020F0502020204030204" pitchFamily="34" charset="0"/>
                <a:cs typeface="Calibri" panose="020F0502020204030204" pitchFamily="34" charset="0"/>
              </a:rPr>
              <a:t>Incorporation of real-time sensing and feedback mechanisms enables automatic adjustment of ablation energy parameters based on detected tissue responses and lesion progression.</a:t>
            </a:r>
          </a:p>
        </p:txBody>
      </p:sp>
      <p:sp>
        <p:nvSpPr>
          <p:cNvPr id="3" name="Slide Number Placeholder 5">
            <a:extLst>
              <a:ext uri="{FF2B5EF4-FFF2-40B4-BE49-F238E27FC236}">
                <a16:creationId xmlns:a16="http://schemas.microsoft.com/office/drawing/2014/main" id="{6E34DAA7-BE68-B196-BD0F-C1C2771C9D16}"/>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21</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4" name="TextBox 3">
            <a:hlinkClick r:id="rId2" action="ppaction://hlinksldjump"/>
            <a:extLst>
              <a:ext uri="{FF2B5EF4-FFF2-40B4-BE49-F238E27FC236}">
                <a16:creationId xmlns:a16="http://schemas.microsoft.com/office/drawing/2014/main" id="{A290351F-3B87-946B-910D-C783CF067842}"/>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2452742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C869C-0FD3-E7B1-6EE3-830B575C0F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F61E16-5401-7104-F5F7-2F28E603C17B}"/>
              </a:ext>
            </a:extLst>
          </p:cNvPr>
          <p:cNvSpPr>
            <a:spLocks noGrp="1"/>
          </p:cNvSpPr>
          <p:nvPr>
            <p:ph type="title"/>
          </p:nvPr>
        </p:nvSpPr>
        <p:spPr>
          <a:xfrm>
            <a:off x="526487" y="141102"/>
            <a:ext cx="10138823"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ASSUMPTIONS</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6417651-2936-6D47-8CA7-5E6B498B677F}"/>
              </a:ext>
            </a:extLst>
          </p:cNvPr>
          <p:cNvSpPr txBox="1"/>
          <p:nvPr/>
        </p:nvSpPr>
        <p:spPr>
          <a:xfrm>
            <a:off x="526488" y="718019"/>
            <a:ext cx="11247403" cy="276999"/>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highlights the patents/published application which are considered for the current study.</a:t>
            </a:r>
          </a:p>
        </p:txBody>
      </p:sp>
      <p:sp>
        <p:nvSpPr>
          <p:cNvPr id="2" name="TextBox 1">
            <a:extLst>
              <a:ext uri="{FF2B5EF4-FFF2-40B4-BE49-F238E27FC236}">
                <a16:creationId xmlns:a16="http://schemas.microsoft.com/office/drawing/2014/main" id="{3599E693-937D-099D-5BF7-F190C7CE1160}"/>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3FB99402-44CC-AE88-1013-D1C772725704}"/>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10" name="Rectangle 9">
            <a:extLst>
              <a:ext uri="{FF2B5EF4-FFF2-40B4-BE49-F238E27FC236}">
                <a16:creationId xmlns:a16="http://schemas.microsoft.com/office/drawing/2014/main" id="{CF364B96-0695-489F-2FB1-773197D8F08A}"/>
              </a:ext>
            </a:extLst>
          </p:cNvPr>
          <p:cNvSpPr/>
          <p:nvPr/>
        </p:nvSpPr>
        <p:spPr>
          <a:xfrm>
            <a:off x="556192" y="5063489"/>
            <a:ext cx="1424233" cy="5418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B94BAAAE-AF65-80FC-21AA-77BD84506BA8}"/>
              </a:ext>
            </a:extLst>
          </p:cNvPr>
          <p:cNvSpPr txBox="1"/>
          <p:nvPr/>
        </p:nvSpPr>
        <p:spPr>
          <a:xfrm>
            <a:off x="526488" y="1080371"/>
            <a:ext cx="10979535" cy="5253554"/>
          </a:xfrm>
          <a:prstGeom prst="rect">
            <a:avLst/>
          </a:prstGeom>
          <a:noFill/>
        </p:spPr>
        <p:txBody>
          <a:bodyPr wrap="square">
            <a:spAutoFit/>
          </a:bodyPr>
          <a:lstStyle/>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considered patents/published applications published having priority from 2020 onwards and published from 2022 onwards.</a:t>
            </a:r>
          </a:p>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analyzed one patent per INPADOC family.</a:t>
            </a:r>
          </a:p>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We have extracted the data using paid database, i.e., Relecura.</a:t>
            </a:r>
          </a:p>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For the analysis of non-English patents and published applications, we relied on machine-translated texts. These patents have been tagged based on the limited information available in the translated content.</a:t>
            </a:r>
          </a:p>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 are categorized based on the technology focus of the company.</a:t>
            </a:r>
          </a:p>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 applications filed after 2025 are considered for the study.</a:t>
            </a:r>
          </a:p>
          <a:p>
            <a:pPr marL="285750" indent="-285750" algn="just">
              <a:lnSpc>
                <a:spcPct val="150000"/>
              </a:lnSpc>
              <a:buClr>
                <a:srgbClr val="9D9171"/>
              </a:buClr>
              <a:buFont typeface="Arial" panose="020B0604020202020204" pitchFamily="34" charset="0"/>
              <a:buChar char="•"/>
            </a:pPr>
            <a:endPar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In the current study, we have included the following patents/published applications:</a:t>
            </a:r>
          </a:p>
          <a:p>
            <a:pPr marL="742950" lvl="1"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Patents/publications focused on in-vivo characterization of ablated tissue and/or lesions.</a:t>
            </a:r>
          </a:p>
          <a:p>
            <a:pPr marL="742950" lvl="1"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Patents/publications disclosing catheter based solution for ablated tissue characterization.</a:t>
            </a:r>
          </a:p>
          <a:p>
            <a:pPr marL="285750" indent="-285750" algn="just">
              <a:lnSpc>
                <a:spcPct val="150000"/>
              </a:lnSpc>
              <a:buClr>
                <a:srgbClr val="9D9171"/>
              </a:buClr>
              <a:buFont typeface="Arial" panose="020B0604020202020204" pitchFamily="34" charset="0"/>
              <a:buChar char="•"/>
            </a:pPr>
            <a:endPar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a:p>
            <a:pPr marL="285750"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In the current study, we have not included the following patents/published applications:</a:t>
            </a:r>
          </a:p>
          <a:p>
            <a:pPr marL="742950" lvl="1"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Patents/publications related to pre-procedural planning of ablation procedures.</a:t>
            </a:r>
          </a:p>
          <a:p>
            <a:pPr marL="742950" lvl="1"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Patents/publications related to skin treatment in ablation procedures.</a:t>
            </a:r>
          </a:p>
          <a:p>
            <a:pPr marL="742950" lvl="1"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Patents/publications related to an electrosurgical instrument used to cut and coagulate tissue in ablation procedures.</a:t>
            </a:r>
          </a:p>
          <a:p>
            <a:pPr marL="742950" lvl="1"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Patents/publications disclosing only tissue assessment or characterization without integration into an ablation system.</a:t>
            </a:r>
          </a:p>
          <a:p>
            <a:pPr marL="742950" lvl="1" indent="-285750" algn="just">
              <a:lnSpc>
                <a:spcPct val="150000"/>
              </a:lnSpc>
              <a:buClr>
                <a:srgbClr val="9D9171"/>
              </a:buClr>
              <a:buFont typeface="Arial" panose="020B0604020202020204" pitchFamily="34" charset="0"/>
              <a:buChar char="•"/>
            </a:pPr>
            <a:r>
              <a:rPr lang="en-US" sz="125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rPr>
              <a:t>Patents/publications related to non-invasive tissue ablation procedures.</a:t>
            </a:r>
          </a:p>
        </p:txBody>
      </p:sp>
      <p:sp>
        <p:nvSpPr>
          <p:cNvPr id="3" name="Slide Number Placeholder 5">
            <a:extLst>
              <a:ext uri="{FF2B5EF4-FFF2-40B4-BE49-F238E27FC236}">
                <a16:creationId xmlns:a16="http://schemas.microsoft.com/office/drawing/2014/main" id="{19743B19-032F-BD49-4C23-980ADF495345}"/>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22</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9" name="TextBox 8">
            <a:hlinkClick r:id="rId2" action="ppaction://hlinksldjump"/>
            <a:extLst>
              <a:ext uri="{FF2B5EF4-FFF2-40B4-BE49-F238E27FC236}">
                <a16:creationId xmlns:a16="http://schemas.microsoft.com/office/drawing/2014/main" id="{335AC54E-0357-E1C8-67E4-B2B425CC1AB3}"/>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2836483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7105-302E-D75D-0806-43EE55E80FF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14D36A-CA72-40D6-A661-C7228C37F38E}"/>
              </a:ext>
            </a:extLst>
          </p:cNvPr>
          <p:cNvSpPr>
            <a:spLocks noGrp="1"/>
          </p:cNvSpPr>
          <p:nvPr>
            <p:ph type="title"/>
          </p:nvPr>
        </p:nvSpPr>
        <p:spPr>
          <a:xfrm>
            <a:off x="674813" y="2990756"/>
            <a:ext cx="3887027" cy="693035"/>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B18EC1A-1849-A0B2-8A49-FFCDCF788E7F}"/>
              </a:ext>
            </a:extLst>
          </p:cNvPr>
          <p:cNvSpPr txBox="1"/>
          <p:nvPr/>
        </p:nvSpPr>
        <p:spPr>
          <a:xfrm>
            <a:off x="674813" y="3811025"/>
            <a:ext cx="11247403" cy="276999"/>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Subsequent slides include taxonomy definitions. </a:t>
            </a:r>
          </a:p>
        </p:txBody>
      </p:sp>
      <p:sp>
        <p:nvSpPr>
          <p:cNvPr id="2" name="TextBox 1">
            <a:extLst>
              <a:ext uri="{FF2B5EF4-FFF2-40B4-BE49-F238E27FC236}">
                <a16:creationId xmlns:a16="http://schemas.microsoft.com/office/drawing/2014/main" id="{06BA065F-6578-EDE0-96FA-470B56E50C06}"/>
              </a:ext>
            </a:extLst>
          </p:cNvPr>
          <p:cNvSpPr txBox="1"/>
          <p:nvPr/>
        </p:nvSpPr>
        <p:spPr>
          <a:xfrm>
            <a:off x="377190" y="6506571"/>
            <a:ext cx="2011680" cy="230832"/>
          </a:xfrm>
          <a:prstGeom prst="rect">
            <a:avLst/>
          </a:prstGeom>
          <a:noFill/>
        </p:spPr>
        <p:txBody>
          <a:bodyPr wrap="square" rtlCol="0">
            <a:spAutoFit/>
          </a:bodyPr>
          <a:lstStyle/>
          <a:p>
            <a:r>
              <a:rPr lang="en-US" sz="900" dirty="0">
                <a:latin typeface="Tenorite" panose="00000500000000000000" pitchFamily="2" charset="0"/>
              </a:rPr>
              <a:t>Client Confidential</a:t>
            </a:r>
            <a:endParaRPr lang="en-IN" sz="900" dirty="0">
              <a:latin typeface="Tenorite" panose="00000500000000000000" pitchFamily="2" charset="0"/>
            </a:endParaRPr>
          </a:p>
        </p:txBody>
      </p:sp>
      <p:sp>
        <p:nvSpPr>
          <p:cNvPr id="7" name="TextBox 6">
            <a:extLst>
              <a:ext uri="{FF2B5EF4-FFF2-40B4-BE49-F238E27FC236}">
                <a16:creationId xmlns:a16="http://schemas.microsoft.com/office/drawing/2014/main" id="{474D0B17-20A3-1A60-A435-235B17878A62}"/>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3" name="Slide Number Placeholder 5">
            <a:extLst>
              <a:ext uri="{FF2B5EF4-FFF2-40B4-BE49-F238E27FC236}">
                <a16:creationId xmlns:a16="http://schemas.microsoft.com/office/drawing/2014/main" id="{0EDCC598-2D21-C2B0-9A19-BC20CC69C94B}"/>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23</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2" action="ppaction://hlinksldjump"/>
            <a:extLst>
              <a:ext uri="{FF2B5EF4-FFF2-40B4-BE49-F238E27FC236}">
                <a16:creationId xmlns:a16="http://schemas.microsoft.com/office/drawing/2014/main" id="{DC87AD5A-6574-2177-89C6-8D30DC435DAC}"/>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2799134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EB25C-38BD-87A2-51D1-79D0095A334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747D84-E794-B24A-0A2C-C515FEC12AF4}"/>
              </a:ext>
            </a:extLst>
          </p:cNvPr>
          <p:cNvSpPr>
            <a:spLocks noGrp="1"/>
          </p:cNvSpPr>
          <p:nvPr>
            <p:ph type="title"/>
          </p:nvPr>
        </p:nvSpPr>
        <p:spPr>
          <a:xfrm>
            <a:off x="446478" y="167194"/>
            <a:ext cx="8014128"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BC8FE17F-2D0E-ABF5-8B0E-1FE11B0878CD}"/>
              </a:ext>
            </a:extLst>
          </p:cNvPr>
          <p:cNvSpPr txBox="1"/>
          <p:nvPr/>
        </p:nvSpPr>
        <p:spPr>
          <a:xfrm>
            <a:off x="536096" y="747037"/>
            <a:ext cx="10370637" cy="269304"/>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provide definition of the different materials used in blades under which different patents/published applications are tagged.</a:t>
            </a:r>
          </a:p>
        </p:txBody>
      </p:sp>
      <p:graphicFrame>
        <p:nvGraphicFramePr>
          <p:cNvPr id="2" name="Table 1">
            <a:extLst>
              <a:ext uri="{FF2B5EF4-FFF2-40B4-BE49-F238E27FC236}">
                <a16:creationId xmlns:a16="http://schemas.microsoft.com/office/drawing/2014/main" id="{F04A620C-E103-1BF0-4164-0CA607E955B2}"/>
              </a:ext>
            </a:extLst>
          </p:cNvPr>
          <p:cNvGraphicFramePr>
            <a:graphicFrameLocks noGrp="1"/>
          </p:cNvGraphicFramePr>
          <p:nvPr/>
        </p:nvGraphicFramePr>
        <p:xfrm>
          <a:off x="607807" y="1147085"/>
          <a:ext cx="10944037" cy="4258075"/>
        </p:xfrm>
        <a:graphic>
          <a:graphicData uri="http://schemas.openxmlformats.org/drawingml/2006/table">
            <a:tbl>
              <a:tblPr firstRow="1" bandRow="1">
                <a:tableStyleId>{0E3FDE45-AF77-4B5C-9715-49D594BDF05E}</a:tableStyleId>
              </a:tblPr>
              <a:tblGrid>
                <a:gridCol w="445262">
                  <a:extLst>
                    <a:ext uri="{9D8B030D-6E8A-4147-A177-3AD203B41FA5}">
                      <a16:colId xmlns:a16="http://schemas.microsoft.com/office/drawing/2014/main" val="2083785842"/>
                    </a:ext>
                  </a:extLst>
                </a:gridCol>
                <a:gridCol w="2667000">
                  <a:extLst>
                    <a:ext uri="{9D8B030D-6E8A-4147-A177-3AD203B41FA5}">
                      <a16:colId xmlns:a16="http://schemas.microsoft.com/office/drawing/2014/main" val="825472836"/>
                    </a:ext>
                  </a:extLst>
                </a:gridCol>
                <a:gridCol w="7831775">
                  <a:extLst>
                    <a:ext uri="{9D8B030D-6E8A-4147-A177-3AD203B41FA5}">
                      <a16:colId xmlns:a16="http://schemas.microsoft.com/office/drawing/2014/main" val="2048186166"/>
                    </a:ext>
                  </a:extLst>
                </a:gridCol>
              </a:tblGrid>
              <a:tr h="357620">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Sr. No.</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Sensing Modality</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Definition</a:t>
                      </a:r>
                    </a:p>
                  </a:txBody>
                  <a:tcPr marL="36000" marR="36000" marT="36000" marB="36000"/>
                </a:tc>
                <a:extLst>
                  <a:ext uri="{0D108BD9-81ED-4DB2-BD59-A6C34878D82A}">
                    <a16:rowId xmlns:a16="http://schemas.microsoft.com/office/drawing/2014/main" val="3492180039"/>
                  </a:ext>
                </a:extLst>
              </a:tr>
              <a:tr h="731675">
                <a:tc>
                  <a:txBody>
                    <a:bodyPr/>
                    <a:lstStyle/>
                    <a:p>
                      <a:pPr algn="l" fontAlgn="t"/>
                      <a:r>
                        <a:rPr lang="en-US" sz="1250" b="0" i="0" u="none" strike="noStrike" dirty="0">
                          <a:solidFill>
                            <a:srgbClr val="000000"/>
                          </a:solidFill>
                          <a:effectLst/>
                          <a:latin typeface="Tenorite" panose="00000500000000000000" pitchFamily="2" charset="0"/>
                        </a:rPr>
                        <a:t>1.</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Electrical / Impedance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measure electrical properties, such as voltage, current, and impedance, of tissue or the electrode-tissue interface to evaluate contact quality, tissue condition, or lesion formation. Examples include impedance changes during RF ablation, multi-frequency bioimpedance analysis, electrogram (EGM)-based assessment, and voltage-current monitoring in pulsed field ablation (PEF).</a:t>
                      </a:r>
                    </a:p>
                  </a:txBody>
                  <a:tcPr marL="6350" marR="6350" marT="6350" marB="0"/>
                </a:tc>
                <a:extLst>
                  <a:ext uri="{0D108BD9-81ED-4DB2-BD59-A6C34878D82A}">
                    <a16:rowId xmlns:a16="http://schemas.microsoft.com/office/drawing/2014/main" val="2445239669"/>
                  </a:ext>
                </a:extLst>
              </a:tr>
              <a:tr h="731675">
                <a:tc>
                  <a:txBody>
                    <a:bodyPr/>
                    <a:lstStyle/>
                    <a:p>
                      <a:pPr algn="l" fontAlgn="t"/>
                      <a:r>
                        <a:rPr lang="en-US" sz="1250" b="0" i="0" u="none" strike="noStrike" dirty="0">
                          <a:solidFill>
                            <a:srgbClr val="000000"/>
                          </a:solidFill>
                          <a:effectLst/>
                          <a:latin typeface="Tenorite" panose="00000500000000000000" pitchFamily="2" charset="0"/>
                        </a:rPr>
                        <a:t>2.</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Optical / Photonic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use how light interacts with tissue, such as reflection, absorption, scattering, or emission, to assess tissue type, composition, or ablation status. Examples include OCT for tissue structure, fiber-optic and Raman spectroscopy, ICG fluorescence for perfusion, and plasma light emission in lithotripsy.</a:t>
                      </a:r>
                    </a:p>
                  </a:txBody>
                  <a:tcPr marL="6350" marR="6350" marT="6350" marB="0"/>
                </a:tc>
                <a:extLst>
                  <a:ext uri="{0D108BD9-81ED-4DB2-BD59-A6C34878D82A}">
                    <a16:rowId xmlns:a16="http://schemas.microsoft.com/office/drawing/2014/main" val="263423042"/>
                  </a:ext>
                </a:extLst>
              </a:tr>
              <a:tr h="731675">
                <a:tc>
                  <a:txBody>
                    <a:bodyPr/>
                    <a:lstStyle/>
                    <a:p>
                      <a:pPr algn="l" fontAlgn="t"/>
                      <a:r>
                        <a:rPr lang="en-US" sz="1250" b="0" i="0" u="none" strike="noStrike" dirty="0">
                          <a:solidFill>
                            <a:srgbClr val="000000"/>
                          </a:solidFill>
                          <a:effectLst/>
                          <a:latin typeface="Tenorite" panose="00000500000000000000" pitchFamily="2" charset="0"/>
                        </a:rPr>
                        <a:t>3.</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Ultrasound / Acoustic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use transmitted and received ultrasound waves to visualize tissue structure or measure acoustic properties before, during, or after ablation. Examples include IVUS for vessel wall imaging, A-mode echo for cartilage or bronchial measurements, acoustic pressure monitoring in balloon lithotripsy, and microbubble detection during HIFU.</a:t>
                      </a:r>
                    </a:p>
                  </a:txBody>
                  <a:tcPr marL="6350" marR="6350" marT="6350" marB="0"/>
                </a:tc>
                <a:extLst>
                  <a:ext uri="{0D108BD9-81ED-4DB2-BD59-A6C34878D82A}">
                    <a16:rowId xmlns:a16="http://schemas.microsoft.com/office/drawing/2014/main" val="2890597769"/>
                  </a:ext>
                </a:extLst>
              </a:tr>
              <a:tr h="731675">
                <a:tc>
                  <a:txBody>
                    <a:bodyPr/>
                    <a:lstStyle/>
                    <a:p>
                      <a:pPr algn="l" fontAlgn="t"/>
                      <a:r>
                        <a:rPr lang="en-US" sz="1250" b="0" i="0" u="none" strike="noStrike" dirty="0">
                          <a:solidFill>
                            <a:srgbClr val="000000"/>
                          </a:solidFill>
                          <a:effectLst/>
                          <a:latin typeface="Tenorite" panose="00000500000000000000" pitchFamily="2" charset="0"/>
                        </a:rPr>
                        <a:t>4.</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Photoacoustic/Thermoacoustic</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use photoacoustic or thermoacoustic methods for assessment.</a:t>
                      </a:r>
                    </a:p>
                  </a:txBody>
                  <a:tcPr marL="6350" marR="6350" marT="6350" marB="0"/>
                </a:tc>
                <a:extLst>
                  <a:ext uri="{0D108BD9-81ED-4DB2-BD59-A6C34878D82A}">
                    <a16:rowId xmlns:a16="http://schemas.microsoft.com/office/drawing/2014/main" val="2228659507"/>
                  </a:ext>
                </a:extLst>
              </a:tr>
              <a:tr h="731675">
                <a:tc>
                  <a:txBody>
                    <a:bodyPr/>
                    <a:lstStyle/>
                    <a:p>
                      <a:pPr algn="l" fontAlgn="t"/>
                      <a:r>
                        <a:rPr lang="en-US" sz="1250" b="0" i="0" u="none" strike="noStrike" dirty="0">
                          <a:solidFill>
                            <a:srgbClr val="000000"/>
                          </a:solidFill>
                          <a:effectLst/>
                          <a:latin typeface="Tenorite" panose="00000500000000000000" pitchFamily="2" charset="0"/>
                        </a:rPr>
                        <a:t>5.</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Thermal / Infrared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covers patents/published applications that use direct tissue temperature monitoring to evaluate thermal damage or regulate energy delivery. Examples include MRI thermometry for 3D temperature mapping during laser ablation, thermocouples or thermistors on RF catheter tips, and temperature-sensing wires in pulmonary artery ablation systems.</a:t>
                      </a:r>
                    </a:p>
                  </a:txBody>
                  <a:tcPr marL="6350" marR="6350" marT="6350" marB="0"/>
                </a:tc>
                <a:extLst>
                  <a:ext uri="{0D108BD9-81ED-4DB2-BD59-A6C34878D82A}">
                    <a16:rowId xmlns:a16="http://schemas.microsoft.com/office/drawing/2014/main" val="527811594"/>
                  </a:ext>
                </a:extLst>
              </a:tr>
            </a:tbl>
          </a:graphicData>
        </a:graphic>
      </p:graphicFrame>
      <p:pic>
        <p:nvPicPr>
          <p:cNvPr id="3" name="Picture 2">
            <a:extLst>
              <a:ext uri="{FF2B5EF4-FFF2-40B4-BE49-F238E27FC236}">
                <a16:creationId xmlns:a16="http://schemas.microsoft.com/office/drawing/2014/main" id="{0A653D38-AB0C-C88B-D44A-265ABD2A7E60}"/>
              </a:ext>
            </a:extLst>
          </p:cNvPr>
          <p:cNvPicPr>
            <a:picLocks noChangeAspect="1"/>
          </p:cNvPicPr>
          <p:nvPr/>
        </p:nvPicPr>
        <p:blipFill>
          <a:blip r:embed="rId2"/>
          <a:srcRect l="17390" t="36355" r="20538" b="46816"/>
          <a:stretch/>
        </p:blipFill>
        <p:spPr>
          <a:xfrm>
            <a:off x="10091973" y="206298"/>
            <a:ext cx="1577510" cy="427681"/>
          </a:xfrm>
          <a:prstGeom prst="rect">
            <a:avLst/>
          </a:prstGeom>
        </p:spPr>
      </p:pic>
      <p:sp>
        <p:nvSpPr>
          <p:cNvPr id="7" name="Footer Placeholder 3">
            <a:extLst>
              <a:ext uri="{FF2B5EF4-FFF2-40B4-BE49-F238E27FC236}">
                <a16:creationId xmlns:a16="http://schemas.microsoft.com/office/drawing/2014/main" id="{DFDC2AB9-C09C-1945-4E98-35C45F866487}"/>
              </a:ext>
            </a:extLst>
          </p:cNvPr>
          <p:cNvSpPr>
            <a:spLocks noGrp="1"/>
          </p:cNvSpPr>
          <p:nvPr/>
        </p:nvSpPr>
        <p:spPr>
          <a:xfrm>
            <a:off x="446478" y="6532939"/>
            <a:ext cx="6128030" cy="22243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D2E2D">
                    <a:lumMod val="90000"/>
                    <a:lumOff val="10000"/>
                  </a:srgbClr>
                </a:solidFill>
                <a:effectLst/>
                <a:uLnTx/>
                <a:uFillTx/>
                <a:latin typeface="Tenorite" panose="00000500000000000000" pitchFamily="2" charset="0"/>
                <a:ea typeface="Calibri" panose="020F0502020204030204" pitchFamily="34" charset="0"/>
                <a:cs typeface="Calibri" panose="020F0502020204030204" pitchFamily="34" charset="0"/>
              </a:rPr>
              <a:t>Client Confidential</a:t>
            </a:r>
          </a:p>
        </p:txBody>
      </p:sp>
      <p:sp>
        <p:nvSpPr>
          <p:cNvPr id="4" name="Footer Placeholder 3">
            <a:hlinkClick r:id="rId3" action="ppaction://hlinksldjump" tooltip="Click to view"/>
            <a:extLst>
              <a:ext uri="{FF2B5EF4-FFF2-40B4-BE49-F238E27FC236}">
                <a16:creationId xmlns:a16="http://schemas.microsoft.com/office/drawing/2014/main" id="{331C34C8-F5C0-6F30-5F0E-4462557E3752}"/>
              </a:ext>
            </a:extLst>
          </p:cNvPr>
          <p:cNvSpPr>
            <a:spLocks noGrp="1"/>
          </p:cNvSpPr>
          <p:nvPr/>
        </p:nvSpPr>
        <p:spPr>
          <a:xfrm>
            <a:off x="10497146" y="746428"/>
            <a:ext cx="918883" cy="27084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hlinkClick r:id="rId3" action="ppaction://hlinksldjump" tooltip="Click to view">
                  <a:extLst>
                    <a:ext uri="{A12FA001-AC4F-418D-AE19-62706E023703}">
                      <ahyp:hlinkClr xmlns:ahyp="http://schemas.microsoft.com/office/drawing/2018/hyperlinkcolor" val="tx"/>
                    </a:ext>
                  </a:extLst>
                </a:hlinkClick>
              </a:rPr>
              <a:t>Back to ToC</a:t>
            </a:r>
            <a:endPar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82D1FED9-7A95-66E4-B315-43E3B2787484}"/>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24</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4" action="ppaction://hlinksldjump"/>
            <a:extLst>
              <a:ext uri="{FF2B5EF4-FFF2-40B4-BE49-F238E27FC236}">
                <a16:creationId xmlns:a16="http://schemas.microsoft.com/office/drawing/2014/main" id="{26DB0197-A5A0-A1F2-6B59-5996ECB651EB}"/>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61883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72693-795F-070C-D768-0AF35E24BB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813E7F7-CC47-150E-EBE9-546184D78829}"/>
              </a:ext>
            </a:extLst>
          </p:cNvPr>
          <p:cNvSpPr>
            <a:spLocks noGrp="1"/>
          </p:cNvSpPr>
          <p:nvPr>
            <p:ph type="title"/>
          </p:nvPr>
        </p:nvSpPr>
        <p:spPr>
          <a:xfrm>
            <a:off x="446478" y="167194"/>
            <a:ext cx="8014128"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3E739B63-B843-CD12-B461-F80CEF0D96F1}"/>
              </a:ext>
            </a:extLst>
          </p:cNvPr>
          <p:cNvSpPr txBox="1"/>
          <p:nvPr/>
        </p:nvSpPr>
        <p:spPr>
          <a:xfrm>
            <a:off x="536095" y="747037"/>
            <a:ext cx="10370637" cy="269304"/>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provide definition of the different materials used in blades under which different patents/published applications are tagged.</a:t>
            </a:r>
          </a:p>
        </p:txBody>
      </p:sp>
      <p:graphicFrame>
        <p:nvGraphicFramePr>
          <p:cNvPr id="2" name="Table 1">
            <a:extLst>
              <a:ext uri="{FF2B5EF4-FFF2-40B4-BE49-F238E27FC236}">
                <a16:creationId xmlns:a16="http://schemas.microsoft.com/office/drawing/2014/main" id="{A950BAFA-8C36-CCBF-8A79-23C9FB2E7E22}"/>
              </a:ext>
            </a:extLst>
          </p:cNvPr>
          <p:cNvGraphicFramePr>
            <a:graphicFrameLocks noGrp="1"/>
          </p:cNvGraphicFramePr>
          <p:nvPr/>
        </p:nvGraphicFramePr>
        <p:xfrm>
          <a:off x="629892" y="1168858"/>
          <a:ext cx="10944037" cy="4258075"/>
        </p:xfrm>
        <a:graphic>
          <a:graphicData uri="http://schemas.openxmlformats.org/drawingml/2006/table">
            <a:tbl>
              <a:tblPr firstRow="1" bandRow="1">
                <a:tableStyleId>{0E3FDE45-AF77-4B5C-9715-49D594BDF05E}</a:tableStyleId>
              </a:tblPr>
              <a:tblGrid>
                <a:gridCol w="445262">
                  <a:extLst>
                    <a:ext uri="{9D8B030D-6E8A-4147-A177-3AD203B41FA5}">
                      <a16:colId xmlns:a16="http://schemas.microsoft.com/office/drawing/2014/main" val="2083785842"/>
                    </a:ext>
                  </a:extLst>
                </a:gridCol>
                <a:gridCol w="2667000">
                  <a:extLst>
                    <a:ext uri="{9D8B030D-6E8A-4147-A177-3AD203B41FA5}">
                      <a16:colId xmlns:a16="http://schemas.microsoft.com/office/drawing/2014/main" val="825472836"/>
                    </a:ext>
                  </a:extLst>
                </a:gridCol>
                <a:gridCol w="7831775">
                  <a:extLst>
                    <a:ext uri="{9D8B030D-6E8A-4147-A177-3AD203B41FA5}">
                      <a16:colId xmlns:a16="http://schemas.microsoft.com/office/drawing/2014/main" val="2048186166"/>
                    </a:ext>
                  </a:extLst>
                </a:gridCol>
              </a:tblGrid>
              <a:tr h="357620">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Sr. No.</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Sensing Modality</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Definition</a:t>
                      </a:r>
                    </a:p>
                  </a:txBody>
                  <a:tcPr marL="36000" marR="36000" marT="36000" marB="36000"/>
                </a:tc>
                <a:extLst>
                  <a:ext uri="{0D108BD9-81ED-4DB2-BD59-A6C34878D82A}">
                    <a16:rowId xmlns:a16="http://schemas.microsoft.com/office/drawing/2014/main" val="3492180039"/>
                  </a:ext>
                </a:extLst>
              </a:tr>
              <a:tr h="731675">
                <a:tc>
                  <a:txBody>
                    <a:bodyPr/>
                    <a:lstStyle/>
                    <a:p>
                      <a:pPr algn="l" fontAlgn="t"/>
                      <a:r>
                        <a:rPr lang="en-US" sz="1250" b="0" i="0" u="none" strike="noStrike" dirty="0">
                          <a:solidFill>
                            <a:srgbClr val="000000"/>
                          </a:solidFill>
                          <a:effectLst/>
                          <a:latin typeface="Tenorite" panose="00000500000000000000" pitchFamily="2" charset="0"/>
                        </a:rPr>
                        <a:t>6.</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Mechanical / Contact Force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measure force, pressure, or deformation between a device and tissue to confirm contact or evaluate tissue properties. Examples include contact force sensors on ablation catheter tips, pressure sensors in cryoballoons for pulmonary vein occlusion, and elastography techniques for assessing tissue stiffness.</a:t>
                      </a:r>
                    </a:p>
                  </a:txBody>
                  <a:tcPr marL="6350" marR="6350" marT="6350" marB="0"/>
                </a:tc>
                <a:extLst>
                  <a:ext uri="{0D108BD9-81ED-4DB2-BD59-A6C34878D82A}">
                    <a16:rowId xmlns:a16="http://schemas.microsoft.com/office/drawing/2014/main" val="2160169830"/>
                  </a:ext>
                </a:extLst>
              </a:tr>
              <a:tr h="731675">
                <a:tc>
                  <a:txBody>
                    <a:bodyPr/>
                    <a:lstStyle/>
                    <a:p>
                      <a:pPr algn="l" fontAlgn="t"/>
                      <a:r>
                        <a:rPr lang="en-US" sz="1250" b="0" i="0" u="none" strike="noStrike" dirty="0">
                          <a:solidFill>
                            <a:srgbClr val="000000"/>
                          </a:solidFill>
                          <a:effectLst/>
                          <a:latin typeface="Tenorite" panose="00000500000000000000" pitchFamily="2" charset="0"/>
                        </a:rPr>
                        <a:t>7.</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Chemical / Biochemical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detect chemical or molecular signals in tissue or nearby fluids to assess tissue composition or cell viability. Examples include mid-infrared spectroscopy to measure tissue hydration and electrochemical sensing of metabolites such as lactate or pH released during ablation.</a:t>
                      </a:r>
                    </a:p>
                  </a:txBody>
                  <a:tcPr marL="6350" marR="6350" marT="6350" marB="0"/>
                </a:tc>
                <a:extLst>
                  <a:ext uri="{0D108BD9-81ED-4DB2-BD59-A6C34878D82A}">
                    <a16:rowId xmlns:a16="http://schemas.microsoft.com/office/drawing/2014/main" val="2843347470"/>
                  </a:ext>
                </a:extLst>
              </a:tr>
              <a:tr h="731675">
                <a:tc>
                  <a:txBody>
                    <a:bodyPr/>
                    <a:lstStyle/>
                    <a:p>
                      <a:pPr algn="l" fontAlgn="t"/>
                      <a:r>
                        <a:rPr lang="en-US" sz="1250" b="0" i="0" u="none" strike="noStrike" dirty="0">
                          <a:solidFill>
                            <a:srgbClr val="000000"/>
                          </a:solidFill>
                          <a:effectLst/>
                          <a:latin typeface="Tenorite" panose="00000500000000000000" pitchFamily="2" charset="0"/>
                        </a:rPr>
                        <a:t>8.</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Magnetic / Electromagnetic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describing the sensing of magnetic or electromagnetic properties of tissue, mainly for detecting nerve activity or tracking devices. For example, an optically pumped magnetometer (OPM) on an intravascular catheter can detect extremely weak (Pico Tesla-level) magnetic fields generated by renal sympathetic nerve signals.</a:t>
                      </a:r>
                    </a:p>
                  </a:txBody>
                  <a:tcPr marL="6350" marR="6350" marT="6350" marB="0"/>
                </a:tc>
                <a:extLst>
                  <a:ext uri="{0D108BD9-81ED-4DB2-BD59-A6C34878D82A}">
                    <a16:rowId xmlns:a16="http://schemas.microsoft.com/office/drawing/2014/main" val="3576130935"/>
                  </a:ext>
                </a:extLst>
              </a:tr>
              <a:tr h="731675">
                <a:tc>
                  <a:txBody>
                    <a:bodyPr/>
                    <a:lstStyle/>
                    <a:p>
                      <a:pPr algn="l" fontAlgn="t"/>
                      <a:r>
                        <a:rPr lang="en-IN" sz="1250" b="0" i="0" u="none" strike="noStrike" dirty="0">
                          <a:solidFill>
                            <a:srgbClr val="000000"/>
                          </a:solidFill>
                          <a:effectLst/>
                          <a:latin typeface="Tenorite" panose="00000500000000000000" pitchFamily="2" charset="0"/>
                        </a:rPr>
                        <a:t>9.</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Imaging Based</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describe how tissue or lesions are characterized by analyzing 2D or 3D medical images from different imaging methods (such as MRI, CT, ultrasound, fluoroscopy, or endoscopy). Examples include: MRI-based thermal imaging to create real-time temperature maps, AI-based lesion detection and segmentation from CT or MRI, Intracardiac ultrasound (ICE) image analysis to assess cardiac structures during ablation procedures.</a:t>
                      </a:r>
                    </a:p>
                  </a:txBody>
                  <a:tcPr marL="6350" marR="6350" marT="6350" marB="0"/>
                </a:tc>
                <a:extLst>
                  <a:ext uri="{0D108BD9-81ED-4DB2-BD59-A6C34878D82A}">
                    <a16:rowId xmlns:a16="http://schemas.microsoft.com/office/drawing/2014/main" val="4273214927"/>
                  </a:ext>
                </a:extLst>
              </a:tr>
              <a:tr h="395990">
                <a:tc>
                  <a:txBody>
                    <a:bodyPr/>
                    <a:lstStyle/>
                    <a:p>
                      <a:pPr algn="l" fontAlgn="t"/>
                      <a:r>
                        <a:rPr lang="en-IN" sz="1250" b="0" i="0" u="none" strike="noStrike" dirty="0">
                          <a:solidFill>
                            <a:srgbClr val="000000"/>
                          </a:solidFill>
                          <a:effectLst/>
                          <a:latin typeface="Tenorite" panose="00000500000000000000" pitchFamily="2" charset="0"/>
                        </a:rPr>
                        <a:t>10.</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Others</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describe alternative sensing approaches not covered above, such as strain sensing, nuclear magnetic resonance relaxometry, and other novel or hybrid methods used for tissue characterization during ablation.</a:t>
                      </a:r>
                    </a:p>
                  </a:txBody>
                  <a:tcPr marL="6350" marR="6350" marT="6350" marB="0"/>
                </a:tc>
                <a:extLst>
                  <a:ext uri="{0D108BD9-81ED-4DB2-BD59-A6C34878D82A}">
                    <a16:rowId xmlns:a16="http://schemas.microsoft.com/office/drawing/2014/main" val="4213864600"/>
                  </a:ext>
                </a:extLst>
              </a:tr>
            </a:tbl>
          </a:graphicData>
        </a:graphic>
      </p:graphicFrame>
      <p:pic>
        <p:nvPicPr>
          <p:cNvPr id="3" name="Picture 2">
            <a:extLst>
              <a:ext uri="{FF2B5EF4-FFF2-40B4-BE49-F238E27FC236}">
                <a16:creationId xmlns:a16="http://schemas.microsoft.com/office/drawing/2014/main" id="{F5901E5C-23AB-194A-4ACB-695D61A619B4}"/>
              </a:ext>
            </a:extLst>
          </p:cNvPr>
          <p:cNvPicPr>
            <a:picLocks noChangeAspect="1"/>
          </p:cNvPicPr>
          <p:nvPr/>
        </p:nvPicPr>
        <p:blipFill>
          <a:blip r:embed="rId2"/>
          <a:srcRect l="17390" t="36355" r="20538" b="46816"/>
          <a:stretch/>
        </p:blipFill>
        <p:spPr>
          <a:xfrm>
            <a:off x="10091973" y="206298"/>
            <a:ext cx="1577510" cy="427681"/>
          </a:xfrm>
          <a:prstGeom prst="rect">
            <a:avLst/>
          </a:prstGeom>
        </p:spPr>
      </p:pic>
      <p:sp>
        <p:nvSpPr>
          <p:cNvPr id="7" name="Footer Placeholder 3">
            <a:extLst>
              <a:ext uri="{FF2B5EF4-FFF2-40B4-BE49-F238E27FC236}">
                <a16:creationId xmlns:a16="http://schemas.microsoft.com/office/drawing/2014/main" id="{7D64AD83-CFCE-2CB6-6C73-FF0235E9A0DA}"/>
              </a:ext>
            </a:extLst>
          </p:cNvPr>
          <p:cNvSpPr>
            <a:spLocks noGrp="1"/>
          </p:cNvSpPr>
          <p:nvPr/>
        </p:nvSpPr>
        <p:spPr>
          <a:xfrm>
            <a:off x="446478" y="6532939"/>
            <a:ext cx="6128030" cy="22243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D2E2D">
                    <a:lumMod val="90000"/>
                    <a:lumOff val="10000"/>
                  </a:srgbClr>
                </a:solidFill>
                <a:effectLst/>
                <a:uLnTx/>
                <a:uFillTx/>
                <a:latin typeface="Tenorite" panose="00000500000000000000" pitchFamily="2" charset="0"/>
                <a:ea typeface="Calibri" panose="020F0502020204030204" pitchFamily="34" charset="0"/>
                <a:cs typeface="Calibri" panose="020F0502020204030204" pitchFamily="34" charset="0"/>
              </a:rPr>
              <a:t>Client Confidential</a:t>
            </a:r>
          </a:p>
        </p:txBody>
      </p:sp>
      <p:sp>
        <p:nvSpPr>
          <p:cNvPr id="4" name="Footer Placeholder 3">
            <a:hlinkClick r:id="rId3" action="ppaction://hlinksldjump" tooltip="Click to view"/>
            <a:extLst>
              <a:ext uri="{FF2B5EF4-FFF2-40B4-BE49-F238E27FC236}">
                <a16:creationId xmlns:a16="http://schemas.microsoft.com/office/drawing/2014/main" id="{A09958AB-6B23-8BF5-BA3A-D3DC5218A5C6}"/>
              </a:ext>
            </a:extLst>
          </p:cNvPr>
          <p:cNvSpPr>
            <a:spLocks noGrp="1"/>
          </p:cNvSpPr>
          <p:nvPr/>
        </p:nvSpPr>
        <p:spPr>
          <a:xfrm>
            <a:off x="10497146" y="746428"/>
            <a:ext cx="918883" cy="27084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hlinkClick r:id="rId3" action="ppaction://hlinksldjump" tooltip="Click to view">
                  <a:extLst>
                    <a:ext uri="{A12FA001-AC4F-418D-AE19-62706E023703}">
                      <ahyp:hlinkClr xmlns:ahyp="http://schemas.microsoft.com/office/drawing/2018/hyperlinkcolor" val="tx"/>
                    </a:ext>
                  </a:extLst>
                </a:hlinkClick>
              </a:rPr>
              <a:t>Back to ToC</a:t>
            </a:r>
            <a:endPar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690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737C-2A42-7392-DBAB-A63A6A2857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F4109B-633F-E8FA-072E-87BD7EA71CA8}"/>
              </a:ext>
            </a:extLst>
          </p:cNvPr>
          <p:cNvSpPr>
            <a:spLocks noGrp="1"/>
          </p:cNvSpPr>
          <p:nvPr>
            <p:ph type="title"/>
          </p:nvPr>
        </p:nvSpPr>
        <p:spPr>
          <a:xfrm>
            <a:off x="446478" y="167194"/>
            <a:ext cx="8014128"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EB21B1D3-447D-CC8F-0CCC-88AA9CCA856A}"/>
              </a:ext>
            </a:extLst>
          </p:cNvPr>
          <p:cNvSpPr txBox="1"/>
          <p:nvPr/>
        </p:nvSpPr>
        <p:spPr>
          <a:xfrm>
            <a:off x="546729" y="747037"/>
            <a:ext cx="10370637" cy="269304"/>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provide definition of the different materials used in blades under which different patents/published applications are tagged.</a:t>
            </a:r>
          </a:p>
        </p:txBody>
      </p:sp>
      <p:graphicFrame>
        <p:nvGraphicFramePr>
          <p:cNvPr id="2" name="Table 1">
            <a:extLst>
              <a:ext uri="{FF2B5EF4-FFF2-40B4-BE49-F238E27FC236}">
                <a16:creationId xmlns:a16="http://schemas.microsoft.com/office/drawing/2014/main" id="{D8587C7C-1109-2E5F-2D9F-12024A4FFDB3}"/>
              </a:ext>
            </a:extLst>
          </p:cNvPr>
          <p:cNvGraphicFramePr>
            <a:graphicFrameLocks noGrp="1"/>
          </p:cNvGraphicFramePr>
          <p:nvPr/>
        </p:nvGraphicFramePr>
        <p:xfrm>
          <a:off x="595930" y="1206978"/>
          <a:ext cx="10944037" cy="4655037"/>
        </p:xfrm>
        <a:graphic>
          <a:graphicData uri="http://schemas.openxmlformats.org/drawingml/2006/table">
            <a:tbl>
              <a:tblPr firstRow="1" bandRow="1">
                <a:tableStyleId>{0E3FDE45-AF77-4B5C-9715-49D594BDF05E}</a:tableStyleId>
              </a:tblPr>
              <a:tblGrid>
                <a:gridCol w="445262">
                  <a:extLst>
                    <a:ext uri="{9D8B030D-6E8A-4147-A177-3AD203B41FA5}">
                      <a16:colId xmlns:a16="http://schemas.microsoft.com/office/drawing/2014/main" val="2083785842"/>
                    </a:ext>
                  </a:extLst>
                </a:gridCol>
                <a:gridCol w="2667000">
                  <a:extLst>
                    <a:ext uri="{9D8B030D-6E8A-4147-A177-3AD203B41FA5}">
                      <a16:colId xmlns:a16="http://schemas.microsoft.com/office/drawing/2014/main" val="825472836"/>
                    </a:ext>
                  </a:extLst>
                </a:gridCol>
                <a:gridCol w="7831775">
                  <a:extLst>
                    <a:ext uri="{9D8B030D-6E8A-4147-A177-3AD203B41FA5}">
                      <a16:colId xmlns:a16="http://schemas.microsoft.com/office/drawing/2014/main" val="2048186166"/>
                    </a:ext>
                  </a:extLst>
                </a:gridCol>
              </a:tblGrid>
              <a:tr h="357620">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Sr. No.</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Ablation Energy Modality</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Definition</a:t>
                      </a:r>
                    </a:p>
                  </a:txBody>
                  <a:tcPr marL="36000" marR="36000" marT="36000" marB="36000"/>
                </a:tc>
                <a:extLst>
                  <a:ext uri="{0D108BD9-81ED-4DB2-BD59-A6C34878D82A}">
                    <a16:rowId xmlns:a16="http://schemas.microsoft.com/office/drawing/2014/main" val="3492180039"/>
                  </a:ext>
                </a:extLst>
              </a:tr>
              <a:tr h="731675">
                <a:tc>
                  <a:txBody>
                    <a:bodyPr/>
                    <a:lstStyle/>
                    <a:p>
                      <a:pPr algn="l" fontAlgn="t"/>
                      <a:r>
                        <a:rPr lang="en-IN" sz="1250" b="0" i="0" u="none" strike="noStrike" dirty="0">
                          <a:solidFill>
                            <a:srgbClr val="000000"/>
                          </a:solidFill>
                          <a:effectLst/>
                          <a:latin typeface="Tenorite" panose="00000500000000000000" pitchFamily="2" charset="0"/>
                        </a:rPr>
                        <a:t>11.</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Radiofrequency (RF) Ablation</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involve the use of radio frequency-based tissue ablation.</a:t>
                      </a:r>
                    </a:p>
                  </a:txBody>
                  <a:tcPr marL="6350" marR="6350" marT="6350" marB="0"/>
                </a:tc>
                <a:extLst>
                  <a:ext uri="{0D108BD9-81ED-4DB2-BD59-A6C34878D82A}">
                    <a16:rowId xmlns:a16="http://schemas.microsoft.com/office/drawing/2014/main" val="4273214927"/>
                  </a:ext>
                </a:extLst>
              </a:tr>
              <a:tr h="395990">
                <a:tc>
                  <a:txBody>
                    <a:bodyPr/>
                    <a:lstStyle/>
                    <a:p>
                      <a:pPr algn="l" fontAlgn="t"/>
                      <a:r>
                        <a:rPr lang="en-IN" sz="1250" b="0" i="0" u="none" strike="noStrike" dirty="0">
                          <a:solidFill>
                            <a:srgbClr val="000000"/>
                          </a:solidFill>
                          <a:effectLst/>
                          <a:latin typeface="Tenorite" panose="00000500000000000000" pitchFamily="2" charset="0"/>
                        </a:rPr>
                        <a:t>12.</a:t>
                      </a:r>
                    </a:p>
                  </a:txBody>
                  <a:tcPr marL="36000" marR="36000" marT="36000" marB="36000"/>
                </a:tc>
                <a:tc>
                  <a:txBody>
                    <a:bodyPr/>
                    <a:lstStyle/>
                    <a:p>
                      <a:pPr algn="l" fontAlgn="t">
                        <a:buNone/>
                      </a:pPr>
                      <a:r>
                        <a:rPr lang="en-US" sz="1250" b="0" i="0" u="none" strike="noStrike" dirty="0">
                          <a:solidFill>
                            <a:schemeClr val="tx1"/>
                          </a:solidFill>
                          <a:effectLst/>
                          <a:latin typeface="Tenorite" panose="00000500000000000000" pitchFamily="2" charset="0"/>
                        </a:rPr>
                        <a:t>Pulsed Electric Field (PEF) / Electroporation</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The category includes patents/published applications disclosing  use of Pulsed Electric Field/ Electroporation type ablation of tissues.</a:t>
                      </a:r>
                    </a:p>
                  </a:txBody>
                  <a:tcPr marL="6350" marR="6350" marT="6350" marB="0"/>
                </a:tc>
                <a:extLst>
                  <a:ext uri="{0D108BD9-81ED-4DB2-BD59-A6C34878D82A}">
                    <a16:rowId xmlns:a16="http://schemas.microsoft.com/office/drawing/2014/main" val="4213864600"/>
                  </a:ext>
                </a:extLst>
              </a:tr>
              <a:tr h="395990">
                <a:tc>
                  <a:txBody>
                    <a:bodyPr/>
                    <a:lstStyle/>
                    <a:p>
                      <a:pPr algn="l" fontAlgn="t"/>
                      <a:r>
                        <a:rPr lang="en-IN" sz="1250" b="0" i="0" u="none" strike="noStrike" dirty="0">
                          <a:solidFill>
                            <a:srgbClr val="000000"/>
                          </a:solidFill>
                          <a:effectLst/>
                          <a:latin typeface="Tenorite" panose="00000500000000000000" pitchFamily="2" charset="0"/>
                        </a:rPr>
                        <a:t>13.</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Microwave Ablation</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The category includes patents/published applications disclosing use of microwave electromagnetic energy for tissue ablation.</a:t>
                      </a:r>
                    </a:p>
                  </a:txBody>
                  <a:tcPr marL="6350" marR="6350" marT="6350" marB="0"/>
                </a:tc>
                <a:extLst>
                  <a:ext uri="{0D108BD9-81ED-4DB2-BD59-A6C34878D82A}">
                    <a16:rowId xmlns:a16="http://schemas.microsoft.com/office/drawing/2014/main" val="3350476596"/>
                  </a:ext>
                </a:extLst>
              </a:tr>
              <a:tr h="563832">
                <a:tc>
                  <a:txBody>
                    <a:bodyPr/>
                    <a:lstStyle/>
                    <a:p>
                      <a:pPr algn="l" fontAlgn="t"/>
                      <a:r>
                        <a:rPr lang="en-IN" sz="1250" b="0" i="0" u="none" strike="noStrike" dirty="0">
                          <a:solidFill>
                            <a:srgbClr val="000000"/>
                          </a:solidFill>
                          <a:effectLst/>
                          <a:latin typeface="Tenorite" panose="00000500000000000000" pitchFamily="2" charset="0"/>
                        </a:rPr>
                        <a:t>14.</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Laser Ablation</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The category includes patents/published applications disclosing use of laser for tissue ablation.</a:t>
                      </a:r>
                    </a:p>
                  </a:txBody>
                  <a:tcPr marL="6350" marR="6350" marT="6350" marB="0"/>
                </a:tc>
                <a:extLst>
                  <a:ext uri="{0D108BD9-81ED-4DB2-BD59-A6C34878D82A}">
                    <a16:rowId xmlns:a16="http://schemas.microsoft.com/office/drawing/2014/main" val="1842763629"/>
                  </a:ext>
                </a:extLst>
              </a:tr>
              <a:tr h="395990">
                <a:tc>
                  <a:txBody>
                    <a:bodyPr/>
                    <a:lstStyle/>
                    <a:p>
                      <a:pPr algn="l" fontAlgn="t"/>
                      <a:r>
                        <a:rPr lang="en-IN" sz="1250" b="0" i="0" u="none" strike="noStrike" dirty="0">
                          <a:solidFill>
                            <a:srgbClr val="000000"/>
                          </a:solidFill>
                          <a:effectLst/>
                          <a:latin typeface="Tenorite" panose="00000500000000000000" pitchFamily="2" charset="0"/>
                        </a:rPr>
                        <a:t>15.</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Cryoablation</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covers patents/published applications that use cryoprobes or cryoballoons to destroy tissue by freezing it, causing cell damage through ice crystal formation and osmotic stress. Examples include cryoballoons for pulmonary vein isolation in atrial fibrillation and percutaneous cryoablation for renal or prostate tumors.</a:t>
                      </a:r>
                    </a:p>
                  </a:txBody>
                  <a:tcPr marL="6350" marR="6350" marT="6350" marB="0"/>
                </a:tc>
                <a:extLst>
                  <a:ext uri="{0D108BD9-81ED-4DB2-BD59-A6C34878D82A}">
                    <a16:rowId xmlns:a16="http://schemas.microsoft.com/office/drawing/2014/main" val="209990346"/>
                  </a:ext>
                </a:extLst>
              </a:tr>
              <a:tr h="563832">
                <a:tc>
                  <a:txBody>
                    <a:bodyPr/>
                    <a:lstStyle/>
                    <a:p>
                      <a:pPr algn="l" fontAlgn="t"/>
                      <a:r>
                        <a:rPr lang="en-IN" sz="1250" b="0" i="0" u="none" strike="noStrike" dirty="0">
                          <a:solidFill>
                            <a:srgbClr val="000000"/>
                          </a:solidFill>
                          <a:effectLst/>
                          <a:latin typeface="Tenorite" panose="00000500000000000000" pitchFamily="2" charset="0"/>
                        </a:rPr>
                        <a:t>16.</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Ultrasound Ablation (HIFU)</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covers patents/published applications that use high-intensity ultrasound to precisely destroy tissue, either by heating (thermal ablation) or mechanical disruption—while sparing surrounding tissue. Examples include intraluminal HIFU catheters for bronchial nerve denervation (asthma/COPD) and histotripsy techniques for non-thermal tumor destruction.</a:t>
                      </a:r>
                    </a:p>
                  </a:txBody>
                  <a:tcPr marL="6350" marR="6350" marT="6350" marB="0"/>
                </a:tc>
                <a:extLst>
                  <a:ext uri="{0D108BD9-81ED-4DB2-BD59-A6C34878D82A}">
                    <a16:rowId xmlns:a16="http://schemas.microsoft.com/office/drawing/2014/main" val="2756878278"/>
                  </a:ext>
                </a:extLst>
              </a:tr>
              <a:tr h="395990">
                <a:tc>
                  <a:txBody>
                    <a:bodyPr/>
                    <a:lstStyle/>
                    <a:p>
                      <a:pPr algn="l" fontAlgn="t"/>
                      <a:r>
                        <a:rPr lang="en-IN" sz="1250" b="0" i="0" u="none" strike="noStrike" dirty="0">
                          <a:solidFill>
                            <a:srgbClr val="000000"/>
                          </a:solidFill>
                          <a:effectLst/>
                          <a:latin typeface="Tenorite" panose="00000500000000000000" pitchFamily="2" charset="0"/>
                        </a:rPr>
                        <a:t>17.</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Phototherapy / Photothermal</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use light, typically non-coherent or broadband near-infrared, to generate controlled heating in tissue through natural light absorption. Examples include photothermal ablation of gastrointestinal mucosal tissue using vacuum-assisted light delivery, and photodynamic therapy using photosensitizers.</a:t>
                      </a:r>
                    </a:p>
                  </a:txBody>
                  <a:tcPr marL="6350" marR="6350" marT="6350" marB="0"/>
                </a:tc>
                <a:extLst>
                  <a:ext uri="{0D108BD9-81ED-4DB2-BD59-A6C34878D82A}">
                    <a16:rowId xmlns:a16="http://schemas.microsoft.com/office/drawing/2014/main" val="2775301374"/>
                  </a:ext>
                </a:extLst>
              </a:tr>
            </a:tbl>
          </a:graphicData>
        </a:graphic>
      </p:graphicFrame>
      <p:pic>
        <p:nvPicPr>
          <p:cNvPr id="3" name="Picture 2">
            <a:extLst>
              <a:ext uri="{FF2B5EF4-FFF2-40B4-BE49-F238E27FC236}">
                <a16:creationId xmlns:a16="http://schemas.microsoft.com/office/drawing/2014/main" id="{7DEB82F9-66E5-1971-0F97-433C966D551C}"/>
              </a:ext>
            </a:extLst>
          </p:cNvPr>
          <p:cNvPicPr>
            <a:picLocks noChangeAspect="1"/>
          </p:cNvPicPr>
          <p:nvPr/>
        </p:nvPicPr>
        <p:blipFill>
          <a:blip r:embed="rId2"/>
          <a:srcRect l="17390" t="36355" r="20538" b="46816"/>
          <a:stretch/>
        </p:blipFill>
        <p:spPr>
          <a:xfrm>
            <a:off x="10091973" y="206298"/>
            <a:ext cx="1577510" cy="427681"/>
          </a:xfrm>
          <a:prstGeom prst="rect">
            <a:avLst/>
          </a:prstGeom>
        </p:spPr>
      </p:pic>
      <p:sp>
        <p:nvSpPr>
          <p:cNvPr id="7" name="Footer Placeholder 3">
            <a:extLst>
              <a:ext uri="{FF2B5EF4-FFF2-40B4-BE49-F238E27FC236}">
                <a16:creationId xmlns:a16="http://schemas.microsoft.com/office/drawing/2014/main" id="{3D5BD8D0-8EBA-B082-2797-E502DF8298DF}"/>
              </a:ext>
            </a:extLst>
          </p:cNvPr>
          <p:cNvSpPr>
            <a:spLocks noGrp="1"/>
          </p:cNvSpPr>
          <p:nvPr/>
        </p:nvSpPr>
        <p:spPr>
          <a:xfrm>
            <a:off x="446478" y="6532939"/>
            <a:ext cx="6128030" cy="22243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D2E2D">
                    <a:lumMod val="90000"/>
                    <a:lumOff val="10000"/>
                  </a:srgbClr>
                </a:solidFill>
                <a:effectLst/>
                <a:uLnTx/>
                <a:uFillTx/>
                <a:latin typeface="Tenorite" panose="00000500000000000000" pitchFamily="2" charset="0"/>
                <a:ea typeface="Calibri" panose="020F0502020204030204" pitchFamily="34" charset="0"/>
                <a:cs typeface="Calibri" panose="020F0502020204030204" pitchFamily="34" charset="0"/>
              </a:rPr>
              <a:t>Client Confidential</a:t>
            </a:r>
          </a:p>
        </p:txBody>
      </p:sp>
      <p:sp>
        <p:nvSpPr>
          <p:cNvPr id="4" name="Footer Placeholder 3">
            <a:hlinkClick r:id="rId3" action="ppaction://hlinksldjump" tooltip="Click to view"/>
            <a:extLst>
              <a:ext uri="{FF2B5EF4-FFF2-40B4-BE49-F238E27FC236}">
                <a16:creationId xmlns:a16="http://schemas.microsoft.com/office/drawing/2014/main" id="{F58C10F6-B76C-FF5C-E7D7-1B6EBC799D4B}"/>
              </a:ext>
            </a:extLst>
          </p:cNvPr>
          <p:cNvSpPr>
            <a:spLocks noGrp="1"/>
          </p:cNvSpPr>
          <p:nvPr/>
        </p:nvSpPr>
        <p:spPr>
          <a:xfrm>
            <a:off x="10497146" y="746428"/>
            <a:ext cx="918883" cy="27084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hlinkClick r:id="rId3" action="ppaction://hlinksldjump" tooltip="Click to view">
                  <a:extLst>
                    <a:ext uri="{A12FA001-AC4F-418D-AE19-62706E023703}">
                      <ahyp:hlinkClr xmlns:ahyp="http://schemas.microsoft.com/office/drawing/2018/hyperlinkcolor" val="tx"/>
                    </a:ext>
                  </a:extLst>
                </a:hlinkClick>
              </a:rPr>
              <a:t>Back to ToC</a:t>
            </a:r>
            <a:endPar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48BBFF1B-EC5C-A7A4-8FCE-1BAA8279B322}"/>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26</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4" action="ppaction://hlinksldjump"/>
            <a:extLst>
              <a:ext uri="{FF2B5EF4-FFF2-40B4-BE49-F238E27FC236}">
                <a16:creationId xmlns:a16="http://schemas.microsoft.com/office/drawing/2014/main" id="{662A35BF-EA0F-E9F3-3273-C12E76E74242}"/>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663196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12314-C8DC-5508-B5FF-A08B95083A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2194002-ACAD-E7E3-BB7D-11DA509D6CF6}"/>
              </a:ext>
            </a:extLst>
          </p:cNvPr>
          <p:cNvSpPr>
            <a:spLocks noGrp="1"/>
          </p:cNvSpPr>
          <p:nvPr>
            <p:ph type="title"/>
          </p:nvPr>
        </p:nvSpPr>
        <p:spPr>
          <a:xfrm>
            <a:off x="446478" y="167194"/>
            <a:ext cx="8014128"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B0D5EA7D-DD67-947E-41E3-66F50E1079E1}"/>
              </a:ext>
            </a:extLst>
          </p:cNvPr>
          <p:cNvSpPr txBox="1"/>
          <p:nvPr/>
        </p:nvSpPr>
        <p:spPr>
          <a:xfrm>
            <a:off x="546729" y="747037"/>
            <a:ext cx="10370637" cy="269304"/>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provide definition of the different materials used in blades under which different patents/published applications are tagged.</a:t>
            </a:r>
          </a:p>
        </p:txBody>
      </p:sp>
      <p:graphicFrame>
        <p:nvGraphicFramePr>
          <p:cNvPr id="2" name="Table 1">
            <a:extLst>
              <a:ext uri="{FF2B5EF4-FFF2-40B4-BE49-F238E27FC236}">
                <a16:creationId xmlns:a16="http://schemas.microsoft.com/office/drawing/2014/main" id="{92D29399-CA7A-196E-DCBB-64E7EDE585BB}"/>
              </a:ext>
            </a:extLst>
          </p:cNvPr>
          <p:cNvGraphicFramePr>
            <a:graphicFrameLocks noGrp="1"/>
          </p:cNvGraphicFramePr>
          <p:nvPr/>
        </p:nvGraphicFramePr>
        <p:xfrm>
          <a:off x="608630" y="1206978"/>
          <a:ext cx="10944037" cy="1426840"/>
        </p:xfrm>
        <a:graphic>
          <a:graphicData uri="http://schemas.openxmlformats.org/drawingml/2006/table">
            <a:tbl>
              <a:tblPr firstRow="1" bandRow="1">
                <a:tableStyleId>{0E3FDE45-AF77-4B5C-9715-49D594BDF05E}</a:tableStyleId>
              </a:tblPr>
              <a:tblGrid>
                <a:gridCol w="445262">
                  <a:extLst>
                    <a:ext uri="{9D8B030D-6E8A-4147-A177-3AD203B41FA5}">
                      <a16:colId xmlns:a16="http://schemas.microsoft.com/office/drawing/2014/main" val="2083785842"/>
                    </a:ext>
                  </a:extLst>
                </a:gridCol>
                <a:gridCol w="2667000">
                  <a:extLst>
                    <a:ext uri="{9D8B030D-6E8A-4147-A177-3AD203B41FA5}">
                      <a16:colId xmlns:a16="http://schemas.microsoft.com/office/drawing/2014/main" val="825472836"/>
                    </a:ext>
                  </a:extLst>
                </a:gridCol>
                <a:gridCol w="7831775">
                  <a:extLst>
                    <a:ext uri="{9D8B030D-6E8A-4147-A177-3AD203B41FA5}">
                      <a16:colId xmlns:a16="http://schemas.microsoft.com/office/drawing/2014/main" val="2048186166"/>
                    </a:ext>
                  </a:extLst>
                </a:gridCol>
              </a:tblGrid>
              <a:tr h="357620">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Sr. No.</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Ablation Energy Modality</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Definition</a:t>
                      </a:r>
                    </a:p>
                  </a:txBody>
                  <a:tcPr marL="36000" marR="36000" marT="36000" marB="36000"/>
                </a:tc>
                <a:extLst>
                  <a:ext uri="{0D108BD9-81ED-4DB2-BD59-A6C34878D82A}">
                    <a16:rowId xmlns:a16="http://schemas.microsoft.com/office/drawing/2014/main" val="3492180039"/>
                  </a:ext>
                </a:extLst>
              </a:tr>
              <a:tr h="395990">
                <a:tc>
                  <a:txBody>
                    <a:bodyPr/>
                    <a:lstStyle/>
                    <a:p>
                      <a:pPr algn="l" fontAlgn="t"/>
                      <a:r>
                        <a:rPr lang="en-US" sz="1250" b="0" i="0" u="none" strike="noStrike" dirty="0">
                          <a:solidFill>
                            <a:srgbClr val="000000"/>
                          </a:solidFill>
                          <a:effectLst/>
                          <a:latin typeface="Tenorite" panose="00000500000000000000" pitchFamily="2" charset="0"/>
                        </a:rPr>
                        <a:t>22.</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Steam Ablation</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The category includes patents/published applications disclosing use of water vapor (steam) for tissue ablation.</a:t>
                      </a:r>
                    </a:p>
                  </a:txBody>
                  <a:tcPr marL="6350" marR="6350" marT="6350" marB="0"/>
                </a:tc>
                <a:extLst>
                  <a:ext uri="{0D108BD9-81ED-4DB2-BD59-A6C34878D82A}">
                    <a16:rowId xmlns:a16="http://schemas.microsoft.com/office/drawing/2014/main" val="2017414364"/>
                  </a:ext>
                </a:extLst>
              </a:tr>
              <a:tr h="395990">
                <a:tc>
                  <a:txBody>
                    <a:bodyPr/>
                    <a:lstStyle/>
                    <a:p>
                      <a:pPr algn="l" fontAlgn="t"/>
                      <a:r>
                        <a:rPr lang="en-US" sz="1250" b="0" i="0" u="none" strike="noStrike" dirty="0">
                          <a:solidFill>
                            <a:srgbClr val="000000"/>
                          </a:solidFill>
                          <a:effectLst/>
                          <a:latin typeface="Tenorite" panose="00000500000000000000" pitchFamily="2" charset="0"/>
                        </a:rPr>
                        <a:t>23.</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Others</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covers patents/published applications related to ablation energy types not listed above. Examples include non-thermal plasma ablation using reactive oxygen species, hybrid or combined energy sources, direct current electrolysis used alone for ablation, and radioactive seed implantation.</a:t>
                      </a:r>
                    </a:p>
                  </a:txBody>
                  <a:tcPr marL="6350" marR="6350" marT="6350" marB="0"/>
                </a:tc>
                <a:extLst>
                  <a:ext uri="{0D108BD9-81ED-4DB2-BD59-A6C34878D82A}">
                    <a16:rowId xmlns:a16="http://schemas.microsoft.com/office/drawing/2014/main" val="2547042117"/>
                  </a:ext>
                </a:extLst>
              </a:tr>
            </a:tbl>
          </a:graphicData>
        </a:graphic>
      </p:graphicFrame>
      <p:pic>
        <p:nvPicPr>
          <p:cNvPr id="3" name="Picture 2">
            <a:extLst>
              <a:ext uri="{FF2B5EF4-FFF2-40B4-BE49-F238E27FC236}">
                <a16:creationId xmlns:a16="http://schemas.microsoft.com/office/drawing/2014/main" id="{A5D06D90-ACFD-A00B-3630-B32B49FE3E14}"/>
              </a:ext>
            </a:extLst>
          </p:cNvPr>
          <p:cNvPicPr>
            <a:picLocks noChangeAspect="1"/>
          </p:cNvPicPr>
          <p:nvPr/>
        </p:nvPicPr>
        <p:blipFill>
          <a:blip r:embed="rId2"/>
          <a:srcRect l="17390" t="36355" r="20538" b="46816"/>
          <a:stretch/>
        </p:blipFill>
        <p:spPr>
          <a:xfrm>
            <a:off x="10091973" y="206298"/>
            <a:ext cx="1577510" cy="427681"/>
          </a:xfrm>
          <a:prstGeom prst="rect">
            <a:avLst/>
          </a:prstGeom>
        </p:spPr>
      </p:pic>
      <p:sp>
        <p:nvSpPr>
          <p:cNvPr id="7" name="Footer Placeholder 3">
            <a:extLst>
              <a:ext uri="{FF2B5EF4-FFF2-40B4-BE49-F238E27FC236}">
                <a16:creationId xmlns:a16="http://schemas.microsoft.com/office/drawing/2014/main" id="{0AB16444-E5E9-608E-B896-CFAA19A7B52F}"/>
              </a:ext>
            </a:extLst>
          </p:cNvPr>
          <p:cNvSpPr>
            <a:spLocks noGrp="1"/>
          </p:cNvSpPr>
          <p:nvPr/>
        </p:nvSpPr>
        <p:spPr>
          <a:xfrm>
            <a:off x="446478" y="6532939"/>
            <a:ext cx="6128030" cy="22243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D2E2D">
                    <a:lumMod val="90000"/>
                    <a:lumOff val="10000"/>
                  </a:srgbClr>
                </a:solidFill>
                <a:effectLst/>
                <a:uLnTx/>
                <a:uFillTx/>
                <a:latin typeface="Tenorite" panose="00000500000000000000" pitchFamily="2" charset="0"/>
                <a:ea typeface="Calibri" panose="020F0502020204030204" pitchFamily="34" charset="0"/>
                <a:cs typeface="Calibri" panose="020F0502020204030204" pitchFamily="34" charset="0"/>
              </a:rPr>
              <a:t>Client Confidential</a:t>
            </a:r>
          </a:p>
        </p:txBody>
      </p:sp>
      <p:sp>
        <p:nvSpPr>
          <p:cNvPr id="4" name="Footer Placeholder 3">
            <a:hlinkClick r:id="rId3" action="ppaction://hlinksldjump" tooltip="Click to view"/>
            <a:extLst>
              <a:ext uri="{FF2B5EF4-FFF2-40B4-BE49-F238E27FC236}">
                <a16:creationId xmlns:a16="http://schemas.microsoft.com/office/drawing/2014/main" id="{FAF2D211-7DCC-F3BE-5974-1484726BFBA5}"/>
              </a:ext>
            </a:extLst>
          </p:cNvPr>
          <p:cNvSpPr>
            <a:spLocks noGrp="1"/>
          </p:cNvSpPr>
          <p:nvPr/>
        </p:nvSpPr>
        <p:spPr>
          <a:xfrm>
            <a:off x="10497146" y="746428"/>
            <a:ext cx="918883" cy="27084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hlinkClick r:id="rId3" action="ppaction://hlinksldjump" tooltip="Click to view">
                  <a:extLst>
                    <a:ext uri="{A12FA001-AC4F-418D-AE19-62706E023703}">
                      <ahyp:hlinkClr xmlns:ahyp="http://schemas.microsoft.com/office/drawing/2018/hyperlinkcolor" val="tx"/>
                    </a:ext>
                  </a:extLst>
                </a:hlinkClick>
              </a:rPr>
              <a:t>Back to ToC</a:t>
            </a:r>
            <a:endPar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5A42979C-8E6C-F6C8-E8C4-634AC21A182D}"/>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27</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4" action="ppaction://hlinksldjump"/>
            <a:extLst>
              <a:ext uri="{FF2B5EF4-FFF2-40B4-BE49-F238E27FC236}">
                <a16:creationId xmlns:a16="http://schemas.microsoft.com/office/drawing/2014/main" id="{36BEF42F-28F2-0006-48BD-C3B5D6D15F6F}"/>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120109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8B88B-3ACF-A6B3-9C96-8FCD67D7C9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0E4BAB-D496-6F42-1952-58E714A4CD0D}"/>
              </a:ext>
            </a:extLst>
          </p:cNvPr>
          <p:cNvSpPr>
            <a:spLocks noGrp="1"/>
          </p:cNvSpPr>
          <p:nvPr>
            <p:ph type="title"/>
          </p:nvPr>
        </p:nvSpPr>
        <p:spPr>
          <a:xfrm>
            <a:off x="446478" y="167194"/>
            <a:ext cx="8014128"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A0580231-AF70-C3A3-4A42-C992E0D05767}"/>
              </a:ext>
            </a:extLst>
          </p:cNvPr>
          <p:cNvSpPr txBox="1"/>
          <p:nvPr/>
        </p:nvSpPr>
        <p:spPr>
          <a:xfrm>
            <a:off x="536095" y="747037"/>
            <a:ext cx="10370637" cy="269304"/>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provide definition of the different materials used in blades under which different patents/published applications are tagged.</a:t>
            </a:r>
          </a:p>
        </p:txBody>
      </p:sp>
      <p:graphicFrame>
        <p:nvGraphicFramePr>
          <p:cNvPr id="2" name="Table 1">
            <a:extLst>
              <a:ext uri="{FF2B5EF4-FFF2-40B4-BE49-F238E27FC236}">
                <a16:creationId xmlns:a16="http://schemas.microsoft.com/office/drawing/2014/main" id="{68C13BB4-BC94-E93E-3C8A-C15F34A777E5}"/>
              </a:ext>
            </a:extLst>
          </p:cNvPr>
          <p:cNvGraphicFramePr>
            <a:graphicFrameLocks noGrp="1"/>
          </p:cNvGraphicFramePr>
          <p:nvPr>
            <p:extLst>
              <p:ext uri="{D42A27DB-BD31-4B8C-83A1-F6EECF244321}">
                <p14:modId xmlns:p14="http://schemas.microsoft.com/office/powerpoint/2010/main" val="2312177353"/>
              </p:ext>
            </p:extLst>
          </p:nvPr>
        </p:nvGraphicFramePr>
        <p:xfrm>
          <a:off x="629895" y="1206978"/>
          <a:ext cx="10944037" cy="4866250"/>
        </p:xfrm>
        <a:graphic>
          <a:graphicData uri="http://schemas.openxmlformats.org/drawingml/2006/table">
            <a:tbl>
              <a:tblPr firstRow="1" bandRow="1">
                <a:tableStyleId>{0E3FDE45-AF77-4B5C-9715-49D594BDF05E}</a:tableStyleId>
              </a:tblPr>
              <a:tblGrid>
                <a:gridCol w="445262">
                  <a:extLst>
                    <a:ext uri="{9D8B030D-6E8A-4147-A177-3AD203B41FA5}">
                      <a16:colId xmlns:a16="http://schemas.microsoft.com/office/drawing/2014/main" val="2083785842"/>
                    </a:ext>
                  </a:extLst>
                </a:gridCol>
                <a:gridCol w="2667000">
                  <a:extLst>
                    <a:ext uri="{9D8B030D-6E8A-4147-A177-3AD203B41FA5}">
                      <a16:colId xmlns:a16="http://schemas.microsoft.com/office/drawing/2014/main" val="825472836"/>
                    </a:ext>
                  </a:extLst>
                </a:gridCol>
                <a:gridCol w="7831775">
                  <a:extLst>
                    <a:ext uri="{9D8B030D-6E8A-4147-A177-3AD203B41FA5}">
                      <a16:colId xmlns:a16="http://schemas.microsoft.com/office/drawing/2014/main" val="2048186166"/>
                    </a:ext>
                  </a:extLst>
                </a:gridCol>
              </a:tblGrid>
              <a:tr h="558033">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Sr. No.</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Data Computational Framework/Data Processing (Sensor Data Processing)</a:t>
                      </a: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Definition</a:t>
                      </a:r>
                    </a:p>
                  </a:txBody>
                  <a:tcPr marL="36000" marR="36000" marT="36000" marB="36000"/>
                </a:tc>
                <a:extLst>
                  <a:ext uri="{0D108BD9-81ED-4DB2-BD59-A6C34878D82A}">
                    <a16:rowId xmlns:a16="http://schemas.microsoft.com/office/drawing/2014/main" val="3492180039"/>
                  </a:ext>
                </a:extLst>
              </a:tr>
              <a:tr h="831499">
                <a:tc>
                  <a:txBody>
                    <a:bodyPr/>
                    <a:lstStyle/>
                    <a:p>
                      <a:pPr algn="l" fontAlgn="t"/>
                      <a:r>
                        <a:rPr lang="en-IN" sz="1250" b="0" i="0" u="none" strike="noStrike" dirty="0">
                          <a:solidFill>
                            <a:srgbClr val="000000"/>
                          </a:solidFill>
                          <a:effectLst/>
                          <a:latin typeface="Tenorite" panose="00000500000000000000" pitchFamily="2" charset="0"/>
                        </a:rPr>
                        <a:t>22.</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Signal Processing Algorithms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apply physics-based mathematical techniques to raw sensor signals to derive tissue characterization metrics. Typical approaches include A-mode echo integration for measuring bronchial diameter, FFT or wavelet analysis of electrograms, impedance ratio calculations across frequencies, energy estimation from real-time voltage–current data, and adaptive template filtering following pulsed-field ablation (PFA).</a:t>
                      </a:r>
                    </a:p>
                  </a:txBody>
                  <a:tcPr marL="6350" marR="6350" marT="6350" marB="0"/>
                </a:tc>
                <a:extLst>
                  <a:ext uri="{0D108BD9-81ED-4DB2-BD59-A6C34878D82A}">
                    <a16:rowId xmlns:a16="http://schemas.microsoft.com/office/drawing/2014/main" val="4213864600"/>
                  </a:ext>
                </a:extLst>
              </a:tr>
              <a:tr h="666300">
                <a:tc>
                  <a:txBody>
                    <a:bodyPr/>
                    <a:lstStyle/>
                    <a:p>
                      <a:pPr algn="l" fontAlgn="t"/>
                      <a:r>
                        <a:rPr lang="en-IN" sz="1250" b="0" i="0" u="none" strike="noStrike" dirty="0">
                          <a:solidFill>
                            <a:srgbClr val="000000"/>
                          </a:solidFill>
                          <a:effectLst/>
                          <a:latin typeface="Tenorite" panose="00000500000000000000" pitchFamily="2" charset="0"/>
                        </a:rPr>
                        <a:t>23.</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Image Processing Algorithms</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extract tissue characterization information using spatial analysis of 2D or 3D medical images. Examples include CNN-based lesion segmentation from CT/MRI, Gaussian splatting for cardiac mapping, conformity index calculation between planned and actual ablation zones, and 3D temperature mapping using MRI thermometry.</a:t>
                      </a:r>
                    </a:p>
                  </a:txBody>
                  <a:tcPr marL="6350" marR="6350" marT="6350" marB="0"/>
                </a:tc>
                <a:extLst>
                  <a:ext uri="{0D108BD9-81ED-4DB2-BD59-A6C34878D82A}">
                    <a16:rowId xmlns:a16="http://schemas.microsoft.com/office/drawing/2014/main" val="3350476596"/>
                  </a:ext>
                </a:extLst>
              </a:tr>
              <a:tr h="831499">
                <a:tc>
                  <a:txBody>
                    <a:bodyPr/>
                    <a:lstStyle/>
                    <a:p>
                      <a:pPr algn="l" fontAlgn="t"/>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Statistical / Empirical Models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use experimentally derived thresholds, reference curves, or mathematical formulas to interpret sensor data and classify tissue state. For example, impedance change curves may be compared with tissue-thickness libraries, formulas may estimate PFA lesion depth based on parameters like voltage, temperature, pulse width, and contact force, and impedance-time profiles may be used to classify tissue as normal, dehydrated, or fused.</a:t>
                      </a:r>
                    </a:p>
                  </a:txBody>
                  <a:tcPr marL="6350" marR="6350" marT="6350" marB="0"/>
                </a:tc>
                <a:extLst>
                  <a:ext uri="{0D108BD9-81ED-4DB2-BD59-A6C34878D82A}">
                    <a16:rowId xmlns:a16="http://schemas.microsoft.com/office/drawing/2014/main" val="693193241"/>
                  </a:ext>
                </a:extLst>
              </a:tr>
              <a:tr h="666300">
                <a:tc>
                  <a:txBody>
                    <a:bodyPr/>
                    <a:lstStyle/>
                    <a:p>
                      <a:pPr algn="l" fontAlgn="t"/>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AI/ML</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use trained machine learning models to analyze sensor or imaging data for tissue characterization and lesion assessment. Examples include CNN-based segmentation of ablation zones, fuzzy C-means clustering of RF ultrasound backscatter for real-time detection, and machine learning approaches that generate electro-anatomical maps by combining imaging and electrogram data.</a:t>
                      </a:r>
                    </a:p>
                  </a:txBody>
                  <a:tcPr marL="6350" marR="6350" marT="6350" marB="0"/>
                </a:tc>
                <a:extLst>
                  <a:ext uri="{0D108BD9-81ED-4DB2-BD59-A6C34878D82A}">
                    <a16:rowId xmlns:a16="http://schemas.microsoft.com/office/drawing/2014/main" val="2477003808"/>
                  </a:ext>
                </a:extLst>
              </a:tr>
              <a:tr h="666300">
                <a:tc>
                  <a:txBody>
                    <a:bodyPr/>
                    <a:lstStyle/>
                    <a:p>
                      <a:pPr algn="l" fontAlgn="t"/>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Multimodal Data Fusion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that combine data from two or more different sensing modalities to generate a unified tissue characterization output. Examples include integrating photoacoustic, OCT, ultrasound, and temperature sensing on a single catheter, fusing electrical mapping with CT or MRI for electro-anatomical mapping, and combining impedance with contact force to assess the electrode-tissue interface.</a:t>
                      </a:r>
                    </a:p>
                  </a:txBody>
                  <a:tcPr marL="6350" marR="6350" marT="6350" marB="0"/>
                </a:tc>
                <a:extLst>
                  <a:ext uri="{0D108BD9-81ED-4DB2-BD59-A6C34878D82A}">
                    <a16:rowId xmlns:a16="http://schemas.microsoft.com/office/drawing/2014/main" val="1285366145"/>
                  </a:ext>
                </a:extLst>
              </a:tr>
            </a:tbl>
          </a:graphicData>
        </a:graphic>
      </p:graphicFrame>
      <p:pic>
        <p:nvPicPr>
          <p:cNvPr id="3" name="Picture 2">
            <a:extLst>
              <a:ext uri="{FF2B5EF4-FFF2-40B4-BE49-F238E27FC236}">
                <a16:creationId xmlns:a16="http://schemas.microsoft.com/office/drawing/2014/main" id="{E5750D91-F110-41B5-DE3E-DB5AE653512E}"/>
              </a:ext>
            </a:extLst>
          </p:cNvPr>
          <p:cNvPicPr>
            <a:picLocks noChangeAspect="1"/>
          </p:cNvPicPr>
          <p:nvPr/>
        </p:nvPicPr>
        <p:blipFill>
          <a:blip r:embed="rId2"/>
          <a:srcRect l="17390" t="36355" r="20538" b="46816"/>
          <a:stretch/>
        </p:blipFill>
        <p:spPr>
          <a:xfrm>
            <a:off x="10091973" y="206298"/>
            <a:ext cx="1577510" cy="427681"/>
          </a:xfrm>
          <a:prstGeom prst="rect">
            <a:avLst/>
          </a:prstGeom>
        </p:spPr>
      </p:pic>
      <p:sp>
        <p:nvSpPr>
          <p:cNvPr id="7" name="Footer Placeholder 3">
            <a:extLst>
              <a:ext uri="{FF2B5EF4-FFF2-40B4-BE49-F238E27FC236}">
                <a16:creationId xmlns:a16="http://schemas.microsoft.com/office/drawing/2014/main" id="{5880255C-66BC-9285-569E-9D6B8F6804F4}"/>
              </a:ext>
            </a:extLst>
          </p:cNvPr>
          <p:cNvSpPr>
            <a:spLocks noGrp="1"/>
          </p:cNvSpPr>
          <p:nvPr/>
        </p:nvSpPr>
        <p:spPr>
          <a:xfrm>
            <a:off x="446478" y="6532939"/>
            <a:ext cx="6128030" cy="22243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D2E2D">
                    <a:lumMod val="90000"/>
                    <a:lumOff val="10000"/>
                  </a:srgbClr>
                </a:solidFill>
                <a:effectLst/>
                <a:uLnTx/>
                <a:uFillTx/>
                <a:latin typeface="Tenorite" panose="00000500000000000000" pitchFamily="2" charset="0"/>
                <a:ea typeface="Calibri" panose="020F0502020204030204" pitchFamily="34" charset="0"/>
                <a:cs typeface="Calibri" panose="020F0502020204030204" pitchFamily="34" charset="0"/>
              </a:rPr>
              <a:t>Client Confidential</a:t>
            </a:r>
          </a:p>
        </p:txBody>
      </p:sp>
      <p:sp>
        <p:nvSpPr>
          <p:cNvPr id="4" name="Footer Placeholder 3">
            <a:hlinkClick r:id="rId3" action="ppaction://hlinksldjump" tooltip="Click to view"/>
            <a:extLst>
              <a:ext uri="{FF2B5EF4-FFF2-40B4-BE49-F238E27FC236}">
                <a16:creationId xmlns:a16="http://schemas.microsoft.com/office/drawing/2014/main" id="{E084D082-B190-5E4F-4178-353FF80DBBE1}"/>
              </a:ext>
            </a:extLst>
          </p:cNvPr>
          <p:cNvSpPr>
            <a:spLocks noGrp="1"/>
          </p:cNvSpPr>
          <p:nvPr/>
        </p:nvSpPr>
        <p:spPr>
          <a:xfrm>
            <a:off x="10497146" y="746428"/>
            <a:ext cx="918883" cy="27084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hlinkClick r:id="rId3" action="ppaction://hlinksldjump" tooltip="Click to view">
                  <a:extLst>
                    <a:ext uri="{A12FA001-AC4F-418D-AE19-62706E023703}">
                      <ahyp:hlinkClr xmlns:ahyp="http://schemas.microsoft.com/office/drawing/2018/hyperlinkcolor" val="tx"/>
                    </a:ext>
                  </a:extLst>
                </a:hlinkClick>
              </a:rPr>
              <a:t>Back to ToC</a:t>
            </a:r>
            <a:endPar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5D8CE7C4-FACE-837F-FC2E-0728C37E0CD2}"/>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28</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4" action="ppaction://hlinksldjump"/>
            <a:extLst>
              <a:ext uri="{FF2B5EF4-FFF2-40B4-BE49-F238E27FC236}">
                <a16:creationId xmlns:a16="http://schemas.microsoft.com/office/drawing/2014/main" id="{7CE13F9C-B93B-AD10-C930-23E6B5A5426A}"/>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712373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416F4-807C-6111-9B59-4A762EE0EB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0E74A7C-3E18-CFF5-2D84-FCB73983A6AB}"/>
              </a:ext>
            </a:extLst>
          </p:cNvPr>
          <p:cNvSpPr>
            <a:spLocks noGrp="1"/>
          </p:cNvSpPr>
          <p:nvPr>
            <p:ph type="title"/>
          </p:nvPr>
        </p:nvSpPr>
        <p:spPr>
          <a:xfrm>
            <a:off x="446478" y="167194"/>
            <a:ext cx="8014128"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6023274E-D9D4-C03D-8B29-F513701C9756}"/>
              </a:ext>
            </a:extLst>
          </p:cNvPr>
          <p:cNvSpPr txBox="1"/>
          <p:nvPr/>
        </p:nvSpPr>
        <p:spPr>
          <a:xfrm>
            <a:off x="546729" y="747037"/>
            <a:ext cx="10370637" cy="269304"/>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provides definition of different types of blade under which different patents/published applications are tagged.</a:t>
            </a:r>
          </a:p>
        </p:txBody>
      </p:sp>
      <p:graphicFrame>
        <p:nvGraphicFramePr>
          <p:cNvPr id="2" name="Table 1">
            <a:extLst>
              <a:ext uri="{FF2B5EF4-FFF2-40B4-BE49-F238E27FC236}">
                <a16:creationId xmlns:a16="http://schemas.microsoft.com/office/drawing/2014/main" id="{5C056310-BB58-A952-E8E5-A83C2F3B30AC}"/>
              </a:ext>
            </a:extLst>
          </p:cNvPr>
          <p:cNvGraphicFramePr>
            <a:graphicFrameLocks noGrp="1"/>
          </p:cNvGraphicFramePr>
          <p:nvPr>
            <p:extLst>
              <p:ext uri="{D42A27DB-BD31-4B8C-83A1-F6EECF244321}">
                <p14:modId xmlns:p14="http://schemas.microsoft.com/office/powerpoint/2010/main" val="1934800916"/>
              </p:ext>
            </p:extLst>
          </p:nvPr>
        </p:nvGraphicFramePr>
        <p:xfrm>
          <a:off x="619262" y="1206978"/>
          <a:ext cx="10944037" cy="4682100"/>
        </p:xfrm>
        <a:graphic>
          <a:graphicData uri="http://schemas.openxmlformats.org/drawingml/2006/table">
            <a:tbl>
              <a:tblPr firstRow="1" bandRow="1">
                <a:tableStyleId>{0E3FDE45-AF77-4B5C-9715-49D594BDF05E}</a:tableStyleId>
              </a:tblPr>
              <a:tblGrid>
                <a:gridCol w="445262">
                  <a:extLst>
                    <a:ext uri="{9D8B030D-6E8A-4147-A177-3AD203B41FA5}">
                      <a16:colId xmlns:a16="http://schemas.microsoft.com/office/drawing/2014/main" val="2083785842"/>
                    </a:ext>
                  </a:extLst>
                </a:gridCol>
                <a:gridCol w="2667000">
                  <a:extLst>
                    <a:ext uri="{9D8B030D-6E8A-4147-A177-3AD203B41FA5}">
                      <a16:colId xmlns:a16="http://schemas.microsoft.com/office/drawing/2014/main" val="825472836"/>
                    </a:ext>
                  </a:extLst>
                </a:gridCol>
                <a:gridCol w="7831775">
                  <a:extLst>
                    <a:ext uri="{9D8B030D-6E8A-4147-A177-3AD203B41FA5}">
                      <a16:colId xmlns:a16="http://schemas.microsoft.com/office/drawing/2014/main" val="2048186166"/>
                    </a:ext>
                  </a:extLst>
                </a:gridCol>
              </a:tblGrid>
              <a:tr h="173902">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Sr. No.</a:t>
                      </a:r>
                    </a:p>
                  </a:txBody>
                  <a:tcPr marL="36000" marR="36000" marT="36000" marB="36000"/>
                </a:tc>
                <a:tc>
                  <a:txBody>
                    <a:bodyPr/>
                    <a:lstStyle/>
                    <a:p>
                      <a:pPr marL="0" algn="l" defTabSz="914400" rtl="0" eaLnBrk="1" fontAlgn="t" latinLnBrk="0" hangingPunct="1"/>
                      <a:r>
                        <a:rPr lang="en-US"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Tissue / Anatomical Target</a:t>
                      </a:r>
                      <a:endPar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endParaRP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Definition</a:t>
                      </a:r>
                    </a:p>
                  </a:txBody>
                  <a:tcPr marL="36000" marR="36000" marT="36000" marB="36000"/>
                </a:tc>
                <a:extLst>
                  <a:ext uri="{0D108BD9-81ED-4DB2-BD59-A6C34878D82A}">
                    <a16:rowId xmlns:a16="http://schemas.microsoft.com/office/drawing/2014/main" val="3492180039"/>
                  </a:ext>
                </a:extLst>
              </a:tr>
              <a:tr h="373160">
                <a:tc>
                  <a:txBody>
                    <a:bodyPr/>
                    <a:lstStyle/>
                    <a:p>
                      <a:pPr algn="l" fontAlgn="t"/>
                      <a:r>
                        <a:rPr lang="en-IN" sz="1250" b="0" i="0" u="none" strike="noStrike" dirty="0">
                          <a:solidFill>
                            <a:srgbClr val="000000"/>
                          </a:solidFill>
                          <a:effectLst/>
                          <a:latin typeface="Tenorite" panose="00000500000000000000" pitchFamily="2" charset="0"/>
                        </a:rPr>
                        <a:t>1.</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Cardiac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related to heart tissue and intracardiac structures, such as the myocardium (e.g., AF and VT ablation), pulmonary vein ostia, His bundle, cardiac conduction system, heart valve tissue, and intracardiac imaging used during ablation procedures.</a:t>
                      </a:r>
                    </a:p>
                  </a:txBody>
                  <a:tcPr marL="6350" marR="6350" marT="6350" marB="0"/>
                </a:tc>
                <a:extLst>
                  <a:ext uri="{0D108BD9-81ED-4DB2-BD59-A6C34878D82A}">
                    <a16:rowId xmlns:a16="http://schemas.microsoft.com/office/drawing/2014/main" val="4273214927"/>
                  </a:ext>
                </a:extLst>
              </a:tr>
              <a:tr h="386152">
                <a:tc>
                  <a:txBody>
                    <a:bodyPr/>
                    <a:lstStyle/>
                    <a:p>
                      <a:pPr algn="l" fontAlgn="t"/>
                      <a:r>
                        <a:rPr lang="en-IN" sz="1250" b="0" i="0" u="none" strike="noStrike" dirty="0">
                          <a:solidFill>
                            <a:srgbClr val="000000"/>
                          </a:solidFill>
                          <a:effectLst/>
                          <a:latin typeface="Tenorite" panose="00000500000000000000" pitchFamily="2" charset="0"/>
                        </a:rPr>
                        <a:t>2.</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Renal / Perirenal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covers patents/published applications focused on kidney tissue and surrounding renal nerves, including procedures like renal sympathetic denervation using catheter-based approaches, percutaneous kidney tumor ablation, and sensing of renal nerve activity.</a:t>
                      </a:r>
                    </a:p>
                  </a:txBody>
                  <a:tcPr marL="6350" marR="6350" marT="6350" marB="0"/>
                </a:tc>
                <a:extLst>
                  <a:ext uri="{0D108BD9-81ED-4DB2-BD59-A6C34878D82A}">
                    <a16:rowId xmlns:a16="http://schemas.microsoft.com/office/drawing/2014/main" val="4213864600"/>
                  </a:ext>
                </a:extLst>
              </a:tr>
              <a:tr h="386152">
                <a:tc>
                  <a:txBody>
                    <a:bodyPr/>
                    <a:lstStyle/>
                    <a:p>
                      <a:pPr algn="l" fontAlgn="t"/>
                      <a:r>
                        <a:rPr lang="en-IN" sz="1250" b="0" i="0" u="none" strike="noStrike" dirty="0">
                          <a:solidFill>
                            <a:srgbClr val="000000"/>
                          </a:solidFill>
                          <a:effectLst/>
                          <a:latin typeface="Tenorite" panose="00000500000000000000" pitchFamily="2" charset="0"/>
                        </a:rPr>
                        <a:t>3.</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Pulmonary / Airway </a:t>
                      </a:r>
                    </a:p>
                  </a:txBody>
                  <a:tcPr marL="6350" marR="6350" marT="6350" marB="0"/>
                </a:tc>
                <a:tc>
                  <a:txBody>
                    <a:bodyPr/>
                    <a:lstStyle/>
                    <a:p>
                      <a:pPr algn="l" fontAlgn="t">
                        <a:buNone/>
                      </a:pPr>
                      <a:r>
                        <a:rPr lang="en-IN" sz="1250" b="0" i="0" u="none" strike="noStrike" dirty="0">
                          <a:solidFill>
                            <a:schemeClr val="tx1"/>
                          </a:solidFill>
                          <a:effectLst/>
                          <a:latin typeface="Tenorite" panose="00000500000000000000" pitchFamily="2" charset="0"/>
                        </a:rPr>
                        <a:t>This category includes patents/published applications related to the lung parenchyma, bronchial walls, and airway structures. Examples include bronchial nerve denervation (for asthma or COPD), lung tumor ablation (via transbronchial or percutaneous approaches), pulmonary artery ablation, and nasal nerve treatments.</a:t>
                      </a:r>
                    </a:p>
                  </a:txBody>
                  <a:tcPr marL="6350" marR="6350" marT="6350" marB="0"/>
                </a:tc>
                <a:extLst>
                  <a:ext uri="{0D108BD9-81ED-4DB2-BD59-A6C34878D82A}">
                    <a16:rowId xmlns:a16="http://schemas.microsoft.com/office/drawing/2014/main" val="3350476596"/>
                  </a:ext>
                </a:extLst>
              </a:tr>
              <a:tr h="539087">
                <a:tc>
                  <a:txBody>
                    <a:bodyPr/>
                    <a:lstStyle/>
                    <a:p>
                      <a:pPr algn="l" fontAlgn="t"/>
                      <a:r>
                        <a:rPr lang="en-IN" sz="1250" b="0" i="0" u="none" strike="noStrike" dirty="0">
                          <a:solidFill>
                            <a:srgbClr val="000000"/>
                          </a:solidFill>
                          <a:effectLst/>
                          <a:latin typeface="Tenorite" panose="00000500000000000000" pitchFamily="2" charset="0"/>
                        </a:rPr>
                        <a:t>4.</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Gastrointestinal </a:t>
                      </a:r>
                    </a:p>
                  </a:txBody>
                  <a:tcPr marL="6350" marR="6350" marT="6350" marB="0"/>
                </a:tc>
                <a:tc>
                  <a:txBody>
                    <a:bodyPr/>
                    <a:lstStyle/>
                    <a:p>
                      <a:pPr algn="l" fontAlgn="t">
                        <a:buNone/>
                      </a:pPr>
                      <a:r>
                        <a:rPr lang="en-IN" sz="1250" b="0" i="0" u="none" strike="noStrike" dirty="0">
                          <a:solidFill>
                            <a:schemeClr val="tx1"/>
                          </a:solidFill>
                          <a:effectLst/>
                          <a:latin typeface="Tenorite" panose="00000500000000000000" pitchFamily="2" charset="0"/>
                        </a:rPr>
                        <a:t>This category covers patents/published applications related to tissues of the gastrointestinal (GI) tract, including the esophagus, stomach, intestine, colon, and rectum. Examples include Barrett’s esophagus RF ablation, GI mucosal photothermal ablation, small intestine electroporation, and esophageal temperature monitoring during cardiac ablation.</a:t>
                      </a:r>
                    </a:p>
                  </a:txBody>
                  <a:tcPr marL="6350" marR="6350" marT="6350" marB="0"/>
                </a:tc>
                <a:extLst>
                  <a:ext uri="{0D108BD9-81ED-4DB2-BD59-A6C34878D82A}">
                    <a16:rowId xmlns:a16="http://schemas.microsoft.com/office/drawing/2014/main" val="1842763629"/>
                  </a:ext>
                </a:extLst>
              </a:tr>
              <a:tr h="233216">
                <a:tc>
                  <a:txBody>
                    <a:bodyPr/>
                    <a:lstStyle/>
                    <a:p>
                      <a:pPr algn="l" fontAlgn="t"/>
                      <a:r>
                        <a:rPr lang="en-IN" sz="1250" b="0" i="0" u="none" strike="noStrike" dirty="0">
                          <a:solidFill>
                            <a:srgbClr val="000000"/>
                          </a:solidFill>
                          <a:effectLst/>
                          <a:latin typeface="Tenorite" panose="00000500000000000000" pitchFamily="2" charset="0"/>
                        </a:rPr>
                        <a:t>5.</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Oncology / Tumor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covers patents/published applications focused on solid tumor ablation across organs such as the liver, lung, kidney, prostate, and brain. The primary goal is tumor destruction using techniques like RF, microwave, laser, cryoablation, HIFU, and PEF. It also includes technologies for tumor boundary detection (e.g., bioimpedance for PEF electrode placement) and image-guided approaches such as MRI-guided laser interstitial thermal therapy (LITT).</a:t>
                      </a:r>
                    </a:p>
                  </a:txBody>
                  <a:tcPr marL="6350" marR="6350" marT="6350" marB="0"/>
                </a:tc>
                <a:extLst>
                  <a:ext uri="{0D108BD9-81ED-4DB2-BD59-A6C34878D82A}">
                    <a16:rowId xmlns:a16="http://schemas.microsoft.com/office/drawing/2014/main" val="209990346"/>
                  </a:ext>
                </a:extLst>
              </a:tr>
              <a:tr h="386152">
                <a:tc>
                  <a:txBody>
                    <a:bodyPr/>
                    <a:lstStyle/>
                    <a:p>
                      <a:pPr algn="l" fontAlgn="t"/>
                      <a:r>
                        <a:rPr lang="en-IN" sz="1250" b="0" i="0" u="none" strike="noStrike" dirty="0">
                          <a:solidFill>
                            <a:srgbClr val="000000"/>
                          </a:solidFill>
                          <a:effectLst/>
                          <a:latin typeface="Tenorite" panose="00000500000000000000" pitchFamily="2" charset="0"/>
                        </a:rPr>
                        <a:t>6.</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Neurological / Nerve </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related to the use of peripheral nerves, nerve ganglia, or nerve trunks for ablation or functional assessment. It covers approaches such as greater splanchnic nerve pulsed field ablation, posterior nasal nerve RF ablation for rhinitis, His bundle pacing and mapping, pre-ablation sensory or motor nerve stimulation testing, and OPM-based detection of renal nerve activity.</a:t>
                      </a:r>
                    </a:p>
                  </a:txBody>
                  <a:tcPr marL="6350" marR="6350" marT="6350" marB="0"/>
                </a:tc>
                <a:extLst>
                  <a:ext uri="{0D108BD9-81ED-4DB2-BD59-A6C34878D82A}">
                    <a16:rowId xmlns:a16="http://schemas.microsoft.com/office/drawing/2014/main" val="2756878278"/>
                  </a:ext>
                </a:extLst>
              </a:tr>
            </a:tbl>
          </a:graphicData>
        </a:graphic>
      </p:graphicFrame>
      <p:pic>
        <p:nvPicPr>
          <p:cNvPr id="3" name="Picture 2">
            <a:extLst>
              <a:ext uri="{FF2B5EF4-FFF2-40B4-BE49-F238E27FC236}">
                <a16:creationId xmlns:a16="http://schemas.microsoft.com/office/drawing/2014/main" id="{6AA1CCCA-A782-8685-3339-952FAD5F9A34}"/>
              </a:ext>
            </a:extLst>
          </p:cNvPr>
          <p:cNvPicPr>
            <a:picLocks noChangeAspect="1"/>
          </p:cNvPicPr>
          <p:nvPr/>
        </p:nvPicPr>
        <p:blipFill>
          <a:blip r:embed="rId2"/>
          <a:srcRect l="17390" t="36355" r="20538" b="46816"/>
          <a:stretch/>
        </p:blipFill>
        <p:spPr>
          <a:xfrm>
            <a:off x="10091973" y="206298"/>
            <a:ext cx="1577510" cy="427681"/>
          </a:xfrm>
          <a:prstGeom prst="rect">
            <a:avLst/>
          </a:prstGeom>
        </p:spPr>
      </p:pic>
      <p:sp>
        <p:nvSpPr>
          <p:cNvPr id="7" name="Footer Placeholder 3">
            <a:extLst>
              <a:ext uri="{FF2B5EF4-FFF2-40B4-BE49-F238E27FC236}">
                <a16:creationId xmlns:a16="http://schemas.microsoft.com/office/drawing/2014/main" id="{25911888-84BA-F00A-8F09-C8F5DEED9B63}"/>
              </a:ext>
            </a:extLst>
          </p:cNvPr>
          <p:cNvSpPr>
            <a:spLocks noGrp="1"/>
          </p:cNvSpPr>
          <p:nvPr/>
        </p:nvSpPr>
        <p:spPr>
          <a:xfrm>
            <a:off x="446478" y="6532939"/>
            <a:ext cx="6128030" cy="22243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D2E2D">
                    <a:lumMod val="90000"/>
                    <a:lumOff val="10000"/>
                  </a:srgbClr>
                </a:solidFill>
                <a:effectLst/>
                <a:uLnTx/>
                <a:uFillTx/>
                <a:latin typeface="Tenorite" panose="00000500000000000000" pitchFamily="2" charset="0"/>
                <a:ea typeface="Calibri" panose="020F0502020204030204" pitchFamily="34" charset="0"/>
                <a:cs typeface="Calibri" panose="020F0502020204030204" pitchFamily="34" charset="0"/>
              </a:rPr>
              <a:t>Client Confidential</a:t>
            </a:r>
          </a:p>
        </p:txBody>
      </p:sp>
      <p:sp>
        <p:nvSpPr>
          <p:cNvPr id="4" name="Footer Placeholder 3">
            <a:hlinkClick r:id="rId3" action="ppaction://hlinksldjump" tooltip="Click to view"/>
            <a:extLst>
              <a:ext uri="{FF2B5EF4-FFF2-40B4-BE49-F238E27FC236}">
                <a16:creationId xmlns:a16="http://schemas.microsoft.com/office/drawing/2014/main" id="{9461D634-3961-F28E-A40F-B6A77149D608}"/>
              </a:ext>
            </a:extLst>
          </p:cNvPr>
          <p:cNvSpPr>
            <a:spLocks noGrp="1"/>
          </p:cNvSpPr>
          <p:nvPr/>
        </p:nvSpPr>
        <p:spPr>
          <a:xfrm>
            <a:off x="10497146" y="746428"/>
            <a:ext cx="918883" cy="27084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hlinkClick r:id="rId3" action="ppaction://hlinksldjump" tooltip="Click to view">
                  <a:extLst>
                    <a:ext uri="{A12FA001-AC4F-418D-AE19-62706E023703}">
                      <ahyp:hlinkClr xmlns:ahyp="http://schemas.microsoft.com/office/drawing/2018/hyperlinkcolor" val="tx"/>
                    </a:ext>
                  </a:extLst>
                </a:hlinkClick>
              </a:rPr>
              <a:t>Back to ToC</a:t>
            </a:r>
            <a:endPar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7C74C67D-C455-0ECC-B96A-0904F014766D}"/>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29</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4" action="ppaction://hlinksldjump"/>
            <a:extLst>
              <a:ext uri="{FF2B5EF4-FFF2-40B4-BE49-F238E27FC236}">
                <a16:creationId xmlns:a16="http://schemas.microsoft.com/office/drawing/2014/main" id="{60091849-7658-2B7A-E18A-D7B0363633AB}"/>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466807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9DDAB-8381-9A2A-C0B9-B74564426FC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20F882-5822-9B0C-0325-8F951296AA44}"/>
              </a:ext>
            </a:extLst>
          </p:cNvPr>
          <p:cNvSpPr>
            <a:spLocks noGrp="1"/>
          </p:cNvSpPr>
          <p:nvPr>
            <p:ph type="title"/>
          </p:nvPr>
        </p:nvSpPr>
        <p:spPr>
          <a:xfrm>
            <a:off x="446478" y="167194"/>
            <a:ext cx="8014128" cy="542627"/>
          </a:xfrm>
        </p:spPr>
        <p:txBody>
          <a:bodyPr>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APPENDIX</a:t>
            </a:r>
            <a:endParaRPr lang="en-IN" sz="3600" dirty="0">
              <a:solidFill>
                <a:srgbClr val="D42357"/>
              </a:solidFill>
              <a:latin typeface="Tenorite" panose="00000500000000000000" pitchFamily="2"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4309BBC3-0BB5-3434-D125-5AD8E9A8735D}"/>
              </a:ext>
            </a:extLst>
          </p:cNvPr>
          <p:cNvSpPr txBox="1"/>
          <p:nvPr/>
        </p:nvSpPr>
        <p:spPr>
          <a:xfrm>
            <a:off x="546729" y="747037"/>
            <a:ext cx="10370637" cy="269304"/>
          </a:xfrm>
          <a:prstGeom prst="rect">
            <a:avLst/>
          </a:prstGeom>
          <a:noFill/>
        </p:spPr>
        <p:txBody>
          <a:bodyPr wrap="square" rtlCol="0">
            <a:spAutoFit/>
          </a:bodyPr>
          <a:lstStyle>
            <a:defPPr>
              <a:defRPr lang="en-US"/>
            </a:defPPr>
            <a:lvl1pPr algn="just">
              <a:defRPr sz="1200" b="0" i="0" u="none" strike="noStrike">
                <a:solidFill>
                  <a:srgbClr val="595555"/>
                </a:solidFill>
                <a:effectLst/>
                <a:latin typeface="Tenorite" panose="00000500000000000000" pitchFamily="2" charset="0"/>
                <a:ea typeface="Calibri" panose="020F0502020204030204" pitchFamily="34" charset="0"/>
                <a:cs typeface="Calibri" panose="020F0502020204030204" pitchFamily="34" charset="0"/>
              </a:defRPr>
            </a:lvl1pPr>
          </a:lstStyle>
          <a:p>
            <a:r>
              <a:rPr lang="en-US" dirty="0"/>
              <a:t>This section provides definition of different types of blade under which different patents/published applications are tagged.</a:t>
            </a:r>
          </a:p>
        </p:txBody>
      </p:sp>
      <p:graphicFrame>
        <p:nvGraphicFramePr>
          <p:cNvPr id="2" name="Table 1">
            <a:extLst>
              <a:ext uri="{FF2B5EF4-FFF2-40B4-BE49-F238E27FC236}">
                <a16:creationId xmlns:a16="http://schemas.microsoft.com/office/drawing/2014/main" id="{54F14767-337E-9A38-E676-0B82C28363C4}"/>
              </a:ext>
            </a:extLst>
          </p:cNvPr>
          <p:cNvGraphicFramePr>
            <a:graphicFrameLocks noGrp="1"/>
          </p:cNvGraphicFramePr>
          <p:nvPr/>
        </p:nvGraphicFramePr>
        <p:xfrm>
          <a:off x="619262" y="1206978"/>
          <a:ext cx="10944037" cy="1989700"/>
        </p:xfrm>
        <a:graphic>
          <a:graphicData uri="http://schemas.openxmlformats.org/drawingml/2006/table">
            <a:tbl>
              <a:tblPr firstRow="1" bandRow="1">
                <a:tableStyleId>{0E3FDE45-AF77-4B5C-9715-49D594BDF05E}</a:tableStyleId>
              </a:tblPr>
              <a:tblGrid>
                <a:gridCol w="445262">
                  <a:extLst>
                    <a:ext uri="{9D8B030D-6E8A-4147-A177-3AD203B41FA5}">
                      <a16:colId xmlns:a16="http://schemas.microsoft.com/office/drawing/2014/main" val="2083785842"/>
                    </a:ext>
                  </a:extLst>
                </a:gridCol>
                <a:gridCol w="2667000">
                  <a:extLst>
                    <a:ext uri="{9D8B030D-6E8A-4147-A177-3AD203B41FA5}">
                      <a16:colId xmlns:a16="http://schemas.microsoft.com/office/drawing/2014/main" val="825472836"/>
                    </a:ext>
                  </a:extLst>
                </a:gridCol>
                <a:gridCol w="7831775">
                  <a:extLst>
                    <a:ext uri="{9D8B030D-6E8A-4147-A177-3AD203B41FA5}">
                      <a16:colId xmlns:a16="http://schemas.microsoft.com/office/drawing/2014/main" val="2048186166"/>
                    </a:ext>
                  </a:extLst>
                </a:gridCol>
              </a:tblGrid>
              <a:tr h="173902">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Sr. No.</a:t>
                      </a:r>
                    </a:p>
                  </a:txBody>
                  <a:tcPr marL="36000" marR="36000" marT="36000" marB="36000"/>
                </a:tc>
                <a:tc>
                  <a:txBody>
                    <a:bodyPr/>
                    <a:lstStyle/>
                    <a:p>
                      <a:pPr marL="0" algn="l" defTabSz="914400" rtl="0" eaLnBrk="1" fontAlgn="t" latinLnBrk="0" hangingPunct="1"/>
                      <a:r>
                        <a:rPr lang="en-US"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Tissue / Anatomical Target</a:t>
                      </a:r>
                      <a:endPar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endParaRPr>
                    </a:p>
                  </a:txBody>
                  <a:tcPr marL="36000" marR="36000" marT="36000" marB="36000"/>
                </a:tc>
                <a:tc>
                  <a:txBody>
                    <a:bodyPr/>
                    <a:lstStyle/>
                    <a:p>
                      <a:pPr marL="0" algn="l" defTabSz="914400" rtl="0" eaLnBrk="1" fontAlgn="t" latinLnBrk="0" hangingPunct="1"/>
                      <a:r>
                        <a:rPr lang="en-IN" sz="1250" b="1" kern="1200" dirty="0">
                          <a:solidFill>
                            <a:srgbClr val="D42357"/>
                          </a:solidFill>
                          <a:latin typeface="Tenorite" panose="00000500000000000000" pitchFamily="2" charset="0"/>
                          <a:ea typeface="Calibri" panose="020F0502020204030204" pitchFamily="34" charset="0"/>
                          <a:cs typeface="Calibri" panose="020F0502020204030204" pitchFamily="34" charset="0"/>
                        </a:rPr>
                        <a:t>Definition</a:t>
                      </a:r>
                    </a:p>
                  </a:txBody>
                  <a:tcPr marL="36000" marR="36000" marT="36000" marB="36000"/>
                </a:tc>
                <a:extLst>
                  <a:ext uri="{0D108BD9-81ED-4DB2-BD59-A6C34878D82A}">
                    <a16:rowId xmlns:a16="http://schemas.microsoft.com/office/drawing/2014/main" val="3492180039"/>
                  </a:ext>
                </a:extLst>
              </a:tr>
              <a:tr h="386152">
                <a:tc>
                  <a:txBody>
                    <a:bodyPr/>
                    <a:lstStyle/>
                    <a:p>
                      <a:pPr algn="l" fontAlgn="t"/>
                      <a:r>
                        <a:rPr lang="en-IN" sz="1250" b="0" i="0" u="none" strike="noStrike" dirty="0">
                          <a:solidFill>
                            <a:srgbClr val="000000"/>
                          </a:solidFill>
                          <a:effectLst/>
                          <a:latin typeface="Tenorite" panose="00000500000000000000" pitchFamily="2" charset="0"/>
                        </a:rPr>
                        <a:t>7.</a:t>
                      </a: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Generic (No Organ Specified)</a:t>
                      </a:r>
                    </a:p>
                  </a:txBody>
                  <a:tcPr marL="6350" marR="6350" marT="6350" marB="0"/>
                </a:tc>
                <a:tc>
                  <a:txBody>
                    <a:bodyPr/>
                    <a:lstStyle/>
                    <a:p>
                      <a:pPr algn="l" fontAlgn="t">
                        <a:buNone/>
                      </a:pPr>
                      <a:r>
                        <a:rPr lang="en-US" sz="1250" b="0" i="0" u="none" strike="noStrike" dirty="0">
                          <a:solidFill>
                            <a:schemeClr val="tx1"/>
                          </a:solidFill>
                          <a:effectLst/>
                          <a:latin typeface="Tenorite" panose="00000500000000000000" pitchFamily="2" charset="0"/>
                        </a:rPr>
                        <a:t>This category includes patents/published applications covering platform technologies that can be used across multiple organs, without focusing on a specific anatomical target. Examples include broad impedance-based contact or thickness sensing systems, universal waveform generation for pulsed electric field (PEF), and general RF energy control algorithms.</a:t>
                      </a:r>
                    </a:p>
                  </a:txBody>
                  <a:tcPr marL="6350" marR="6350" marT="6350" marB="0"/>
                </a:tc>
                <a:extLst>
                  <a:ext uri="{0D108BD9-81ED-4DB2-BD59-A6C34878D82A}">
                    <a16:rowId xmlns:a16="http://schemas.microsoft.com/office/drawing/2014/main" val="48078391"/>
                  </a:ext>
                </a:extLst>
              </a:tr>
              <a:tr h="386152">
                <a:tc>
                  <a:txBody>
                    <a:bodyPr/>
                    <a:lstStyle/>
                    <a:p>
                      <a:pPr algn="l" fontAlgn="t"/>
                      <a:r>
                        <a:rPr lang="en-US" sz="1250" b="0" i="0" u="none" strike="noStrike" dirty="0">
                          <a:solidFill>
                            <a:srgbClr val="000000"/>
                          </a:solidFill>
                          <a:effectLst/>
                          <a:latin typeface="Tenorite" panose="00000500000000000000" pitchFamily="2" charset="0"/>
                        </a:rPr>
                        <a:t>8</a:t>
                      </a:r>
                      <a:endParaRPr lang="en-IN" sz="1250" b="0" i="0" u="none" strike="noStrike" dirty="0">
                        <a:solidFill>
                          <a:srgbClr val="000000"/>
                        </a:solidFill>
                        <a:effectLst/>
                        <a:latin typeface="Tenorite" panose="00000500000000000000" pitchFamily="2" charset="0"/>
                      </a:endParaRPr>
                    </a:p>
                  </a:txBody>
                  <a:tcPr marL="36000" marR="36000" marT="36000" marB="36000"/>
                </a:tc>
                <a:tc>
                  <a:txBody>
                    <a:bodyPr/>
                    <a:lstStyle/>
                    <a:p>
                      <a:pPr algn="l" fontAlgn="t">
                        <a:buNone/>
                      </a:pPr>
                      <a:r>
                        <a:rPr lang="en-IN" sz="1250" b="0" i="0" u="none" strike="noStrike" dirty="0">
                          <a:solidFill>
                            <a:schemeClr val="tx1"/>
                          </a:solidFill>
                          <a:effectLst/>
                          <a:latin typeface="Tenorite" panose="00000500000000000000" pitchFamily="2" charset="0"/>
                        </a:rPr>
                        <a:t>Other / Non-Specific </a:t>
                      </a:r>
                    </a:p>
                  </a:txBody>
                  <a:tcPr marL="6350" marR="6350" marT="6350" marB="0"/>
                </a:tc>
                <a:tc>
                  <a:txBody>
                    <a:bodyPr/>
                    <a:lstStyle/>
                    <a:p>
                      <a:pPr algn="l" fontAlgn="t">
                        <a:buNone/>
                      </a:pPr>
                      <a:r>
                        <a:rPr lang="en-IN" sz="1250" b="0" i="0" u="none" strike="noStrike" dirty="0">
                          <a:solidFill>
                            <a:schemeClr val="tx1"/>
                          </a:solidFill>
                          <a:effectLst/>
                          <a:latin typeface="Tenorite" panose="00000500000000000000" pitchFamily="2" charset="0"/>
                        </a:rPr>
                        <a:t>This category covers patents/published applications targeting anatomical areas not included in the main groups. Examples include the vascular or arterial wall (e.g., lithotripsy), skin and subcutaneous fat (e.g., RF skin tightening, fat treatment), endometrial lesions (e.g., PEF), urological organs (bladder, urethra, ureter), and mediastinal structures.</a:t>
                      </a:r>
                    </a:p>
                  </a:txBody>
                  <a:tcPr marL="6350" marR="6350" marT="6350" marB="0"/>
                </a:tc>
                <a:extLst>
                  <a:ext uri="{0D108BD9-81ED-4DB2-BD59-A6C34878D82A}">
                    <a16:rowId xmlns:a16="http://schemas.microsoft.com/office/drawing/2014/main" val="3573586339"/>
                  </a:ext>
                </a:extLst>
              </a:tr>
            </a:tbl>
          </a:graphicData>
        </a:graphic>
      </p:graphicFrame>
      <p:pic>
        <p:nvPicPr>
          <p:cNvPr id="3" name="Picture 2">
            <a:extLst>
              <a:ext uri="{FF2B5EF4-FFF2-40B4-BE49-F238E27FC236}">
                <a16:creationId xmlns:a16="http://schemas.microsoft.com/office/drawing/2014/main" id="{CDC8B197-49E3-F8A4-5746-76036473E1D1}"/>
              </a:ext>
            </a:extLst>
          </p:cNvPr>
          <p:cNvPicPr>
            <a:picLocks noChangeAspect="1"/>
          </p:cNvPicPr>
          <p:nvPr/>
        </p:nvPicPr>
        <p:blipFill>
          <a:blip r:embed="rId2"/>
          <a:srcRect l="17390" t="36355" r="20538" b="46816"/>
          <a:stretch/>
        </p:blipFill>
        <p:spPr>
          <a:xfrm>
            <a:off x="10091973" y="206298"/>
            <a:ext cx="1577510" cy="427681"/>
          </a:xfrm>
          <a:prstGeom prst="rect">
            <a:avLst/>
          </a:prstGeom>
        </p:spPr>
      </p:pic>
      <p:sp>
        <p:nvSpPr>
          <p:cNvPr id="7" name="Footer Placeholder 3">
            <a:extLst>
              <a:ext uri="{FF2B5EF4-FFF2-40B4-BE49-F238E27FC236}">
                <a16:creationId xmlns:a16="http://schemas.microsoft.com/office/drawing/2014/main" id="{7F0B64DD-3FF9-5B3B-7EFB-D27630B7B3BD}"/>
              </a:ext>
            </a:extLst>
          </p:cNvPr>
          <p:cNvSpPr>
            <a:spLocks noGrp="1"/>
          </p:cNvSpPr>
          <p:nvPr/>
        </p:nvSpPr>
        <p:spPr>
          <a:xfrm>
            <a:off x="446478" y="6532939"/>
            <a:ext cx="6128030" cy="22243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D2E2D">
                    <a:lumMod val="90000"/>
                    <a:lumOff val="10000"/>
                  </a:srgbClr>
                </a:solidFill>
                <a:effectLst/>
                <a:uLnTx/>
                <a:uFillTx/>
                <a:latin typeface="Tenorite" panose="00000500000000000000" pitchFamily="2" charset="0"/>
                <a:ea typeface="Calibri" panose="020F0502020204030204" pitchFamily="34" charset="0"/>
                <a:cs typeface="Calibri" panose="020F0502020204030204" pitchFamily="34" charset="0"/>
              </a:rPr>
              <a:t>Client Confidential</a:t>
            </a:r>
          </a:p>
        </p:txBody>
      </p:sp>
      <p:sp>
        <p:nvSpPr>
          <p:cNvPr id="4" name="Footer Placeholder 3">
            <a:hlinkClick r:id="rId3" action="ppaction://hlinksldjump" tooltip="Click to view"/>
            <a:extLst>
              <a:ext uri="{FF2B5EF4-FFF2-40B4-BE49-F238E27FC236}">
                <a16:creationId xmlns:a16="http://schemas.microsoft.com/office/drawing/2014/main" id="{82083734-F302-96FC-81B9-DC6440B10BBC}"/>
              </a:ext>
            </a:extLst>
          </p:cNvPr>
          <p:cNvSpPr>
            <a:spLocks noGrp="1"/>
          </p:cNvSpPr>
          <p:nvPr/>
        </p:nvSpPr>
        <p:spPr>
          <a:xfrm>
            <a:off x="10497146" y="746428"/>
            <a:ext cx="918883" cy="270846"/>
          </a:xfrm>
          <a:prstGeom prst="rect">
            <a:avLst/>
          </a:prstGeom>
        </p:spPr>
        <p:txBody>
          <a:bodyPr vert="horz" lIns="91440" tIns="45720" rIns="91440" bIns="45720" rtlCol="0" anchor="ctr"/>
          <a:lstStyle>
            <a:defPPr>
              <a:defRPr lang="en-US"/>
            </a:defPPr>
            <a:lvl1pPr marL="0" algn="l"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hlinkClick r:id="rId3" action="ppaction://hlinksldjump" tooltip="Click to view">
                  <a:extLst>
                    <a:ext uri="{A12FA001-AC4F-418D-AE19-62706E023703}">
                      <ahyp:hlinkClr xmlns:ahyp="http://schemas.microsoft.com/office/drawing/2018/hyperlinkcolor" val="tx"/>
                    </a:ext>
                  </a:extLst>
                </a:hlinkClick>
              </a:rPr>
              <a:t>Back to ToC</a:t>
            </a:r>
            <a:endParaRPr kumimoji="0" lang="en-US" sz="1050" b="0" i="0" u="none" strike="noStrike" kern="1200" cap="none" spc="0" normalizeH="0" baseline="0" noProof="0" dirty="0">
              <a:ln>
                <a:noFill/>
              </a:ln>
              <a:solidFill>
                <a:srgbClr val="D02110"/>
              </a:solidFill>
              <a:effectLst/>
              <a:uLnTx/>
              <a:uFillTx/>
              <a:latin typeface="Tenorite" panose="00000500000000000000" pitchFamily="2"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80C60A74-543D-D905-4228-7B688B29A3F0}"/>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30</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8" name="TextBox 7">
            <a:hlinkClick r:id="rId4" action="ppaction://hlinksldjump"/>
            <a:extLst>
              <a:ext uri="{FF2B5EF4-FFF2-40B4-BE49-F238E27FC236}">
                <a16:creationId xmlns:a16="http://schemas.microsoft.com/office/drawing/2014/main" id="{B3A1B7CE-9397-4182-F7CF-84CD0FF01693}"/>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4"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90399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F041F5C-B657-48FC-B3E6-1FFB16581C3E}"/>
              </a:ext>
            </a:extLst>
          </p:cNvPr>
          <p:cNvSpPr>
            <a:spLocks noGrp="1"/>
          </p:cNvSpPr>
          <p:nvPr>
            <p:ph type="title"/>
          </p:nvPr>
        </p:nvSpPr>
        <p:spPr>
          <a:xfrm>
            <a:off x="515058" y="-91251"/>
            <a:ext cx="3923391" cy="686772"/>
          </a:xfrm>
        </p:spPr>
        <p:txBody>
          <a:bodyPr vert="horz" lIns="91440" tIns="45720" rIns="91440" bIns="45720" rtlCol="0" anchor="b">
            <a:noAutofit/>
          </a:bodyPr>
          <a:lstStyle/>
          <a:p>
            <a:r>
              <a:rPr lang="en-US" sz="3600" dirty="0">
                <a:solidFill>
                  <a:srgbClr val="D42357"/>
                </a:solidFill>
                <a:latin typeface="Tenorite" panose="00000500000000000000" pitchFamily="2" charset="0"/>
                <a:ea typeface="Calibri" panose="020F0502020204030204" pitchFamily="34" charset="0"/>
                <a:cs typeface="Calibri" panose="020F0502020204030204" pitchFamily="34" charset="0"/>
              </a:rPr>
              <a:t>DISCLAIMER</a:t>
            </a:r>
          </a:p>
        </p:txBody>
      </p:sp>
      <p:sp>
        <p:nvSpPr>
          <p:cNvPr id="7" name="TextBox 6">
            <a:extLst>
              <a:ext uri="{FF2B5EF4-FFF2-40B4-BE49-F238E27FC236}">
                <a16:creationId xmlns:a16="http://schemas.microsoft.com/office/drawing/2014/main" id="{2F23AFCC-98CB-63ED-60B5-1ADD83BFFE2B}"/>
              </a:ext>
            </a:extLst>
          </p:cNvPr>
          <p:cNvSpPr txBox="1"/>
          <p:nvPr/>
        </p:nvSpPr>
        <p:spPr>
          <a:xfrm>
            <a:off x="573254" y="718912"/>
            <a:ext cx="9907062" cy="1025409"/>
          </a:xfrm>
          <a:prstGeom prst="rect">
            <a:avLst/>
          </a:prstGeom>
          <a:noFill/>
        </p:spPr>
        <p:txBody>
          <a:bodyPr wrap="square" rtlCol="0">
            <a:spAutoFit/>
          </a:bodyPr>
          <a:lstStyle/>
          <a:p>
            <a:pPr>
              <a:lnSpc>
                <a:spcPct val="150000"/>
              </a:lnSpc>
            </a:pPr>
            <a:r>
              <a:rPr lang="en-US" sz="1400" u="none" strike="noStrike" dirty="0">
                <a:solidFill>
                  <a:schemeClr val="tx1">
                    <a:lumMod val="90000"/>
                    <a:lumOff val="10000"/>
                  </a:schemeClr>
                </a:solidFill>
                <a:effectLst/>
                <a:latin typeface="Tenorite" panose="00000500000000000000" pitchFamily="2" charset="0"/>
                <a:ea typeface="Calibri" panose="020F0502020204030204" pitchFamily="34" charset="0"/>
                <a:cs typeface="Calibri" panose="020F0502020204030204" pitchFamily="34" charset="0"/>
              </a:rPr>
              <a:t>The report contains no legal opinion and only seeks to provide a technical analysis. However, the report may include personal, non-legal judgment of technical researcher(s) involved in the search, analysis, and preparation of this report. Therefore, no content of this report should be construed as having any legal weight or being legally dispositive in any manner.</a:t>
            </a:r>
            <a:endParaRPr lang="en-IN" sz="1400" dirty="0">
              <a:solidFill>
                <a:schemeClr val="tx1">
                  <a:lumMod val="90000"/>
                  <a:lumOff val="10000"/>
                </a:schemeClr>
              </a:solidFill>
              <a:latin typeface="Tenorite" panose="00000500000000000000" pitchFamily="2"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1D9FD326-5AD8-46F4-D317-0A4EACAD1FD3}"/>
              </a:ext>
            </a:extLst>
          </p:cNvPr>
          <p:cNvSpPr txBox="1"/>
          <p:nvPr/>
        </p:nvSpPr>
        <p:spPr>
          <a:xfrm>
            <a:off x="10497146" y="208542"/>
            <a:ext cx="1282453" cy="423193"/>
          </a:xfrm>
          <a:prstGeom prst="rect">
            <a:avLst/>
          </a:prstGeom>
          <a:noFill/>
        </p:spPr>
        <p:txBody>
          <a:bodyPr wrap="square" rtlCol="0">
            <a:spAutoFit/>
          </a:bodyPr>
          <a:lstStyle/>
          <a:p>
            <a:r>
              <a:rPr lang="en-IN" sz="2150" b="1" dirty="0">
                <a:solidFill>
                  <a:srgbClr val="E31B23"/>
                </a:solidFill>
                <a:latin typeface="Tenorite" panose="00000500000000000000" pitchFamily="2" charset="0"/>
              </a:rPr>
              <a:t>Bayslope</a:t>
            </a:r>
          </a:p>
        </p:txBody>
      </p:sp>
      <p:sp>
        <p:nvSpPr>
          <p:cNvPr id="2" name="Slide Number Placeholder 5">
            <a:extLst>
              <a:ext uri="{FF2B5EF4-FFF2-40B4-BE49-F238E27FC236}">
                <a16:creationId xmlns:a16="http://schemas.microsoft.com/office/drawing/2014/main" id="{1BCBA565-95CB-8414-759F-912714C71DBF}"/>
              </a:ext>
            </a:extLst>
          </p:cNvPr>
          <p:cNvSpPr txBox="1">
            <a:spLocks/>
          </p:cNvSpPr>
          <p:nvPr/>
        </p:nvSpPr>
        <p:spPr>
          <a:xfrm>
            <a:off x="10665311" y="6501349"/>
            <a:ext cx="918882" cy="222436"/>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1375A4-56A4-47D6-9801-1991572033F7}" type="slidenum">
              <a:rPr lang="en-US" sz="1000" smtClean="0">
                <a:latin typeface="Tenorite" panose="00000500000000000000" pitchFamily="2" charset="0"/>
                <a:ea typeface="Calibri" panose="020F0502020204030204" pitchFamily="34" charset="0"/>
                <a:cs typeface="Calibri" panose="020F0502020204030204" pitchFamily="34" charset="0"/>
              </a:rPr>
              <a:pPr/>
              <a:t>31</a:t>
            </a:fld>
            <a:endParaRPr lang="en-US" sz="1000" dirty="0">
              <a:latin typeface="Tenorite" panose="00000500000000000000" pitchFamily="2" charset="0"/>
              <a:ea typeface="Calibri" panose="020F0502020204030204" pitchFamily="34" charset="0"/>
              <a:cs typeface="Calibri" panose="020F0502020204030204" pitchFamily="34" charset="0"/>
            </a:endParaRPr>
          </a:p>
        </p:txBody>
      </p:sp>
      <p:sp>
        <p:nvSpPr>
          <p:cNvPr id="4" name="TextBox 3">
            <a:hlinkClick r:id="rId2" action="ppaction://hlinksldjump"/>
            <a:extLst>
              <a:ext uri="{FF2B5EF4-FFF2-40B4-BE49-F238E27FC236}">
                <a16:creationId xmlns:a16="http://schemas.microsoft.com/office/drawing/2014/main" id="{F4ACCD69-854E-BB7C-8F53-3984C1059699}"/>
              </a:ext>
            </a:extLst>
          </p:cNvPr>
          <p:cNvSpPr txBox="1"/>
          <p:nvPr/>
        </p:nvSpPr>
        <p:spPr>
          <a:xfrm>
            <a:off x="5158740" y="6498951"/>
            <a:ext cx="2011680" cy="230832"/>
          </a:xfrm>
          <a:prstGeom prst="rect">
            <a:avLst/>
          </a:prstGeom>
          <a:noFill/>
        </p:spPr>
        <p:txBody>
          <a:bodyPr wrap="square" rtlCol="0">
            <a:spAutoFit/>
          </a:bodyPr>
          <a:lstStyle/>
          <a:p>
            <a:pPr algn="ctr"/>
            <a:r>
              <a:rPr lang="en-US" sz="900" dirty="0">
                <a:solidFill>
                  <a:srgbClr val="FF0066"/>
                </a:solidFill>
                <a:latin typeface="Tenorite" panose="00000500000000000000" pitchFamily="2" charset="0"/>
                <a:hlinkClick r:id="rId2" action="ppaction://hlinksldjump">
                  <a:extLst>
                    <a:ext uri="{A12FA001-AC4F-418D-AE19-62706E023703}">
                      <ahyp:hlinkClr xmlns:ahyp="http://schemas.microsoft.com/office/drawing/2018/hyperlinkcolor" val="tx"/>
                    </a:ext>
                  </a:extLst>
                </a:hlinkClick>
              </a:rPr>
              <a:t>Back to ToC</a:t>
            </a:r>
            <a:endParaRPr lang="en-IN" sz="900" dirty="0">
              <a:solidFill>
                <a:srgbClr val="FF0066"/>
              </a:solidFill>
              <a:latin typeface="Tenorite" panose="00000500000000000000" pitchFamily="2" charset="0"/>
            </a:endParaRPr>
          </a:p>
        </p:txBody>
      </p:sp>
    </p:spTree>
    <p:extLst>
      <p:ext uri="{BB962C8B-B14F-4D97-AF65-F5344CB8AC3E}">
        <p14:creationId xmlns:p14="http://schemas.microsoft.com/office/powerpoint/2010/main" val="36357363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Diamond Grid 16x9">
  <a:themeElements>
    <a:clrScheme name="Custom 27">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FF8BB2"/>
      </a:hlink>
      <a:folHlink>
        <a:srgbClr val="7F7F7F"/>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0be3260-b437-45a9-a144-eb7ec179ebc0">
      <Terms xmlns="http://schemas.microsoft.com/office/infopath/2007/PartnerControls"/>
    </lcf76f155ced4ddcb4097134ff3c332f>
    <TaxCatchAll xmlns="c16ac76f-5712-4e88-b7b3-a76414c915e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6034A602C2E804FAC13A251A4F57CEC" ma:contentTypeVersion="15" ma:contentTypeDescription="Create a new document." ma:contentTypeScope="" ma:versionID="4a6db21a9f7091dfeec7a6254d959076">
  <xsd:schema xmlns:xsd="http://www.w3.org/2001/XMLSchema" xmlns:xs="http://www.w3.org/2001/XMLSchema" xmlns:p="http://schemas.microsoft.com/office/2006/metadata/properties" xmlns:ns2="c16ac76f-5712-4e88-b7b3-a76414c915e6" xmlns:ns3="a0be3260-b437-45a9-a144-eb7ec179ebc0" targetNamespace="http://schemas.microsoft.com/office/2006/metadata/properties" ma:root="true" ma:fieldsID="e44cda53da709dacfc73d14912bfe1e3" ns2:_="" ns3:_="">
    <xsd:import namespace="c16ac76f-5712-4e88-b7b3-a76414c915e6"/>
    <xsd:import namespace="a0be3260-b437-45a9-a144-eb7ec179ebc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SearchProperties"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6ac76f-5712-4e88-b7b3-a76414c915e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f64fc451-0e60-4a33-819a-d6e51e7cfb37}" ma:internalName="TaxCatchAll" ma:showField="CatchAllData" ma:web="c16ac76f-5712-4e88-b7b3-a76414c915e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0be3260-b437-45a9-a144-eb7ec179ebc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4c4a582-d535-40bb-b0d3-a3a6e6782a3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881A78-9AFA-427B-AB37-834D230B0879}">
  <ds:schemaRefs>
    <ds:schemaRef ds:uri="http://schemas.microsoft.com/office/2006/metadata/properties"/>
    <ds:schemaRef ds:uri="http://schemas.microsoft.com/office/infopath/2007/PartnerControls"/>
    <ds:schemaRef ds:uri="a0be3260-b437-45a9-a144-eb7ec179ebc0"/>
    <ds:schemaRef ds:uri="c16ac76f-5712-4e88-b7b3-a76414c915e6"/>
  </ds:schemaRefs>
</ds:datastoreItem>
</file>

<file path=customXml/itemProps2.xml><?xml version="1.0" encoding="utf-8"?>
<ds:datastoreItem xmlns:ds="http://schemas.openxmlformats.org/officeDocument/2006/customXml" ds:itemID="{93476B0D-0C86-4672-80AF-E094F0528816}">
  <ds:schemaRefs>
    <ds:schemaRef ds:uri="http://schemas.microsoft.com/sharepoint/v3/contenttype/forms"/>
  </ds:schemaRefs>
</ds:datastoreItem>
</file>

<file path=customXml/itemProps3.xml><?xml version="1.0" encoding="utf-8"?>
<ds:datastoreItem xmlns:ds="http://schemas.openxmlformats.org/officeDocument/2006/customXml" ds:itemID="{4C6676F5-1C92-4728-B577-BEA17A9363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6ac76f-5712-4e88-b7b3-a76414c915e6"/>
    <ds:schemaRef ds:uri="a0be3260-b437-45a9-a144-eb7ec179eb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65212</TotalTime>
  <Words>5385</Words>
  <Application>Microsoft Office PowerPoint</Application>
  <PresentationFormat>Widescreen</PresentationFormat>
  <Paragraphs>1046</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Aharoni</vt:lpstr>
      <vt:lpstr>Arial</vt:lpstr>
      <vt:lpstr>Tenorite</vt:lpstr>
      <vt:lpstr>Diamond Grid 16x9</vt:lpstr>
      <vt:lpstr>PowerPoint Presentation</vt:lpstr>
      <vt:lpstr>PowerPoint Presentation</vt:lpstr>
      <vt:lpstr>SUMMARY</vt:lpstr>
      <vt:lpstr>ASSIGNEE INSIGHTS</vt:lpstr>
      <vt:lpstr>NOTABLE PLAYERS | Small-Sized Players</vt:lpstr>
      <vt:lpstr>NOTABLE PLAYERS | Large &amp; Medium-Sized Players</vt:lpstr>
      <vt:lpstr>NOTABLE PLAYERS | Start-ups (1/3)</vt:lpstr>
      <vt:lpstr>NOTABLE PLAYERS | Start-ups (2/3)</vt:lpstr>
      <vt:lpstr>NOTABLE PLAYERS | Start-ups (3/3)</vt:lpstr>
      <vt:lpstr>INNOVATION &amp; TECHNOLOGY TREND</vt:lpstr>
      <vt:lpstr>INNOVATION TREND | Year-wise</vt:lpstr>
      <vt:lpstr>INNOVATION TREND | Year-wise</vt:lpstr>
      <vt:lpstr>INNOVATION TREND | Assignee-wise</vt:lpstr>
      <vt:lpstr>INNOVATION TREND | Assignee-wise</vt:lpstr>
      <vt:lpstr>INNOVATION TREND | Global</vt:lpstr>
      <vt:lpstr>TECHNOLOGY TAXONOMY</vt:lpstr>
      <vt:lpstr>TECHNOLOGY TREND | Sensing Modality</vt:lpstr>
      <vt:lpstr>TECHNOLOGY TREND | Ablation Energy Modality</vt:lpstr>
      <vt:lpstr>TECHNOLOGY TREND | Data Computational Framework</vt:lpstr>
      <vt:lpstr>TECHNOLOGY TREND | Tissue / Anatomical Target</vt:lpstr>
      <vt:lpstr>TECHNOLOGY TREND | Overall Observation</vt:lpstr>
      <vt:lpstr>ASSUMPTIONS</vt:lpstr>
      <vt:lpstr>APPENDIX</vt:lpstr>
      <vt:lpstr>APPENDIX</vt:lpstr>
      <vt:lpstr>APPENDIX</vt:lpstr>
      <vt:lpstr>APPENDIX</vt:lpstr>
      <vt:lpstr>APPENDIX</vt:lpstr>
      <vt:lpstr>APPENDIX</vt:lpstr>
      <vt:lpstr>APPENDIX</vt:lpstr>
      <vt:lpstr>APPENDIX</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Patent Portfolio Analysis Report   (Co-extrusion Batteries Portfolio)  For</dc:title>
  <dc:creator>Author</dc:creator>
  <cp:lastModifiedBy>Author</cp:lastModifiedBy>
  <cp:revision>2669</cp:revision>
  <cp:lastPrinted>2021-03-09T14:32:16Z</cp:lastPrinted>
  <dcterms:created xsi:type="dcterms:W3CDTF">2021-03-04T16:53:32Z</dcterms:created>
  <dcterms:modified xsi:type="dcterms:W3CDTF">2026-04-28T21:38:42Z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0x01010056034A602C2E804FAC13A251A4F57CEC</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